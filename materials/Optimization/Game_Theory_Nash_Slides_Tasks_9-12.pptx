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зор" id="{aa22d966-868a-f7c1-5455-c03cfbec0af9}">
          <p14:sldIdLst>
            <p14:sldId id="256"/>
            <p14:sldId id="257"/>
          </p14:sldIdLst>
        </p14:section>
        <p14:section name="Задача 9. Вход на рынок" id="{6a2023ca-2f7b-7f96-b15c-a46d838fd8f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Задача 10. Повторяющаяся дилемма" id="{d95a7609-88e4-c47b-66cb-428c617ee3c3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Задача 11. Неполная информация" id="{b4e186dd-e83b-f670-7216-b2acccb2e515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Задача 12. Дуополия Курно" id="{dcefb0fb-d97a-45ee-3a84-7a9004099be0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Итоги" id="{ca86bce5-a6c2-a8a0-3c10-9906597f8da0}">
          <p14:sldIdLst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Дисконтированный выигрыш в зависимости от δ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Сотрудничать: 3/(1 − δ)</c:v>
                </c:pt>
              </c:strCache>
            </c:strRef>
          </c:tx>
          <c:spPr>
            <a:solidFill>
              <a:srgbClr val="17724A"/>
            </a:solidFill>
            <a:ln w="38100" cap="flat">
              <a:solidFill>
                <a:srgbClr val="1772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724A"/>
              </a:solidFill>
              <a:ln w="9525" cap="flat">
                <a:solidFill>
                  <a:srgbClr val="1772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3.333</c:v>
                </c:pt>
                <c:pt idx="2">
                  <c:v>3.75</c:v>
                </c:pt>
                <c:pt idx="3">
                  <c:v>4.286</c:v>
                </c:pt>
                <c:pt idx="4">
                  <c:v>5</c:v>
                </c:pt>
                <c:pt idx="5">
                  <c:v>6</c:v>
                </c:pt>
                <c:pt idx="6">
                  <c:v>7.5</c:v>
                </c:pt>
                <c:pt idx="7">
                  <c:v>10</c:v>
                </c:pt>
                <c:pt idx="8">
                  <c:v>15</c:v>
                </c:pt>
                <c:pt idx="9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Предать: 5 + δ/(1 − δ)</c:v>
                </c:pt>
              </c:strCache>
            </c:strRef>
          </c:tx>
          <c:spPr>
            <a:solidFill>
              <a:srgbClr val="9A4F00"/>
            </a:solidFill>
            <a:ln w="38100" cap="flat">
              <a:solidFill>
                <a:srgbClr val="9A4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4F00"/>
              </a:solidFill>
              <a:ln w="9525" cap="flat">
                <a:solidFill>
                  <a:srgbClr val="9A4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5.111</c:v>
                </c:pt>
                <c:pt idx="2">
                  <c:v>5.25</c:v>
                </c:pt>
                <c:pt idx="3">
                  <c:v>5.429</c:v>
                </c:pt>
                <c:pt idx="4">
                  <c:v>5.667</c:v>
                </c:pt>
                <c:pt idx="5">
                  <c:v>6</c:v>
                </c:pt>
                <c:pt idx="6">
                  <c:v>6.5</c:v>
                </c:pt>
                <c:pt idx="7">
                  <c:v>7.333</c:v>
                </c:pt>
                <c:pt idx="8">
                  <c:v>9</c:v>
                </c:pt>
                <c:pt idx="9">
                  <c:v>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57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576"/>
                    </a:solidFill>
                    <a:latin typeface="Arial"/>
                  </a:rPr>
                  <a:t>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Ожидаемый выигрыш конкурента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E(вход) = 4 − 6p</c:v>
                </c:pt>
              </c:strCache>
            </c:strRef>
          </c:tx>
          <c:spPr>
            <a:solidFill>
              <a:srgbClr val="2747C4"/>
            </a:solidFill>
            <a:ln w="38100" cap="flat">
              <a:solidFill>
                <a:srgbClr val="2747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47C4"/>
              </a:solidFill>
              <a:ln w="9525" cap="flat">
                <a:solidFill>
                  <a:srgbClr val="2747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3.4</c:v>
                </c:pt>
                <c:pt idx="2">
                  <c:v>2.8</c:v>
                </c:pt>
                <c:pt idx="3">
                  <c:v>2.2</c:v>
                </c:pt>
                <c:pt idx="4">
                  <c:v>1.6</c:v>
                </c:pt>
                <c:pt idx="5">
                  <c:v>1</c:v>
                </c:pt>
                <c:pt idx="6">
                  <c:v>0.4</c:v>
                </c:pt>
                <c:pt idx="7">
                  <c:v>-0.2</c:v>
                </c:pt>
                <c:pt idx="8">
                  <c:v>-0.8</c:v>
                </c:pt>
                <c:pt idx="9">
                  <c:v>-1.4</c:v>
                </c:pt>
                <c:pt idx="10">
                  <c:v>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Невход = 0</c:v>
                </c:pt>
              </c:strCache>
            </c:strRef>
          </c:tx>
          <c:spPr>
            <a:solidFill>
              <a:srgbClr val="5A6576"/>
            </a:solidFill>
            <a:ln w="38100" cap="flat">
              <a:solidFill>
                <a:srgbClr val="5A65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6576"/>
              </a:solidFill>
              <a:ln w="9525" cap="flat">
                <a:solidFill>
                  <a:srgbClr val="5A65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0,1</c:v>
                  </c:pt>
                  <c:pt idx="2">
                    <c:v>0,2</c:v>
                  </c:pt>
                  <c:pt idx="3">
                    <c:v>0,3</c:v>
                  </c:pt>
                  <c:pt idx="4">
                    <c:v>0,4</c:v>
                  </c:pt>
                  <c:pt idx="5">
                    <c:v>0,5</c:v>
                  </c:pt>
                  <c:pt idx="6">
                    <c:v>0,6</c:v>
                  </c:pt>
                  <c:pt idx="7">
                    <c:v>0,7</c:v>
                  </c:pt>
                  <c:pt idx="8">
                    <c:v>0,8</c:v>
                  </c:pt>
                  <c:pt idx="9">
                    <c:v>0,9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57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576"/>
                    </a:solidFill>
                    <a:latin typeface="Arial"/>
                  </a:rPr>
                  <a:t>вероятность жёсткого типа 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2"/>
        </c:scaling>
        <c:delete val="0"/>
        <c:axPos val="l"/>
        <c:majorGridlines>
          <c:spPr>
            <a:ln w="9525" cap="flat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02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02C"/>
                </a:solidFill>
                <a:latin typeface="+mn-lt"/>
              </a:rPr>
              <a:t>Пересечение — равновесие (16,67; 16,67)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Фирма 1: q₁ = 25 − q₂/2</c:v>
                </c:pt>
              </c:strCache>
            </c:strRef>
          </c:tx>
          <c:spPr>
            <a:solidFill>
              <a:srgbClr val="2747C4"/>
            </a:solidFill>
            <a:ln w="38100" cap="flat">
              <a:solidFill>
                <a:srgbClr val="2747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47C4"/>
              </a:solidFill>
              <a:ln w="9525" cap="flat">
                <a:solidFill>
                  <a:srgbClr val="2747C4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12.5</c:v>
                </c:pt>
                <c:pt idx="2">
                  <c:v>16.666666666666668</c:v>
                </c:pt>
                <c:pt idx="3">
                  <c:v>25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16.666666666666668</c:v>
                </c:pt>
                <c:pt idx="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Фирма 2: q₂ = 25 − q₁/2</c:v>
                </c:pt>
              </c:strCache>
            </c:strRef>
          </c:tx>
          <c:spPr>
            <a:solidFill>
              <a:srgbClr val="A0306E"/>
            </a:solidFill>
            <a:ln w="38100" cap="flat">
              <a:solidFill>
                <a:srgbClr val="A030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0306E"/>
              </a:solidFill>
              <a:ln w="9525" cap="flat">
                <a:solidFill>
                  <a:srgbClr val="A0306E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12.5</c:v>
                </c:pt>
                <c:pt idx="2">
                  <c:v>16.666666666666668</c:v>
                </c:pt>
                <c:pt idx="3">
                  <c:v>25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18.75</c:v>
                </c:pt>
                <c:pt idx="2">
                  <c:v>16.666666666666668</c:v>
                </c:pt>
                <c:pt idx="3">
                  <c:v>12.5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57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576"/>
                    </a:solidFill>
                    <a:latin typeface="Arial"/>
                  </a:rPr>
                  <a:t>выпуск фирмы 1, q₁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1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57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576"/>
                    </a:solidFill>
                    <a:latin typeface="Arial"/>
                  </a:rPr>
                  <a:t>выпуск фирмы 2, q₂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Слайды 35–46 лекции. Четыре задачи третьего занятия. Каждая добавляет к равновесию Нэша новое измерение: порядок ходов (9), будущее (10), неполную информацию (11), непрерывные стратегии (12).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для разбора неизменен: может ли кто-то улучшить результат, изменив только свой выбор? Меняется только способ на него ответить.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35 лекции. Прочитайте условие вслух. Соберите мнения по вопросу об угрозе до расчётов. Обратите внимание на порядок чисел: в этой задаче первым идёт выигрыш конкурента.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35 лекции. Нарисуйте дерево на доске. Подыгра начинается в узле, где игрок знает, где находится, и включает всё, что после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36 лекции. Задайте вопрос: «Конкурент уже вошёл. Монополист выбирает между 2 и 0. Что он выберет?» Ответ «приспособиться» звучит от студентов.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36 лекции. Обратная индукция: Цермело (1913) для шахмат, Кун (1953) для конечных игр с полной информацией. Золотой путь на дереве — равновесная траектория.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37 лекции. В строке «Не входить» оба выигрыша фирмы равны 4, поэтому оба плана — лучшие ответы, подчёркиваются оба. Отсюда второе равновесие Нэша.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37 лекции. Вопрос для психологов: где в воспитании детей встречаются неправдоподобные угрозы? Дети отлично считают обратную индукцию.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36 лекции, упражнение. В лаборатории измените поле «Фирма: борьба» на 3: дерево перестроится, проверка примет «Не входить; фирма боролась бы». Таблица справа: a, f — выигрыши фирмы при приспособлении и борьбе; e, ef — выигрыши конкурента при входе в этих случаях; o — при невходе.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задачи 9. Переход: задача 11 — продолжение этой модели, когда конкурент не знает, жёсткая ли перед ним фирма. Сначала — повторяющиеся игры.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38 лекции. Вернитесь к задаче 1: однократная дилемма даёт взаимное предательство. Вопрос: изменит ли повторение результат?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38 лекции. Интерпретация через вероятность продолжения снимает вопрос «кто играет бесконечно». Вывод суммы: вынесите δ из всех слагаемых, кроме первого, — получится та же сумма.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38 лекции. Нарисуйте на доске автомат из двух состояний. Стратегия описывает действие в каждом возможном прошлом игры, а не только на равновесном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39 лекции. Сумма для предательства: первое слагаемое T, дальше та же геометрическая прогрессия с первым членом δP.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39 лекции. Типичная ошибка: знаменатель R − P или T − S. Проверка: для задачи 6 (T = 5, R = 4, P = 2) порог равен 1/3.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39 лекции. В лаборатории: порог 0,5 при δ = 0,6 — «условие выполняется» (7,5 &gt; 6,5); при δ = 0,4 — «не выполняется» (5 против 5,667).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39 лекции. Связь с задачей 9: проверяем, выгодно ли исполнять наказание. Здесь выгодно, потому что вечное предательство — равновесие в каждой подыгре после отклонения.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40 лекции. Для «Ока за око» должно выполняться и условие grim trigger; при наших числах связывающее — 2/3. В экспериментах с конечным числом раундов люди сотрудничают в начале и начинают предавать ближе к концу.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задачи 10. Переход к задаче 11: вернёмся к входу на рынок, но теперь конкурент не знает, с какой фирмой имеет дело.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41 лекции. Жёсткой фирме борьба выгодна (например, низкие издержки), мягкой — нет. Это продолжение задачи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41 лекции. Пунктирный овал — информационное множество. Ответы фирмы после входа здесь уже свёрнуты в выигрыши конкурента (−2 и +4).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42 лекции. Различайте p и p*: p — данные о рынке, p* — свойство выигрышей, граница между решениями. Проверка здравым смыслом: если жёсткий тип очень опасен (t → −∞), порог падает к нулю.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42 лекции. В лаборатории: E = 1,6 и p* = 0,667 → «Вход выгоднее невхода». Затем p = 0,8 и E = −0,8 → «Невход выгоднее входа». Раскройте «График ожидаемого выигрыша».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43 лекции. Стратегия фирмы в байесовской игре — план для каждого типа. Полное равновесие — тройка: решение конкурента и планы двух типов фирмы.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43 лекции. Убеждения других о вашем типе становятся ресурсом. Это разрешает «парадокс сетевого магазина» Зельтена. Для психологов — связь с самопрезентацией по Гофману.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задачи 11. Переход к задаче 12: стратегия становится непрерывной — объём выпуска.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44 лекции. При нулевом выпуске цена была бы 120, каждая единица выпуска снижает цену на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45 лекции. Таблица справа — лучший ответ перебором; сейчас получим тот же ответ производной для любого q₂.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45 лекции. Функция реакции — это и есть отображение лучшего ответа из определения равновесия Нэша. У фирмы 2 симметрично: q₂ = 25 − q₁/2.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46 лекции. Можно решать систему подстановкой (слева) или через симметрию (справа): в симметричной игре ищем q₁ = q₂ =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46 лекции. Ответы для лаборатории: 16,667; 53,333; 555,556. Ошибка с ценой −13,33 была в первой версии лаборатории — хороший пример для проверки здравым смыслом.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45 лекции. На доске нарисуйте «паутину»: 25 → 12,5 → 18,75 → 15,63 → 17,19 → 16,41 → … → 16,67. Каждый шаг уменьшает расстояние до равновесия вдвое.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46 лекции. Монополия максимизирует (a − c − bQ)Q. Потери общества от монополии: 2500 − 1875 = 625; от дуополии: 2500 − 2222 = 278.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таблицы: при выпусках 12,5 и 16,67 Q = 29,17, P = 61,67; прибыли (61,67 − 20)·12,5 = 520,8 и (61,67 − 20)·16,67 = 694,4.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для n фирм: условие первого порядка a − c − bQ − bqᵢ = 0; в симметричном равновесии Q = nq, откуда q = (a − c)/((n + 1)b).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задачи 12. Переход к сводной таблице.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47 лекции. В лаборатории индикатор прогресса в идеале показывает «12 из 12».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2) δ* = 0,4; «Око за око» — 0,5. 3) p* = 4/12 = 1/3. 4) q* = 12,5, P* = 45, π* = 312,5.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Задачи 9–12: время, будущее и информация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Полные решения с разбором каждого шага</a:t>
            </a:r>
            <a:endParaRPr lang="en-US" sz="2000" dirty="0"/>
          </a:p>
        </p:txBody>
      </p:sp>
      <p:sp>
        <p:nvSpPr>
          <p:cNvPr id="4" name="badge-1"/>
          <p:cNvSpPr/>
          <p:nvPr/>
        </p:nvSpPr>
        <p:spPr>
          <a:xfrm>
            <a:off x="548640" y="393192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2"/>
          <p:cNvSpPr txBox="1"/>
          <p:nvPr/>
        </p:nvSpPr>
        <p:spPr>
          <a:xfrm>
            <a:off x="54864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text-3"/>
          <p:cNvSpPr txBox="1"/>
          <p:nvPr/>
        </p:nvSpPr>
        <p:spPr>
          <a:xfrm>
            <a:off x="1143000" y="3931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Вход на рынок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обратная индукция</a:t>
            </a:r>
            <a:endParaRPr lang="en-US" sz="1600" dirty="0"/>
          </a:p>
        </p:txBody>
      </p:sp>
      <p:sp>
        <p:nvSpPr>
          <p:cNvPr id="7" name="badge-4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adgeText-5"/>
          <p:cNvSpPr txBox="1"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9" name="text-6"/>
          <p:cNvSpPr txBox="1"/>
          <p:nvPr/>
        </p:nvSpPr>
        <p:spPr>
          <a:xfrm>
            <a:off x="1143000" y="44805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Повторяющаяся дилемма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дисконтирование</a:t>
            </a:r>
            <a:endParaRPr lang="en-US" sz="1600" dirty="0"/>
          </a:p>
        </p:txBody>
      </p:sp>
      <p:sp>
        <p:nvSpPr>
          <p:cNvPr id="10" name="badge-7"/>
          <p:cNvSpPr/>
          <p:nvPr/>
        </p:nvSpPr>
        <p:spPr>
          <a:xfrm>
            <a:off x="548640" y="502920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dgeText-8"/>
          <p:cNvSpPr txBox="1"/>
          <p:nvPr/>
        </p:nvSpPr>
        <p:spPr>
          <a:xfrm>
            <a:off x="548640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11</a:t>
            </a:r>
            <a:endParaRPr lang="en-US" sz="1400" dirty="0"/>
          </a:p>
        </p:txBody>
      </p:sp>
      <p:sp>
        <p:nvSpPr>
          <p:cNvPr id="12" name="text-9"/>
          <p:cNvSpPr txBox="1"/>
          <p:nvPr/>
        </p:nvSpPr>
        <p:spPr>
          <a:xfrm>
            <a:off x="1143000" y="50292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Вход при неполной информации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ожидаемый выигрыш</a:t>
            </a:r>
            <a:endParaRPr lang="en-US" sz="1600" dirty="0"/>
          </a:p>
        </p:txBody>
      </p:sp>
      <p:sp>
        <p:nvSpPr>
          <p:cNvPr id="13" name="badge-10"/>
          <p:cNvSpPr/>
          <p:nvPr/>
        </p:nvSpPr>
        <p:spPr>
          <a:xfrm>
            <a:off x="548640" y="557784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badgeText-11"/>
          <p:cNvSpPr txBox="1"/>
          <p:nvPr/>
        </p:nvSpPr>
        <p:spPr>
          <a:xfrm>
            <a:off x="548640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</a:t>
            </a:r>
            <a:endParaRPr lang="en-US" sz="1400" dirty="0"/>
          </a:p>
        </p:txBody>
      </p:sp>
      <p:sp>
        <p:nvSpPr>
          <p:cNvPr id="15" name="text-12"/>
          <p:cNvSpPr txBox="1"/>
          <p:nvPr/>
        </p:nvSpPr>
        <p:spPr>
          <a:xfrm>
            <a:off x="1143000" y="55778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Дуополия Курно 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функции реакции</a:t>
            </a:r>
            <a:endParaRPr lang="en-US" sz="1600" dirty="0"/>
          </a:p>
        </p:txBody>
      </p:sp>
      <p:sp>
        <p:nvSpPr>
          <p:cNvPr id="16" name="edge-13"/>
          <p:cNvSpPr/>
          <p:nvPr/>
        </p:nvSpPr>
        <p:spPr>
          <a:xfrm flipH="1">
            <a:off x="8412480" y="1737360"/>
            <a:ext cx="1188720" cy="1188720"/>
          </a:xfrm>
          <a:prstGeom prst="line">
            <a:avLst/>
          </a:prstGeom>
          <a:noFill/>
          <a:ln w="31750">
            <a:solidFill>
              <a:srgbClr val="5A6576"/>
            </a:solidFill>
            <a:prstDash val="solid"/>
          </a:ln>
        </p:spPr>
      </p:sp>
      <p:sp>
        <p:nvSpPr>
          <p:cNvPr id="17" name="edge-14"/>
          <p:cNvSpPr/>
          <p:nvPr/>
        </p:nvSpPr>
        <p:spPr>
          <a:xfrm>
            <a:off x="9601200" y="1737360"/>
            <a:ext cx="1005840" cy="100584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8" name="edge-15"/>
          <p:cNvSpPr/>
          <p:nvPr/>
        </p:nvSpPr>
        <p:spPr>
          <a:xfrm flipH="1">
            <a:off x="9875520" y="2743200"/>
            <a:ext cx="731520" cy="118872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9" name="edge-16"/>
          <p:cNvSpPr/>
          <p:nvPr/>
        </p:nvSpPr>
        <p:spPr>
          <a:xfrm>
            <a:off x="10607040" y="2743200"/>
            <a:ext cx="822960" cy="1188720"/>
          </a:xfrm>
          <a:prstGeom prst="line">
            <a:avLst/>
          </a:prstGeom>
          <a:noFill/>
          <a:ln w="31750">
            <a:solidFill>
              <a:srgbClr val="5A6576"/>
            </a:solidFill>
            <a:prstDash val="solid"/>
          </a:ln>
        </p:spPr>
      </p:sp>
      <p:sp>
        <p:nvSpPr>
          <p:cNvPr id="20" name="node-17"/>
          <p:cNvSpPr/>
          <p:nvPr/>
        </p:nvSpPr>
        <p:spPr>
          <a:xfrm>
            <a:off x="9454896" y="1591056"/>
            <a:ext cx="292608" cy="292608"/>
          </a:xfrm>
          <a:prstGeom prst="ellipse">
            <a:avLst/>
          </a:prstGeom>
          <a:solidFill>
            <a:srgbClr val="8EA2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node-18"/>
          <p:cNvSpPr/>
          <p:nvPr/>
        </p:nvSpPr>
        <p:spPr>
          <a:xfrm>
            <a:off x="10460736" y="2596896"/>
            <a:ext cx="292608" cy="292608"/>
          </a:xfrm>
          <a:prstGeom prst="ellipse">
            <a:avLst/>
          </a:prstGeom>
          <a:solidFill>
            <a:srgbClr val="E39A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-19"/>
          <p:cNvSpPr txBox="1"/>
          <p:nvPr/>
        </p:nvSpPr>
        <p:spPr>
          <a:xfrm>
            <a:off x="777240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D2DF"/>
                </a:solidFill>
              </a:rPr>
              <a:t>0 ; 4</a:t>
            </a:r>
            <a:endParaRPr lang="en-US" sz="1700" dirty="0"/>
          </a:p>
        </p:txBody>
      </p:sp>
      <p:sp>
        <p:nvSpPr>
          <p:cNvPr id="23" name="text-20"/>
          <p:cNvSpPr txBox="1"/>
          <p:nvPr/>
        </p:nvSpPr>
        <p:spPr>
          <a:xfrm>
            <a:off x="92354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2 ; 2</a:t>
            </a:r>
            <a:endParaRPr lang="en-US" sz="1700" dirty="0"/>
          </a:p>
        </p:txBody>
      </p:sp>
      <p:sp>
        <p:nvSpPr>
          <p:cNvPr id="24" name="text-21"/>
          <p:cNvSpPr txBox="1"/>
          <p:nvPr/>
        </p:nvSpPr>
        <p:spPr>
          <a:xfrm>
            <a:off x="107899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D2DF"/>
                </a:solidFill>
              </a:rPr>
              <a:t>−1 ; 0</a:t>
            </a:r>
            <a:endParaRPr lang="en-US" sz="1700" dirty="0"/>
          </a:p>
        </p:txBody>
      </p:sp>
      <p:sp>
        <p:nvSpPr>
          <p:cNvPr id="25" name="text-22"/>
          <p:cNvSpPr txBox="1"/>
          <p:nvPr/>
        </p:nvSpPr>
        <p:spPr>
          <a:xfrm>
            <a:off x="786384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Решаем с конца: золотой путь — совершенное подыгровое равновесие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Что меняется в задачах 9–12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35</a:t>
            </a:r>
            <a:endParaRPr lang="en-US" sz="1100" dirty="0"/>
          </a:p>
        </p:txBody>
      </p:sp>
      <p:sp>
        <p:nvSpPr>
          <p:cNvPr id="4" name="box-23"/>
          <p:cNvSpPr/>
          <p:nvPr/>
        </p:nvSpPr>
        <p:spPr>
          <a:xfrm>
            <a:off x="548640" y="132588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5" name="badge-24"/>
          <p:cNvSpPr/>
          <p:nvPr/>
        </p:nvSpPr>
        <p:spPr>
          <a:xfrm>
            <a:off x="749808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badgeText-25"/>
          <p:cNvSpPr txBox="1"/>
          <p:nvPr/>
        </p:nvSpPr>
        <p:spPr>
          <a:xfrm>
            <a:off x="7498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7" name="text-26"/>
          <p:cNvSpPr txBox="1"/>
          <p:nvPr/>
        </p:nvSpPr>
        <p:spPr>
          <a:xfrm>
            <a:off x="749808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Ходы по очереди</a:t>
            </a:r>
            <a:endParaRPr lang="en-US" sz="1900" dirty="0"/>
          </a:p>
        </p:txBody>
      </p:sp>
      <p:sp>
        <p:nvSpPr>
          <p:cNvPr id="8" name="text-27"/>
          <p:cNvSpPr txBox="1"/>
          <p:nvPr/>
        </p:nvSpPr>
        <p:spPr>
          <a:xfrm>
            <a:off x="749808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Второй игрок видит ход первого. Равновесие Нэша уточняется: угрозы должны быть правдоподобными.</a:t>
            </a:r>
            <a:endParaRPr lang="en-US" sz="1500" dirty="0"/>
          </a:p>
        </p:txBody>
      </p:sp>
      <p:sp>
        <p:nvSpPr>
          <p:cNvPr id="9" name="box-28"/>
          <p:cNvSpPr/>
          <p:nvPr/>
        </p:nvSpPr>
        <p:spPr>
          <a:xfrm>
            <a:off x="713232" y="4983480"/>
            <a:ext cx="2322576" cy="594360"/>
          </a:xfrm>
          <a:prstGeom prst="roundRect">
            <a:avLst>
              <a:gd name="adj" fmla="val 1846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0" name="text-29"/>
          <p:cNvSpPr txBox="1"/>
          <p:nvPr/>
        </p:nvSpPr>
        <p:spPr>
          <a:xfrm>
            <a:off x="713232" y="4983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Обратная индукция</a:t>
            </a:r>
            <a:endParaRPr lang="en-US" sz="1500" dirty="0"/>
          </a:p>
        </p:txBody>
      </p:sp>
      <p:sp>
        <p:nvSpPr>
          <p:cNvPr id="11" name="box-30"/>
          <p:cNvSpPr/>
          <p:nvPr/>
        </p:nvSpPr>
        <p:spPr>
          <a:xfrm>
            <a:off x="3355848" y="132588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badge-31"/>
          <p:cNvSpPr/>
          <p:nvPr/>
        </p:nvSpPr>
        <p:spPr>
          <a:xfrm>
            <a:off x="3557016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badgeText-32"/>
          <p:cNvSpPr txBox="1"/>
          <p:nvPr/>
        </p:nvSpPr>
        <p:spPr>
          <a:xfrm>
            <a:off x="355701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14" name="text-33"/>
          <p:cNvSpPr txBox="1"/>
          <p:nvPr/>
        </p:nvSpPr>
        <p:spPr>
          <a:xfrm>
            <a:off x="3557016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Игра повторяется</a:t>
            </a:r>
            <a:endParaRPr lang="en-US" sz="1900" dirty="0"/>
          </a:p>
        </p:txBody>
      </p:sp>
      <p:sp>
        <p:nvSpPr>
          <p:cNvPr id="15" name="text-34"/>
          <p:cNvSpPr txBox="1"/>
          <p:nvPr/>
        </p:nvSpPr>
        <p:spPr>
          <a:xfrm>
            <a:off x="3557016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Сегодняшнее предательство можно наказать завтра. Важно, насколько игрок ценит будущее.</a:t>
            </a:r>
            <a:endParaRPr lang="en-US" sz="1500" dirty="0"/>
          </a:p>
        </p:txBody>
      </p:sp>
      <p:sp>
        <p:nvSpPr>
          <p:cNvPr id="16" name="box-35"/>
          <p:cNvSpPr/>
          <p:nvPr/>
        </p:nvSpPr>
        <p:spPr>
          <a:xfrm>
            <a:off x="3520440" y="4983480"/>
            <a:ext cx="2322576" cy="594360"/>
          </a:xfrm>
          <a:prstGeom prst="roundRect">
            <a:avLst>
              <a:gd name="adj" fmla="val 1846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7" name="text-36"/>
          <p:cNvSpPr txBox="1"/>
          <p:nvPr/>
        </p:nvSpPr>
        <p:spPr>
          <a:xfrm>
            <a:off x="3520440" y="4983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Дисконтированная сумма</a:t>
            </a:r>
            <a:endParaRPr lang="en-US" sz="1500" dirty="0"/>
          </a:p>
        </p:txBody>
      </p:sp>
      <p:sp>
        <p:nvSpPr>
          <p:cNvPr id="18" name="box-37"/>
          <p:cNvSpPr/>
          <p:nvPr/>
        </p:nvSpPr>
        <p:spPr>
          <a:xfrm>
            <a:off x="6163056" y="132588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9" name="badge-38"/>
          <p:cNvSpPr/>
          <p:nvPr/>
        </p:nvSpPr>
        <p:spPr>
          <a:xfrm>
            <a:off x="6364224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badgeText-39"/>
          <p:cNvSpPr txBox="1"/>
          <p:nvPr/>
        </p:nvSpPr>
        <p:spPr>
          <a:xfrm>
            <a:off x="636422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11</a:t>
            </a:r>
            <a:endParaRPr lang="en-US" sz="1800" dirty="0"/>
          </a:p>
        </p:txBody>
      </p:sp>
      <p:sp>
        <p:nvSpPr>
          <p:cNvPr id="21" name="text-40"/>
          <p:cNvSpPr txBox="1"/>
          <p:nvPr/>
        </p:nvSpPr>
        <p:spPr>
          <a:xfrm>
            <a:off x="6364224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Игрок не знает соперника</a:t>
            </a:r>
            <a:endParaRPr lang="en-US" sz="1900" dirty="0"/>
          </a:p>
        </p:txBody>
      </p:sp>
      <p:sp>
        <p:nvSpPr>
          <p:cNvPr id="22" name="text-41"/>
          <p:cNvSpPr txBox="1"/>
          <p:nvPr/>
        </p:nvSpPr>
        <p:spPr>
          <a:xfrm>
            <a:off x="6364224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Тип фирмы известен только ей. Конкурент решает по вероятностям.</a:t>
            </a:r>
            <a:endParaRPr lang="en-US" sz="1500" dirty="0"/>
          </a:p>
        </p:txBody>
      </p:sp>
      <p:sp>
        <p:nvSpPr>
          <p:cNvPr id="23" name="box-42"/>
          <p:cNvSpPr/>
          <p:nvPr/>
        </p:nvSpPr>
        <p:spPr>
          <a:xfrm>
            <a:off x="6327648" y="4983480"/>
            <a:ext cx="2322576" cy="594360"/>
          </a:xfrm>
          <a:prstGeom prst="roundRect">
            <a:avLst>
              <a:gd name="adj" fmla="val 1846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4" name="text-43"/>
          <p:cNvSpPr txBox="1"/>
          <p:nvPr/>
        </p:nvSpPr>
        <p:spPr>
          <a:xfrm>
            <a:off x="6327648" y="4983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Ожидаемый выигрыш</a:t>
            </a:r>
            <a:endParaRPr lang="en-US" sz="1500" dirty="0"/>
          </a:p>
        </p:txBody>
      </p:sp>
      <p:sp>
        <p:nvSpPr>
          <p:cNvPr id="25" name="box-44"/>
          <p:cNvSpPr/>
          <p:nvPr/>
        </p:nvSpPr>
        <p:spPr>
          <a:xfrm>
            <a:off x="8970264" y="132588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6" name="badge-45"/>
          <p:cNvSpPr/>
          <p:nvPr/>
        </p:nvSpPr>
        <p:spPr>
          <a:xfrm>
            <a:off x="9171432" y="1508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badgeText-46"/>
          <p:cNvSpPr txBox="1"/>
          <p:nvPr/>
        </p:nvSpPr>
        <p:spPr>
          <a:xfrm>
            <a:off x="91714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12</a:t>
            </a:r>
            <a:endParaRPr lang="en-US" sz="1800" dirty="0"/>
          </a:p>
        </p:txBody>
      </p:sp>
      <p:sp>
        <p:nvSpPr>
          <p:cNvPr id="28" name="text-47"/>
          <p:cNvSpPr txBox="1"/>
          <p:nvPr/>
        </p:nvSpPr>
        <p:spPr>
          <a:xfrm>
            <a:off x="9171432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Стратегия — число</a:t>
            </a:r>
            <a:endParaRPr lang="en-US" sz="1900" dirty="0"/>
          </a:p>
        </p:txBody>
      </p:sp>
      <p:sp>
        <p:nvSpPr>
          <p:cNvPr id="29" name="text-48"/>
          <p:cNvSpPr txBox="1"/>
          <p:nvPr/>
        </p:nvSpPr>
        <p:spPr>
          <a:xfrm>
            <a:off x="9171432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Объём выпуска любой. Лучший ответ ищем производной, а не перебором.</a:t>
            </a:r>
            <a:endParaRPr lang="en-US" sz="1500" dirty="0"/>
          </a:p>
        </p:txBody>
      </p:sp>
      <p:sp>
        <p:nvSpPr>
          <p:cNvPr id="30" name="box-49"/>
          <p:cNvSpPr/>
          <p:nvPr/>
        </p:nvSpPr>
        <p:spPr>
          <a:xfrm>
            <a:off x="9134856" y="4983480"/>
            <a:ext cx="2322576" cy="594360"/>
          </a:xfrm>
          <a:prstGeom prst="roundRect">
            <a:avLst>
              <a:gd name="adj" fmla="val 1846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31" name="text-50"/>
          <p:cNvSpPr txBox="1"/>
          <p:nvPr/>
        </p:nvSpPr>
        <p:spPr>
          <a:xfrm>
            <a:off x="9134856" y="4983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Условие первого порядка</a:t>
            </a:r>
            <a:endParaRPr lang="en-US" sz="1500" dirty="0"/>
          </a:p>
        </p:txBody>
      </p:sp>
      <p:sp>
        <p:nvSpPr>
          <p:cNvPr id="32" name="text-51"/>
          <p:cNvSpPr txBox="1"/>
          <p:nvPr/>
        </p:nvSpPr>
        <p:spPr>
          <a:xfrm>
            <a:off x="5486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Внизу каждой карточки — главный инструмент решения.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9. Вход на рынок: условие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35</a:t>
            </a:r>
            <a:endParaRPr lang="en-US" sz="1100" dirty="0"/>
          </a:p>
        </p:txBody>
      </p:sp>
      <p:sp>
        <p:nvSpPr>
          <p:cNvPr id="4" name="text-52"/>
          <p:cNvSpPr txBox="1"/>
          <p:nvPr/>
        </p:nvSpPr>
        <p:spPr>
          <a:xfrm>
            <a:off x="548640" y="12801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На рынке работает монополист. Конкурент решает, входить ли. Если входит, монополист выбирает: приспособиться (поделить рынок) или бороться (ценовая война).</a:t>
            </a:r>
            <a:endParaRPr lang="en-US" sz="1700" dirty="0"/>
          </a:p>
        </p:txBody>
      </p:sp>
      <p:graphicFrame>
        <p:nvGraphicFramePr>
          <p:cNvPr id="4" name="table-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Исход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Конкурент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Фирма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Не входить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Войти, фирма приспосабливается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Войти, фирма борется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box-54"/>
          <p:cNvSpPr/>
          <p:nvPr/>
        </p:nvSpPr>
        <p:spPr>
          <a:xfrm>
            <a:off x="548640" y="4617720"/>
            <a:ext cx="5760720" cy="1508760"/>
          </a:xfrm>
          <a:prstGeom prst="roundRect">
            <a:avLst>
              <a:gd name="adj" fmla="val 7273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7" name="note-55"/>
          <p:cNvSpPr txBox="1"/>
          <p:nvPr/>
        </p:nvSpPr>
        <p:spPr>
          <a:xfrm>
            <a:off x="749808" y="4754880"/>
            <a:ext cx="5358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нового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Ходы последовательные: фирма видит, вошёл ли конкурент, и только потом отвечает. Выигрыши записаны как (конкурент ; фирма) — первым ходит конкурент.</a:t>
            </a:r>
            <a:endParaRPr lang="en-US" sz="1600" dirty="0"/>
          </a:p>
        </p:txBody>
      </p:sp>
      <p:sp>
        <p:nvSpPr>
          <p:cNvPr id="8" name="text-56"/>
          <p:cNvSpPr txBox="1"/>
          <p:nvPr/>
        </p:nvSpPr>
        <p:spPr>
          <a:xfrm>
            <a:off x="66294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Вопрос лаборатории</a:t>
            </a:r>
            <a:endParaRPr lang="en-US" sz="1800" dirty="0"/>
          </a:p>
        </p:txBody>
      </p:sp>
      <p:sp>
        <p:nvSpPr>
          <p:cNvPr id="9" name="box-57"/>
          <p:cNvSpPr/>
          <p:nvPr/>
        </p:nvSpPr>
        <p:spPr>
          <a:xfrm>
            <a:off x="6629400" y="1783080"/>
            <a:ext cx="5010912" cy="548640"/>
          </a:xfrm>
          <a:prstGeom prst="roundRect">
            <a:avLst>
              <a:gd name="adj" fmla="val 2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0" name="text-58"/>
          <p:cNvSpPr txBox="1"/>
          <p:nvPr/>
        </p:nvSpPr>
        <p:spPr>
          <a:xfrm>
            <a:off x="6812280" y="1783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Войти; фирма приспосабливается</a:t>
            </a:r>
            <a:endParaRPr lang="en-US" sz="1600" dirty="0"/>
          </a:p>
        </p:txBody>
      </p:sp>
      <p:sp>
        <p:nvSpPr>
          <p:cNvPr id="11" name="box-59"/>
          <p:cNvSpPr/>
          <p:nvPr/>
        </p:nvSpPr>
        <p:spPr>
          <a:xfrm>
            <a:off x="6629400" y="2441448"/>
            <a:ext cx="5010912" cy="548640"/>
          </a:xfrm>
          <a:prstGeom prst="roundRect">
            <a:avLst>
              <a:gd name="adj" fmla="val 2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text-60"/>
          <p:cNvSpPr txBox="1"/>
          <p:nvPr/>
        </p:nvSpPr>
        <p:spPr>
          <a:xfrm>
            <a:off x="6812280" y="24414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Не входить; фирма боролась бы</a:t>
            </a:r>
            <a:endParaRPr lang="en-US" sz="1600" dirty="0"/>
          </a:p>
        </p:txBody>
      </p:sp>
      <p:sp>
        <p:nvSpPr>
          <p:cNvPr id="13" name="box-61"/>
          <p:cNvSpPr/>
          <p:nvPr/>
        </p:nvSpPr>
        <p:spPr>
          <a:xfrm>
            <a:off x="6629400" y="3099816"/>
            <a:ext cx="5010912" cy="548640"/>
          </a:xfrm>
          <a:prstGeom prst="roundRect">
            <a:avLst>
              <a:gd name="adj" fmla="val 2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text-62"/>
          <p:cNvSpPr txBox="1"/>
          <p:nvPr/>
        </p:nvSpPr>
        <p:spPr>
          <a:xfrm>
            <a:off x="6812280" y="3099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Войти; фирма борется</a:t>
            </a:r>
            <a:endParaRPr lang="en-US" sz="1600" dirty="0"/>
          </a:p>
        </p:txBody>
      </p:sp>
      <p:sp>
        <p:nvSpPr>
          <p:cNvPr id="15" name="box-63"/>
          <p:cNvSpPr/>
          <p:nvPr/>
        </p:nvSpPr>
        <p:spPr>
          <a:xfrm>
            <a:off x="6629400" y="3758184"/>
            <a:ext cx="5010912" cy="548640"/>
          </a:xfrm>
          <a:prstGeom prst="roundRect">
            <a:avLst>
              <a:gd name="adj" fmla="val 20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text-64"/>
          <p:cNvSpPr txBox="1"/>
          <p:nvPr/>
        </p:nvSpPr>
        <p:spPr>
          <a:xfrm>
            <a:off x="6812280" y="3758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Не входить; фирма приспособилась бы</a:t>
            </a:r>
            <a:endParaRPr lang="en-US" sz="1600" dirty="0"/>
          </a:p>
        </p:txBody>
      </p:sp>
      <p:sp>
        <p:nvSpPr>
          <p:cNvPr id="17" name="text-65"/>
          <p:cNvSpPr txBox="1"/>
          <p:nvPr/>
        </p:nvSpPr>
        <p:spPr>
          <a:xfrm>
            <a:off x="6629400" y="4572000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💬 Монополист обещает «раздавить любого, кто войдёт». Стоит ли конкуренту бояться?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Дерево игры: развёрнутая форма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35</a:t>
            </a:r>
            <a:endParaRPr lang="en-US" sz="1100" dirty="0"/>
          </a:p>
        </p:txBody>
      </p:sp>
      <p:sp>
        <p:nvSpPr>
          <p:cNvPr id="4" name="edge-66"/>
          <p:cNvSpPr/>
          <p:nvPr/>
        </p:nvSpPr>
        <p:spPr>
          <a:xfrm flipH="1">
            <a:off x="1463040" y="1737360"/>
            <a:ext cx="173736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5" name="edge-67"/>
          <p:cNvSpPr/>
          <p:nvPr/>
        </p:nvSpPr>
        <p:spPr>
          <a:xfrm>
            <a:off x="3200400" y="1737360"/>
            <a:ext cx="1463040" cy="128016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6" name="edge-68"/>
          <p:cNvSpPr/>
          <p:nvPr/>
        </p:nvSpPr>
        <p:spPr>
          <a:xfrm flipH="1">
            <a:off x="3657600" y="3017520"/>
            <a:ext cx="1005840" cy="132588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7" name="edge-69"/>
          <p:cNvSpPr/>
          <p:nvPr/>
        </p:nvSpPr>
        <p:spPr>
          <a:xfrm>
            <a:off x="4663440" y="3017520"/>
            <a:ext cx="1005840" cy="132588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8" name="node-70"/>
          <p:cNvSpPr/>
          <p:nvPr/>
        </p:nvSpPr>
        <p:spPr>
          <a:xfrm>
            <a:off x="3044952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node-71"/>
          <p:cNvSpPr/>
          <p:nvPr/>
        </p:nvSpPr>
        <p:spPr>
          <a:xfrm>
            <a:off x="4507992" y="286207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-72"/>
          <p:cNvSpPr txBox="1"/>
          <p:nvPr/>
        </p:nvSpPr>
        <p:spPr>
          <a:xfrm>
            <a:off x="2286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Конкурент</a:t>
            </a:r>
            <a:endParaRPr lang="en-US" sz="1500" dirty="0"/>
          </a:p>
        </p:txBody>
      </p:sp>
      <p:sp>
        <p:nvSpPr>
          <p:cNvPr id="11" name="text-73"/>
          <p:cNvSpPr txBox="1"/>
          <p:nvPr/>
        </p:nvSpPr>
        <p:spPr>
          <a:xfrm>
            <a:off x="48920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Фирма</a:t>
            </a:r>
            <a:endParaRPr lang="en-US" sz="1500" dirty="0"/>
          </a:p>
        </p:txBody>
      </p:sp>
      <p:sp>
        <p:nvSpPr>
          <p:cNvPr id="12" name="text-74"/>
          <p:cNvSpPr txBox="1"/>
          <p:nvPr/>
        </p:nvSpPr>
        <p:spPr>
          <a:xfrm>
            <a:off x="12344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входить</a:t>
            </a:r>
            <a:endParaRPr lang="en-US" sz="1400" dirty="0"/>
          </a:p>
        </p:txBody>
      </p:sp>
      <p:sp>
        <p:nvSpPr>
          <p:cNvPr id="13" name="text-75"/>
          <p:cNvSpPr txBox="1"/>
          <p:nvPr/>
        </p:nvSpPr>
        <p:spPr>
          <a:xfrm>
            <a:off x="40690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Войти</a:t>
            </a:r>
            <a:endParaRPr lang="en-US" sz="1400" dirty="0"/>
          </a:p>
        </p:txBody>
      </p:sp>
      <p:sp>
        <p:nvSpPr>
          <p:cNvPr id="14" name="text-76"/>
          <p:cNvSpPr txBox="1"/>
          <p:nvPr/>
        </p:nvSpPr>
        <p:spPr>
          <a:xfrm>
            <a:off x="237744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Приспособиться</a:t>
            </a:r>
            <a:endParaRPr lang="en-US" sz="1400" dirty="0"/>
          </a:p>
        </p:txBody>
      </p:sp>
      <p:sp>
        <p:nvSpPr>
          <p:cNvPr id="15" name="text-77"/>
          <p:cNvSpPr txBox="1"/>
          <p:nvPr/>
        </p:nvSpPr>
        <p:spPr>
          <a:xfrm>
            <a:off x="52578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Бороться</a:t>
            </a:r>
            <a:endParaRPr lang="en-US" sz="1400" dirty="0"/>
          </a:p>
        </p:txBody>
      </p:sp>
      <p:sp>
        <p:nvSpPr>
          <p:cNvPr id="16" name="payoff-78"/>
          <p:cNvSpPr txBox="1"/>
          <p:nvPr/>
        </p:nvSpPr>
        <p:spPr>
          <a:xfrm>
            <a:off x="594360" y="3310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(0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4)</a:t>
            </a:r>
            <a:endParaRPr lang="en-US" sz="1800" dirty="0"/>
          </a:p>
        </p:txBody>
      </p:sp>
      <p:sp>
        <p:nvSpPr>
          <p:cNvPr id="17" name="payoff-79"/>
          <p:cNvSpPr txBox="1"/>
          <p:nvPr/>
        </p:nvSpPr>
        <p:spPr>
          <a:xfrm>
            <a:off x="278892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(2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2)</a:t>
            </a:r>
            <a:endParaRPr lang="en-US" sz="1800" dirty="0"/>
          </a:p>
        </p:txBody>
      </p:sp>
      <p:sp>
        <p:nvSpPr>
          <p:cNvPr id="18" name="payoff-80"/>
          <p:cNvSpPr txBox="1"/>
          <p:nvPr/>
        </p:nvSpPr>
        <p:spPr>
          <a:xfrm>
            <a:off x="480060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(−1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0)</a:t>
            </a:r>
            <a:endParaRPr lang="en-US" sz="1800" dirty="0"/>
          </a:p>
        </p:txBody>
      </p:sp>
      <p:sp>
        <p:nvSpPr>
          <p:cNvPr id="19" name="box-81"/>
          <p:cNvSpPr/>
          <p:nvPr/>
        </p:nvSpPr>
        <p:spPr>
          <a:xfrm>
            <a:off x="6949440" y="1371600"/>
            <a:ext cx="4690872" cy="82296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0" name="text-82"/>
          <p:cNvSpPr txBox="1"/>
          <p:nvPr/>
        </p:nvSpPr>
        <p:spPr>
          <a:xfrm>
            <a:off x="7132320" y="1371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Узел</a:t>
            </a:r>
            <a:endParaRPr lang="en-US" sz="1700" dirty="0"/>
          </a:p>
        </p:txBody>
      </p:sp>
      <p:sp>
        <p:nvSpPr>
          <p:cNvPr id="21" name="text-83"/>
          <p:cNvSpPr txBox="1"/>
          <p:nvPr/>
        </p:nvSpPr>
        <p:spPr>
          <a:xfrm>
            <a:off x="841248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момент принятия решения: чей ход</a:t>
            </a:r>
            <a:endParaRPr lang="en-US" sz="1500" dirty="0"/>
          </a:p>
        </p:txBody>
      </p:sp>
      <p:sp>
        <p:nvSpPr>
          <p:cNvPr id="22" name="box-84"/>
          <p:cNvSpPr/>
          <p:nvPr/>
        </p:nvSpPr>
        <p:spPr>
          <a:xfrm>
            <a:off x="6949440" y="2331720"/>
            <a:ext cx="4690872" cy="82296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3" name="text-85"/>
          <p:cNvSpPr txBox="1"/>
          <p:nvPr/>
        </p:nvSpPr>
        <p:spPr>
          <a:xfrm>
            <a:off x="7132320" y="2331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Ветвь</a:t>
            </a:r>
            <a:endParaRPr lang="en-US" sz="1700" dirty="0"/>
          </a:p>
        </p:txBody>
      </p:sp>
      <p:sp>
        <p:nvSpPr>
          <p:cNvPr id="24" name="text-86"/>
          <p:cNvSpPr txBox="1"/>
          <p:nvPr/>
        </p:nvSpPr>
        <p:spPr>
          <a:xfrm>
            <a:off x="841248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действие игрока в этом узле</a:t>
            </a:r>
            <a:endParaRPr lang="en-US" sz="1500" dirty="0"/>
          </a:p>
        </p:txBody>
      </p:sp>
      <p:sp>
        <p:nvSpPr>
          <p:cNvPr id="25" name="box-87"/>
          <p:cNvSpPr/>
          <p:nvPr/>
        </p:nvSpPr>
        <p:spPr>
          <a:xfrm>
            <a:off x="6949440" y="3291840"/>
            <a:ext cx="4690872" cy="82296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6" name="text-88"/>
          <p:cNvSpPr txBox="1"/>
          <p:nvPr/>
        </p:nvSpPr>
        <p:spPr>
          <a:xfrm>
            <a:off x="7132320" y="3291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Лист</a:t>
            </a:r>
            <a:endParaRPr lang="en-US" sz="1700" dirty="0"/>
          </a:p>
        </p:txBody>
      </p:sp>
      <p:sp>
        <p:nvSpPr>
          <p:cNvPr id="27" name="text-89"/>
          <p:cNvSpPr txBox="1"/>
          <p:nvPr/>
        </p:nvSpPr>
        <p:spPr>
          <a:xfrm>
            <a:off x="841248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исход игры и выигрыши (конкурент ; фирма)</a:t>
            </a:r>
            <a:endParaRPr lang="en-US" sz="1500" dirty="0"/>
          </a:p>
        </p:txBody>
      </p:sp>
      <p:sp>
        <p:nvSpPr>
          <p:cNvPr id="28" name="box-90"/>
          <p:cNvSpPr/>
          <p:nvPr/>
        </p:nvSpPr>
        <p:spPr>
          <a:xfrm>
            <a:off x="6949440" y="4251960"/>
            <a:ext cx="4690872" cy="82296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9" name="text-91"/>
          <p:cNvSpPr txBox="1"/>
          <p:nvPr/>
        </p:nvSpPr>
        <p:spPr>
          <a:xfrm>
            <a:off x="7132320" y="4251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Подыгра</a:t>
            </a:r>
            <a:endParaRPr lang="en-US" sz="1700" dirty="0"/>
          </a:p>
        </p:txBody>
      </p:sp>
      <p:sp>
        <p:nvSpPr>
          <p:cNvPr id="30" name="text-92"/>
          <p:cNvSpPr txBox="1"/>
          <p:nvPr/>
        </p:nvSpPr>
        <p:spPr>
          <a:xfrm>
            <a:off x="8412480" y="4251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часть дерева от узла решения до конца</a:t>
            </a:r>
            <a:endParaRPr lang="en-US" sz="1500" dirty="0"/>
          </a:p>
        </p:txBody>
      </p:sp>
      <p:sp>
        <p:nvSpPr>
          <p:cNvPr id="31" name="box-93"/>
          <p:cNvSpPr/>
          <p:nvPr/>
        </p:nvSpPr>
        <p:spPr>
          <a:xfrm>
            <a:off x="6949440" y="5257800"/>
            <a:ext cx="4690872" cy="868680"/>
          </a:xfrm>
          <a:prstGeom prst="roundRect">
            <a:avLst>
              <a:gd name="adj" fmla="val 1263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32" name="note-94"/>
          <p:cNvSpPr txBox="1"/>
          <p:nvPr/>
        </p:nvSpPr>
        <p:spPr>
          <a:xfrm>
            <a:off x="7150608" y="5394960"/>
            <a:ext cx="428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Подыгр здесь две: вся игра и игра после входа, где ходит только фирма.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1. Последний ход: что сделает фирма после входа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36</a:t>
            </a:r>
            <a:endParaRPr lang="en-US" sz="1100" dirty="0"/>
          </a:p>
        </p:txBody>
      </p:sp>
      <p:sp>
        <p:nvSpPr>
          <p:cNvPr id="4" name="edge-95"/>
          <p:cNvSpPr/>
          <p:nvPr/>
        </p:nvSpPr>
        <p:spPr>
          <a:xfrm flipH="1">
            <a:off x="1463040" y="1737360"/>
            <a:ext cx="173736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5" name="edge-96"/>
          <p:cNvSpPr/>
          <p:nvPr/>
        </p:nvSpPr>
        <p:spPr>
          <a:xfrm>
            <a:off x="3200400" y="1737360"/>
            <a:ext cx="1463040" cy="128016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6" name="edge-97"/>
          <p:cNvSpPr/>
          <p:nvPr/>
        </p:nvSpPr>
        <p:spPr>
          <a:xfrm flipH="1">
            <a:off x="3657600" y="3017520"/>
            <a:ext cx="1005840" cy="132588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7" name="edge-98"/>
          <p:cNvSpPr/>
          <p:nvPr/>
        </p:nvSpPr>
        <p:spPr>
          <a:xfrm>
            <a:off x="4663440" y="3017520"/>
            <a:ext cx="1005840" cy="1325880"/>
          </a:xfrm>
          <a:prstGeom prst="line">
            <a:avLst/>
          </a:prstGeom>
          <a:noFill/>
          <a:ln w="25400">
            <a:solidFill>
              <a:srgbClr val="B4BCC8"/>
            </a:solidFill>
            <a:prstDash val="solid"/>
          </a:ln>
        </p:spPr>
      </p:sp>
      <p:sp>
        <p:nvSpPr>
          <p:cNvPr id="8" name="node-99"/>
          <p:cNvSpPr/>
          <p:nvPr/>
        </p:nvSpPr>
        <p:spPr>
          <a:xfrm>
            <a:off x="3044952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node-100"/>
          <p:cNvSpPr/>
          <p:nvPr/>
        </p:nvSpPr>
        <p:spPr>
          <a:xfrm>
            <a:off x="4507992" y="286207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-101"/>
          <p:cNvSpPr txBox="1"/>
          <p:nvPr/>
        </p:nvSpPr>
        <p:spPr>
          <a:xfrm>
            <a:off x="2286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Конкурент</a:t>
            </a:r>
            <a:endParaRPr lang="en-US" sz="1500" dirty="0"/>
          </a:p>
        </p:txBody>
      </p:sp>
      <p:sp>
        <p:nvSpPr>
          <p:cNvPr id="11" name="text-102"/>
          <p:cNvSpPr txBox="1"/>
          <p:nvPr/>
        </p:nvSpPr>
        <p:spPr>
          <a:xfrm>
            <a:off x="48920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Фирма</a:t>
            </a:r>
            <a:endParaRPr lang="en-US" sz="1500" dirty="0"/>
          </a:p>
        </p:txBody>
      </p:sp>
      <p:sp>
        <p:nvSpPr>
          <p:cNvPr id="12" name="text-103"/>
          <p:cNvSpPr txBox="1"/>
          <p:nvPr/>
        </p:nvSpPr>
        <p:spPr>
          <a:xfrm>
            <a:off x="12344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входить</a:t>
            </a:r>
            <a:endParaRPr lang="en-US" sz="1400" dirty="0"/>
          </a:p>
        </p:txBody>
      </p:sp>
      <p:sp>
        <p:nvSpPr>
          <p:cNvPr id="13" name="text-104"/>
          <p:cNvSpPr txBox="1"/>
          <p:nvPr/>
        </p:nvSpPr>
        <p:spPr>
          <a:xfrm>
            <a:off x="40690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Войти</a:t>
            </a:r>
            <a:endParaRPr lang="en-US" sz="1400" dirty="0"/>
          </a:p>
        </p:txBody>
      </p:sp>
      <p:sp>
        <p:nvSpPr>
          <p:cNvPr id="14" name="text-105"/>
          <p:cNvSpPr txBox="1"/>
          <p:nvPr/>
        </p:nvSpPr>
        <p:spPr>
          <a:xfrm>
            <a:off x="237744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Приспособиться</a:t>
            </a:r>
            <a:endParaRPr lang="en-US" sz="1400" dirty="0"/>
          </a:p>
        </p:txBody>
      </p:sp>
      <p:sp>
        <p:nvSpPr>
          <p:cNvPr id="15" name="text-106"/>
          <p:cNvSpPr txBox="1"/>
          <p:nvPr/>
        </p:nvSpPr>
        <p:spPr>
          <a:xfrm>
            <a:off x="52578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Бороться</a:t>
            </a:r>
            <a:endParaRPr lang="en-US" sz="1400" dirty="0"/>
          </a:p>
        </p:txBody>
      </p:sp>
      <p:sp>
        <p:nvSpPr>
          <p:cNvPr id="16" name="payoff-107"/>
          <p:cNvSpPr txBox="1"/>
          <p:nvPr/>
        </p:nvSpPr>
        <p:spPr>
          <a:xfrm>
            <a:off x="594360" y="3310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(0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4)</a:t>
            </a:r>
            <a:endParaRPr lang="en-US" sz="1800" dirty="0"/>
          </a:p>
        </p:txBody>
      </p:sp>
      <p:sp>
        <p:nvSpPr>
          <p:cNvPr id="17" name="payoff-108"/>
          <p:cNvSpPr txBox="1"/>
          <p:nvPr/>
        </p:nvSpPr>
        <p:spPr>
          <a:xfrm>
            <a:off x="278892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(2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2)</a:t>
            </a:r>
            <a:endParaRPr lang="en-US" sz="1800" dirty="0"/>
          </a:p>
        </p:txBody>
      </p:sp>
      <p:sp>
        <p:nvSpPr>
          <p:cNvPr id="18" name="payoff-109"/>
          <p:cNvSpPr txBox="1"/>
          <p:nvPr/>
        </p:nvSpPr>
        <p:spPr>
          <a:xfrm>
            <a:off x="480060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(−1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0)</a:t>
            </a:r>
            <a:endParaRPr lang="en-US" sz="1800" dirty="0"/>
          </a:p>
        </p:txBody>
      </p:sp>
      <p:sp>
        <p:nvSpPr>
          <p:cNvPr id="19" name="text-110"/>
          <p:cNvSpPr txBox="1"/>
          <p:nvPr/>
        </p:nvSpPr>
        <p:spPr>
          <a:xfrm>
            <a:off x="5074920" y="3406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✕</a:t>
            </a:r>
            <a:endParaRPr lang="en-US" sz="2200" dirty="0"/>
          </a:p>
        </p:txBody>
      </p:sp>
      <p:sp>
        <p:nvSpPr>
          <p:cNvPr id="20" name="badge-111"/>
          <p:cNvSpPr/>
          <p:nvPr/>
        </p:nvSpPr>
        <p:spPr>
          <a:xfrm>
            <a:off x="694944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badgeText-112"/>
          <p:cNvSpPr txBox="1"/>
          <p:nvPr/>
        </p:nvSpPr>
        <p:spPr>
          <a:xfrm>
            <a:off x="6949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22" name="text-113"/>
          <p:cNvSpPr txBox="1"/>
          <p:nvPr/>
        </p:nvSpPr>
        <p:spPr>
          <a:xfrm>
            <a:off x="758952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Конкурент уже вошёл</a:t>
            </a:r>
            <a:endParaRPr lang="en-US" sz="2000" dirty="0"/>
          </a:p>
        </p:txBody>
      </p:sp>
      <p:sp>
        <p:nvSpPr>
          <p:cNvPr id="23" name="text-114"/>
          <p:cNvSpPr txBox="1"/>
          <p:nvPr/>
        </p:nvSpPr>
        <p:spPr>
          <a:xfrm>
            <a:off x="694944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Приспособиться:  2</a:t>
            </a:r>
            <a:endParaRPr lang="en-US" sz="2200" dirty="0"/>
          </a:p>
        </p:txBody>
      </p:sp>
      <p:sp>
        <p:nvSpPr>
          <p:cNvPr id="24" name="text-115"/>
          <p:cNvSpPr txBox="1"/>
          <p:nvPr/>
        </p:nvSpPr>
        <p:spPr>
          <a:xfrm>
            <a:off x="694944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Бороться:  0</a:t>
            </a:r>
            <a:endParaRPr lang="en-US" sz="2200" dirty="0"/>
          </a:p>
        </p:txBody>
      </p:sp>
      <p:sp>
        <p:nvSpPr>
          <p:cNvPr id="25" name="text-116"/>
          <p:cNvSpPr txBox="1"/>
          <p:nvPr/>
        </p:nvSpPr>
        <p:spPr>
          <a:xfrm>
            <a:off x="694944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 &gt; 0  ⇒  приспособиться</a:t>
            </a:r>
            <a:endParaRPr lang="en-US" sz="2200" dirty="0"/>
          </a:p>
        </p:txBody>
      </p:sp>
      <p:sp>
        <p:nvSpPr>
          <p:cNvPr id="26" name="box-117"/>
          <p:cNvSpPr/>
          <p:nvPr/>
        </p:nvSpPr>
        <p:spPr>
          <a:xfrm>
            <a:off x="6949440" y="365760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7" name="note-118"/>
          <p:cNvSpPr txBox="1"/>
          <p:nvPr/>
        </p:nvSpPr>
        <p:spPr>
          <a:xfrm>
            <a:off x="7150608" y="379476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Почему начинаем с конца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Тот, кто ходит последним, ни о ком не гадает: он просто выбирает больший выигрыш. Его выбор становится известен всем заранее.</a:t>
            </a:r>
            <a:endParaRPr lang="en-US" sz="1600" dirty="0"/>
          </a:p>
        </p:txBody>
      </p:sp>
      <p:sp>
        <p:nvSpPr>
          <p:cNvPr id="28" name="box-119"/>
          <p:cNvSpPr/>
          <p:nvPr/>
        </p:nvSpPr>
        <p:spPr>
          <a:xfrm>
            <a:off x="6949440" y="5120640"/>
            <a:ext cx="4690872" cy="1005840"/>
          </a:xfrm>
          <a:prstGeom prst="roundRect">
            <a:avLst>
              <a:gd name="adj" fmla="val 10909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29" name="note-120"/>
          <p:cNvSpPr txBox="1"/>
          <p:nvPr/>
        </p:nvSpPr>
        <p:spPr>
          <a:xfrm>
            <a:off x="7150608" y="5257800"/>
            <a:ext cx="4288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Ветвь «Бороться» вычёркиваем: после входа она невыгодна фирме.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2. Первый ход: конкурент предвидит ответ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36</a:t>
            </a:r>
            <a:endParaRPr lang="en-US" sz="1100" dirty="0"/>
          </a:p>
        </p:txBody>
      </p:sp>
      <p:sp>
        <p:nvSpPr>
          <p:cNvPr id="4" name="edge-121"/>
          <p:cNvSpPr/>
          <p:nvPr/>
        </p:nvSpPr>
        <p:spPr>
          <a:xfrm flipH="1">
            <a:off x="1463040" y="1737360"/>
            <a:ext cx="1737360" cy="1463040"/>
          </a:xfrm>
          <a:prstGeom prst="line">
            <a:avLst/>
          </a:prstGeom>
          <a:noFill/>
          <a:ln w="25400">
            <a:solidFill>
              <a:srgbClr val="B4BCC8"/>
            </a:solidFill>
            <a:prstDash val="solid"/>
          </a:ln>
        </p:spPr>
      </p:sp>
      <p:sp>
        <p:nvSpPr>
          <p:cNvPr id="5" name="edge-122"/>
          <p:cNvSpPr/>
          <p:nvPr/>
        </p:nvSpPr>
        <p:spPr>
          <a:xfrm>
            <a:off x="3200400" y="1737360"/>
            <a:ext cx="1463040" cy="128016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6" name="edge-123"/>
          <p:cNvSpPr/>
          <p:nvPr/>
        </p:nvSpPr>
        <p:spPr>
          <a:xfrm flipH="1">
            <a:off x="3657600" y="3017520"/>
            <a:ext cx="1005840" cy="132588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7" name="edge-124"/>
          <p:cNvSpPr/>
          <p:nvPr/>
        </p:nvSpPr>
        <p:spPr>
          <a:xfrm>
            <a:off x="4663440" y="3017520"/>
            <a:ext cx="1005840" cy="1325880"/>
          </a:xfrm>
          <a:prstGeom prst="line">
            <a:avLst/>
          </a:prstGeom>
          <a:noFill/>
          <a:ln w="25400">
            <a:solidFill>
              <a:srgbClr val="B4BCC8"/>
            </a:solidFill>
            <a:prstDash val="solid"/>
          </a:ln>
        </p:spPr>
      </p:sp>
      <p:sp>
        <p:nvSpPr>
          <p:cNvPr id="8" name="node-125"/>
          <p:cNvSpPr/>
          <p:nvPr/>
        </p:nvSpPr>
        <p:spPr>
          <a:xfrm>
            <a:off x="3044952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node-126"/>
          <p:cNvSpPr/>
          <p:nvPr/>
        </p:nvSpPr>
        <p:spPr>
          <a:xfrm>
            <a:off x="4507992" y="286207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-127"/>
          <p:cNvSpPr txBox="1"/>
          <p:nvPr/>
        </p:nvSpPr>
        <p:spPr>
          <a:xfrm>
            <a:off x="2286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Конкурент</a:t>
            </a:r>
            <a:endParaRPr lang="en-US" sz="1500" dirty="0"/>
          </a:p>
        </p:txBody>
      </p:sp>
      <p:sp>
        <p:nvSpPr>
          <p:cNvPr id="11" name="text-128"/>
          <p:cNvSpPr txBox="1"/>
          <p:nvPr/>
        </p:nvSpPr>
        <p:spPr>
          <a:xfrm>
            <a:off x="48920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Фирма</a:t>
            </a:r>
            <a:endParaRPr lang="en-US" sz="1500" dirty="0"/>
          </a:p>
        </p:txBody>
      </p:sp>
      <p:sp>
        <p:nvSpPr>
          <p:cNvPr id="12" name="text-129"/>
          <p:cNvSpPr txBox="1"/>
          <p:nvPr/>
        </p:nvSpPr>
        <p:spPr>
          <a:xfrm>
            <a:off x="12344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входить</a:t>
            </a:r>
            <a:endParaRPr lang="en-US" sz="1400" dirty="0"/>
          </a:p>
        </p:txBody>
      </p:sp>
      <p:sp>
        <p:nvSpPr>
          <p:cNvPr id="13" name="text-130"/>
          <p:cNvSpPr txBox="1"/>
          <p:nvPr/>
        </p:nvSpPr>
        <p:spPr>
          <a:xfrm>
            <a:off x="40690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Войти</a:t>
            </a:r>
            <a:endParaRPr lang="en-US" sz="1400" dirty="0"/>
          </a:p>
        </p:txBody>
      </p:sp>
      <p:sp>
        <p:nvSpPr>
          <p:cNvPr id="14" name="text-131"/>
          <p:cNvSpPr txBox="1"/>
          <p:nvPr/>
        </p:nvSpPr>
        <p:spPr>
          <a:xfrm>
            <a:off x="237744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Приспособиться</a:t>
            </a:r>
            <a:endParaRPr lang="en-US" sz="1400" dirty="0"/>
          </a:p>
        </p:txBody>
      </p:sp>
      <p:sp>
        <p:nvSpPr>
          <p:cNvPr id="15" name="text-132"/>
          <p:cNvSpPr txBox="1"/>
          <p:nvPr/>
        </p:nvSpPr>
        <p:spPr>
          <a:xfrm>
            <a:off x="52578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Бороться</a:t>
            </a:r>
            <a:endParaRPr lang="en-US" sz="1400" dirty="0"/>
          </a:p>
        </p:txBody>
      </p:sp>
      <p:sp>
        <p:nvSpPr>
          <p:cNvPr id="16" name="payoff-133"/>
          <p:cNvSpPr txBox="1"/>
          <p:nvPr/>
        </p:nvSpPr>
        <p:spPr>
          <a:xfrm>
            <a:off x="594360" y="3310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(0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4)</a:t>
            </a:r>
            <a:endParaRPr lang="en-US" sz="1800" dirty="0"/>
          </a:p>
        </p:txBody>
      </p:sp>
      <p:sp>
        <p:nvSpPr>
          <p:cNvPr id="17" name="payoff-134"/>
          <p:cNvSpPr txBox="1"/>
          <p:nvPr/>
        </p:nvSpPr>
        <p:spPr>
          <a:xfrm>
            <a:off x="278892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(2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2)</a:t>
            </a:r>
            <a:endParaRPr lang="en-US" sz="1800" dirty="0"/>
          </a:p>
        </p:txBody>
      </p:sp>
      <p:sp>
        <p:nvSpPr>
          <p:cNvPr id="18" name="payoff-135"/>
          <p:cNvSpPr txBox="1"/>
          <p:nvPr/>
        </p:nvSpPr>
        <p:spPr>
          <a:xfrm>
            <a:off x="480060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(−1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0)</a:t>
            </a:r>
            <a:endParaRPr lang="en-US" sz="1800" dirty="0"/>
          </a:p>
        </p:txBody>
      </p:sp>
      <p:sp>
        <p:nvSpPr>
          <p:cNvPr id="19" name="text-136"/>
          <p:cNvSpPr txBox="1"/>
          <p:nvPr/>
        </p:nvSpPr>
        <p:spPr>
          <a:xfrm>
            <a:off x="5074920" y="3406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✕</a:t>
            </a:r>
            <a:endParaRPr lang="en-US" sz="2200" dirty="0"/>
          </a:p>
        </p:txBody>
      </p:sp>
      <p:sp>
        <p:nvSpPr>
          <p:cNvPr id="20" name="text-137"/>
          <p:cNvSpPr txBox="1"/>
          <p:nvPr/>
        </p:nvSpPr>
        <p:spPr>
          <a:xfrm>
            <a:off x="21488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✕</a:t>
            </a:r>
            <a:endParaRPr lang="en-US" sz="2200" dirty="0"/>
          </a:p>
        </p:txBody>
      </p:sp>
      <p:sp>
        <p:nvSpPr>
          <p:cNvPr id="21" name="badge-138"/>
          <p:cNvSpPr/>
          <p:nvPr/>
        </p:nvSpPr>
        <p:spPr>
          <a:xfrm>
            <a:off x="694944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badgeText-139"/>
          <p:cNvSpPr txBox="1"/>
          <p:nvPr/>
        </p:nvSpPr>
        <p:spPr>
          <a:xfrm>
            <a:off x="6949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23" name="text-140"/>
          <p:cNvSpPr txBox="1"/>
          <p:nvPr/>
        </p:nvSpPr>
        <p:spPr>
          <a:xfrm>
            <a:off x="7589520" y="13258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Узел фирмы заменяем исходом (2 ; 2)</a:t>
            </a:r>
            <a:endParaRPr lang="en-US" sz="2000" dirty="0"/>
          </a:p>
        </p:txBody>
      </p:sp>
      <p:sp>
        <p:nvSpPr>
          <p:cNvPr id="24" name="text-141"/>
          <p:cNvSpPr txBox="1"/>
          <p:nvPr/>
        </p:nvSpPr>
        <p:spPr>
          <a:xfrm>
            <a:off x="6949440" y="196596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Войти:  2  (фирма приспособится)</a:t>
            </a:r>
            <a:endParaRPr lang="en-US" sz="1900" dirty="0"/>
          </a:p>
        </p:txBody>
      </p:sp>
      <p:sp>
        <p:nvSpPr>
          <p:cNvPr id="25" name="text-142"/>
          <p:cNvSpPr txBox="1"/>
          <p:nvPr/>
        </p:nvSpPr>
        <p:spPr>
          <a:xfrm>
            <a:off x="6949440" y="246888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Не входить:  0</a:t>
            </a:r>
            <a:endParaRPr lang="en-US" sz="1900" dirty="0"/>
          </a:p>
        </p:txBody>
      </p:sp>
      <p:sp>
        <p:nvSpPr>
          <p:cNvPr id="26" name="text-143"/>
          <p:cNvSpPr txBox="1"/>
          <p:nvPr/>
        </p:nvSpPr>
        <p:spPr>
          <a:xfrm>
            <a:off x="6949440" y="29718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2 &gt; 0  ⇒  войти</a:t>
            </a:r>
            <a:endParaRPr lang="en-US" sz="2100" dirty="0"/>
          </a:p>
        </p:txBody>
      </p:sp>
      <p:sp>
        <p:nvSpPr>
          <p:cNvPr id="27" name="box-144"/>
          <p:cNvSpPr/>
          <p:nvPr/>
        </p:nvSpPr>
        <p:spPr>
          <a:xfrm>
            <a:off x="6949440" y="3657600"/>
            <a:ext cx="4690872" cy="1508760"/>
          </a:xfrm>
          <a:prstGeom prst="roundRect">
            <a:avLst>
              <a:gd name="adj" fmla="val 7273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8" name="text-145"/>
          <p:cNvSpPr txBox="1"/>
          <p:nvPr/>
        </p:nvSpPr>
        <p:spPr>
          <a:xfrm>
            <a:off x="7178040" y="3749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📌 Совершенное подыгровое равновесие</a:t>
            </a:r>
            <a:endParaRPr lang="en-US" sz="1700" dirty="0"/>
          </a:p>
        </p:txBody>
      </p:sp>
      <p:sp>
        <p:nvSpPr>
          <p:cNvPr id="29" name="text-146"/>
          <p:cNvSpPr txBox="1"/>
          <p:nvPr/>
        </p:nvSpPr>
        <p:spPr>
          <a:xfrm>
            <a:off x="7178040" y="4206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(Войти; Приспособиться), выигрыши (2 ; 2)</a:t>
            </a:r>
            <a:endParaRPr lang="en-US" sz="2000" dirty="0"/>
          </a:p>
        </p:txBody>
      </p:sp>
      <p:sp>
        <p:nvSpPr>
          <p:cNvPr id="30" name="box-147"/>
          <p:cNvSpPr/>
          <p:nvPr/>
        </p:nvSpPr>
        <p:spPr>
          <a:xfrm>
            <a:off x="6949440" y="5303520"/>
            <a:ext cx="4690872" cy="82296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31" name="note-148"/>
          <p:cNvSpPr txBox="1"/>
          <p:nvPr/>
        </p:nvSpPr>
        <p:spPr>
          <a:xfrm>
            <a:off x="7150608" y="5440680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Угроза борьбы не сработала: исполнять её невыгодно самой фирме.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Стратегия — это план, а не ход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37</a:t>
            </a:r>
            <a:endParaRPr lang="en-US" sz="1100" dirty="0"/>
          </a:p>
        </p:txBody>
      </p:sp>
      <p:sp>
        <p:nvSpPr>
          <p:cNvPr id="4" name="text-149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Стратегия фирмы отвечает на вопрос «что я сделаю, если конкурент войдёт?» — даже если он не войдёт. Запишем игру матрицей.</a:t>
            </a:r>
            <a:endParaRPr lang="en-US" sz="1700" dirty="0"/>
          </a:p>
        </p:txBody>
      </p:sp>
      <p:sp>
        <p:nvSpPr>
          <p:cNvPr id="5" name="text-150"/>
          <p:cNvSpPr txBox="1"/>
          <p:nvPr/>
        </p:nvSpPr>
        <p:spPr>
          <a:xfrm>
            <a:off x="54864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Конкурент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Фирма →</a:t>
            </a:r>
            <a:endParaRPr lang="en-US" sz="1200" dirty="0"/>
          </a:p>
        </p:txBody>
      </p:sp>
      <p:sp>
        <p:nvSpPr>
          <p:cNvPr id="6" name="text-151"/>
          <p:cNvSpPr txBox="1"/>
          <p:nvPr/>
        </p:nvSpPr>
        <p:spPr>
          <a:xfrm>
            <a:off x="214884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Приспособиться</a:t>
            </a:r>
            <a:endParaRPr lang="en-US" sz="1600" dirty="0"/>
          </a:p>
        </p:txBody>
      </p:sp>
      <p:sp>
        <p:nvSpPr>
          <p:cNvPr id="7" name="text-152"/>
          <p:cNvSpPr txBox="1"/>
          <p:nvPr/>
        </p:nvSpPr>
        <p:spPr>
          <a:xfrm>
            <a:off x="4361688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Бороться</a:t>
            </a:r>
            <a:endParaRPr lang="en-US" sz="1600" dirty="0"/>
          </a:p>
        </p:txBody>
      </p:sp>
      <p:sp>
        <p:nvSpPr>
          <p:cNvPr id="8" name="text-153"/>
          <p:cNvSpPr txBox="1"/>
          <p:nvPr/>
        </p:nvSpPr>
        <p:spPr>
          <a:xfrm>
            <a:off x="548640" y="267919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Войти</a:t>
            </a:r>
            <a:endParaRPr lang="en-US" sz="1600" dirty="0"/>
          </a:p>
        </p:txBody>
      </p:sp>
      <p:sp>
        <p:nvSpPr>
          <p:cNvPr id="9" name="cell-154"/>
          <p:cNvSpPr/>
          <p:nvPr/>
        </p:nvSpPr>
        <p:spPr>
          <a:xfrm>
            <a:off x="2148840" y="2679192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4D6"/>
          </a:solidFill>
          <a:ln w="28575">
            <a:solidFill>
              <a:srgbClr val="D99A00"/>
            </a:solidFill>
            <a:prstDash val="solid"/>
          </a:ln>
        </p:spPr>
      </p:sp>
      <p:sp>
        <p:nvSpPr>
          <p:cNvPr id="10" name="pay-155"/>
          <p:cNvSpPr txBox="1"/>
          <p:nvPr/>
        </p:nvSpPr>
        <p:spPr>
          <a:xfrm>
            <a:off x="2148840" y="2679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2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u="heavy" dirty="0">
                <a:solidFill>
                  <a:schemeClr val="accent2"/>
                </a:solidFill>
                <a:uFill>
                  <a:solidFill>
                    <a:srgbClr val="A0306E"/>
                  </a:solidFill>
                </a:uFill>
              </a:rPr>
              <a:t>2</a:t>
            </a:r>
            <a:endParaRPr lang="en-US" sz="2600" dirty="0"/>
          </a:p>
        </p:txBody>
      </p:sp>
      <p:sp>
        <p:nvSpPr>
          <p:cNvPr id="11" name="tag-156"/>
          <p:cNvSpPr/>
          <p:nvPr/>
        </p:nvSpPr>
        <p:spPr>
          <a:xfrm>
            <a:off x="2834640" y="253288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agText-157"/>
          <p:cNvSpPr txBox="1"/>
          <p:nvPr/>
        </p:nvSpPr>
        <p:spPr>
          <a:xfrm>
            <a:off x="2834640" y="25328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★ равновесие</a:t>
            </a:r>
            <a:endParaRPr lang="en-US" sz="1100" dirty="0"/>
          </a:p>
        </p:txBody>
      </p:sp>
      <p:sp>
        <p:nvSpPr>
          <p:cNvPr id="13" name="cell-158"/>
          <p:cNvSpPr/>
          <p:nvPr/>
        </p:nvSpPr>
        <p:spPr>
          <a:xfrm>
            <a:off x="4361688" y="2679192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pay-159"/>
          <p:cNvSpPr txBox="1"/>
          <p:nvPr/>
        </p:nvSpPr>
        <p:spPr>
          <a:xfrm>
            <a:off x="4361688" y="26791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−1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-160"/>
          <p:cNvSpPr txBox="1"/>
          <p:nvPr/>
        </p:nvSpPr>
        <p:spPr>
          <a:xfrm>
            <a:off x="54864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Не входить</a:t>
            </a:r>
            <a:endParaRPr lang="en-US" sz="1600" dirty="0"/>
          </a:p>
        </p:txBody>
      </p:sp>
      <p:sp>
        <p:nvSpPr>
          <p:cNvPr id="16" name="cell-161"/>
          <p:cNvSpPr/>
          <p:nvPr/>
        </p:nvSpPr>
        <p:spPr>
          <a:xfrm>
            <a:off x="2148840" y="37947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7" name="pay-162"/>
          <p:cNvSpPr txBox="1"/>
          <p:nvPr/>
        </p:nvSpPr>
        <p:spPr>
          <a:xfrm>
            <a:off x="2148840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u="heavy" dirty="0">
                <a:solidFill>
                  <a:schemeClr val="accent2"/>
                </a:solidFill>
                <a:uFill>
                  <a:solidFill>
                    <a:srgbClr val="A0306E"/>
                  </a:solidFill>
                </a:uFill>
              </a:rPr>
              <a:t>4</a:t>
            </a:r>
            <a:endParaRPr lang="en-US" sz="2600" dirty="0"/>
          </a:p>
        </p:txBody>
      </p:sp>
      <p:sp>
        <p:nvSpPr>
          <p:cNvPr id="18" name="cell-163"/>
          <p:cNvSpPr/>
          <p:nvPr/>
        </p:nvSpPr>
        <p:spPr>
          <a:xfrm>
            <a:off x="4361688" y="37947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4D6"/>
          </a:solidFill>
          <a:ln w="28575">
            <a:solidFill>
              <a:srgbClr val="D99A00"/>
            </a:solidFill>
            <a:prstDash val="solid"/>
          </a:ln>
        </p:spPr>
      </p:sp>
      <p:sp>
        <p:nvSpPr>
          <p:cNvPr id="19" name="pay-164"/>
          <p:cNvSpPr txBox="1"/>
          <p:nvPr/>
        </p:nvSpPr>
        <p:spPr>
          <a:xfrm>
            <a:off x="4361688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heavy" dirty="0">
                <a:solidFill>
                  <a:schemeClr val="accent1"/>
                </a:solidFill>
                <a:uFill>
                  <a:solidFill>
                    <a:srgbClr val="2747C4"/>
                  </a:solidFill>
                </a:uFill>
              </a:rPr>
              <a:t>0</a:t>
            </a:r>
            <a:pPr algn="ctr" indent="0" marL="0">
              <a:buNone/>
            </a:pPr>
            <a:r>
              <a:rPr lang="en-US" sz="208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600" b="1" u="heavy" dirty="0">
                <a:solidFill>
                  <a:schemeClr val="accent2"/>
                </a:solidFill>
                <a:uFill>
                  <a:solidFill>
                    <a:srgbClr val="A0306E"/>
                  </a:solidFill>
                </a:uFill>
              </a:rPr>
              <a:t>4</a:t>
            </a:r>
            <a:endParaRPr lang="en-US" sz="2600" dirty="0"/>
          </a:p>
        </p:txBody>
      </p:sp>
      <p:sp>
        <p:nvSpPr>
          <p:cNvPr id="20" name="tag-165"/>
          <p:cNvSpPr/>
          <p:nvPr/>
        </p:nvSpPr>
        <p:spPr>
          <a:xfrm>
            <a:off x="5047488" y="3648456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agText-166"/>
          <p:cNvSpPr txBox="1"/>
          <p:nvPr/>
        </p:nvSpPr>
        <p:spPr>
          <a:xfrm>
            <a:off x="5047488" y="36484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★ равновесие</a:t>
            </a:r>
            <a:endParaRPr lang="en-US" sz="1100" dirty="0"/>
          </a:p>
        </p:txBody>
      </p:sp>
      <p:sp>
        <p:nvSpPr>
          <p:cNvPr id="22" name="text-167"/>
          <p:cNvSpPr txBox="1"/>
          <p:nvPr/>
        </p:nvSpPr>
        <p:spPr>
          <a:xfrm>
            <a:off x="694944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Лучшие ответы</a:t>
            </a:r>
            <a:endParaRPr lang="en-US" sz="1800" dirty="0"/>
          </a:p>
        </p:txBody>
      </p:sp>
      <p:sp>
        <p:nvSpPr>
          <p:cNvPr id="23" name="list-168"/>
          <p:cNvSpPr txBox="1"/>
          <p:nvPr/>
        </p:nvSpPr>
        <p:spPr>
          <a:xfrm>
            <a:off x="6949440" y="26060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Конкурент: против «Приспособиться» — войти (2 &gt; 0); против «Бороться» — не входить (0 &gt; −1)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Фирма: если вход — приспособиться (2 &gt; 0); если невход — всё равно (4 = 4), оба плана — лучшие ответы</a:t>
            </a:r>
            <a:endParaRPr lang="en-US" sz="1500" dirty="0"/>
          </a:p>
        </p:txBody>
      </p:sp>
      <p:sp>
        <p:nvSpPr>
          <p:cNvPr id="24" name="box-169"/>
          <p:cNvSpPr/>
          <p:nvPr/>
        </p:nvSpPr>
        <p:spPr>
          <a:xfrm>
            <a:off x="6949440" y="4846320"/>
            <a:ext cx="4690872" cy="1280160"/>
          </a:xfrm>
          <a:prstGeom prst="roundRect">
            <a:avLst>
              <a:gd name="adj" fmla="val 8571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25" name="note-170"/>
          <p:cNvSpPr txBox="1"/>
          <p:nvPr/>
        </p:nvSpPr>
        <p:spPr>
          <a:xfrm>
            <a:off x="7150608" y="498348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⚠️ Два равновесия Нэша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(Войти; Приспособиться) и (Не входить; Бороться). Но разумно ли второе?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Неправдоподобная угроза и уточнение Зельтена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37</a:t>
            </a:r>
            <a:endParaRPr lang="en-US" sz="1100" dirty="0"/>
          </a:p>
        </p:txBody>
      </p:sp>
      <p:sp>
        <p:nvSpPr>
          <p:cNvPr id="4" name="text-171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Почему (Не входить; Бороться) — равновесие Нэша</a:t>
            </a:r>
            <a:endParaRPr lang="en-US" sz="1800" dirty="0"/>
          </a:p>
        </p:txBody>
      </p:sp>
      <p:sp>
        <p:nvSpPr>
          <p:cNvPr id="5" name="list-172"/>
          <p:cNvSpPr txBox="1"/>
          <p:nvPr/>
        </p:nvSpPr>
        <p:spPr>
          <a:xfrm>
            <a:off x="548640" y="17830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Конкурент верит угрозе: вход дал бы −1 &lt; 0, поэтому не входит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Фирме угрозу исполнять не приходится: при невходе она получает 4 при любом плане</a:t>
            </a:r>
            <a:endParaRPr lang="en-US" sz="1500" dirty="0"/>
          </a:p>
        </p:txBody>
      </p:sp>
      <p:sp>
        <p:nvSpPr>
          <p:cNvPr id="6" name="text-173"/>
          <p:cNvSpPr txBox="1"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Почему это равновесие не выдерживает проверки</a:t>
            </a:r>
            <a:endParaRPr lang="en-US" sz="1800" dirty="0"/>
          </a:p>
        </p:txBody>
      </p:sp>
      <p:sp>
        <p:nvSpPr>
          <p:cNvPr id="7" name="list-174"/>
          <p:cNvSpPr txBox="1"/>
          <p:nvPr/>
        </p:nvSpPr>
        <p:spPr>
          <a:xfrm>
            <a:off x="548640" y="3840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Если конкурент всё же войдёт, бороться фирме невыгодно: 0 &lt; 2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План «бороться» не оптимален в подыгре после входа</a:t>
            </a:r>
            <a:endParaRPr lang="en-US" sz="1500" dirty="0"/>
          </a:p>
        </p:txBody>
      </p:sp>
      <p:sp>
        <p:nvSpPr>
          <p:cNvPr id="8" name="box-175"/>
          <p:cNvSpPr/>
          <p:nvPr/>
        </p:nvSpPr>
        <p:spPr>
          <a:xfrm>
            <a:off x="6446520" y="1280160"/>
            <a:ext cx="5193792" cy="27432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176"/>
          <p:cNvSpPr txBox="1"/>
          <p:nvPr/>
        </p:nvSpPr>
        <p:spPr>
          <a:xfrm>
            <a:off x="667512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Совершенное подыгровое равновесие</a:t>
            </a:r>
            <a:endParaRPr lang="en-US" sz="1800" dirty="0"/>
          </a:p>
        </p:txBody>
      </p:sp>
      <p:sp>
        <p:nvSpPr>
          <p:cNvPr id="10" name="text-177"/>
          <p:cNvSpPr txBox="1"/>
          <p:nvPr/>
        </p:nvSpPr>
        <p:spPr>
          <a:xfrm>
            <a:off x="6675120" y="1874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Профиль стратегий, который образует равновесие Нэша в каждой подыгре — даже в той, до которой дело не дошло.</a:t>
            </a:r>
            <a:endParaRPr lang="en-US" sz="1600" dirty="0"/>
          </a:p>
        </p:txBody>
      </p:sp>
      <p:sp>
        <p:nvSpPr>
          <p:cNvPr id="11" name="text-178"/>
          <p:cNvSpPr txBox="1"/>
          <p:nvPr/>
        </p:nvSpPr>
        <p:spPr>
          <a:xfrm>
            <a:off x="667512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Р. Зельтен, 1965. Нобелевская премия 1994 года.</a:t>
            </a:r>
            <a:endParaRPr lang="en-US" sz="1400" dirty="0"/>
          </a:p>
        </p:txBody>
      </p:sp>
      <p:graphicFrame>
        <p:nvGraphicFramePr>
          <p:cNvPr id="9" name="table-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251960"/>
          <a:ext cx="5193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9019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Профиль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Нэш?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Совершенное подыгровое?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(Войти; Приспособиться)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(Не входить; Бороться)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x-180"/>
          <p:cNvSpPr/>
          <p:nvPr/>
        </p:nvSpPr>
        <p:spPr>
          <a:xfrm>
            <a:off x="548640" y="516636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note-181"/>
          <p:cNvSpPr txBox="1"/>
          <p:nvPr/>
        </p:nvSpPr>
        <p:spPr>
          <a:xfrm>
            <a:off x="749808" y="530352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Неправдоподобная угроза — обещание действия, которое игроку невыгодно выполнить, когда до него дойдёт.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сделать угрозу правдоподобной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37</a:t>
            </a:r>
            <a:endParaRPr lang="en-US" sz="1100" dirty="0"/>
          </a:p>
        </p:txBody>
      </p:sp>
      <p:sp>
        <p:nvSpPr>
          <p:cNvPr id="4" name="edge-182"/>
          <p:cNvSpPr/>
          <p:nvPr/>
        </p:nvSpPr>
        <p:spPr>
          <a:xfrm flipH="1">
            <a:off x="1463040" y="1737360"/>
            <a:ext cx="1737360" cy="146304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5" name="edge-183"/>
          <p:cNvSpPr/>
          <p:nvPr/>
        </p:nvSpPr>
        <p:spPr>
          <a:xfrm>
            <a:off x="3200400" y="1737360"/>
            <a:ext cx="1463040" cy="1280160"/>
          </a:xfrm>
          <a:prstGeom prst="line">
            <a:avLst/>
          </a:prstGeom>
          <a:noFill/>
          <a:ln w="25400">
            <a:solidFill>
              <a:srgbClr val="B4BCC8"/>
            </a:solidFill>
            <a:prstDash val="solid"/>
          </a:ln>
        </p:spPr>
      </p:sp>
      <p:sp>
        <p:nvSpPr>
          <p:cNvPr id="6" name="edge-184"/>
          <p:cNvSpPr/>
          <p:nvPr/>
        </p:nvSpPr>
        <p:spPr>
          <a:xfrm flipH="1">
            <a:off x="3657600" y="3017520"/>
            <a:ext cx="1005840" cy="1325880"/>
          </a:xfrm>
          <a:prstGeom prst="line">
            <a:avLst/>
          </a:prstGeom>
          <a:noFill/>
          <a:ln w="25400">
            <a:solidFill>
              <a:srgbClr val="B4BCC8"/>
            </a:solidFill>
            <a:prstDash val="solid"/>
          </a:ln>
        </p:spPr>
      </p:sp>
      <p:sp>
        <p:nvSpPr>
          <p:cNvPr id="7" name="edge-185"/>
          <p:cNvSpPr/>
          <p:nvPr/>
        </p:nvSpPr>
        <p:spPr>
          <a:xfrm>
            <a:off x="4663440" y="3017520"/>
            <a:ext cx="1005840" cy="132588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8" name="node-186"/>
          <p:cNvSpPr/>
          <p:nvPr/>
        </p:nvSpPr>
        <p:spPr>
          <a:xfrm>
            <a:off x="3044952" y="15819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node-187"/>
          <p:cNvSpPr/>
          <p:nvPr/>
        </p:nvSpPr>
        <p:spPr>
          <a:xfrm>
            <a:off x="4507992" y="286207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-188"/>
          <p:cNvSpPr txBox="1"/>
          <p:nvPr/>
        </p:nvSpPr>
        <p:spPr>
          <a:xfrm>
            <a:off x="2286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Конкурент</a:t>
            </a:r>
            <a:endParaRPr lang="en-US" sz="1500" dirty="0"/>
          </a:p>
        </p:txBody>
      </p:sp>
      <p:sp>
        <p:nvSpPr>
          <p:cNvPr id="11" name="text-189"/>
          <p:cNvSpPr txBox="1"/>
          <p:nvPr/>
        </p:nvSpPr>
        <p:spPr>
          <a:xfrm>
            <a:off x="48920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Фирма</a:t>
            </a:r>
            <a:endParaRPr lang="en-US" sz="1500" dirty="0"/>
          </a:p>
        </p:txBody>
      </p:sp>
      <p:sp>
        <p:nvSpPr>
          <p:cNvPr id="12" name="text-190"/>
          <p:cNvSpPr txBox="1"/>
          <p:nvPr/>
        </p:nvSpPr>
        <p:spPr>
          <a:xfrm>
            <a:off x="12344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 входить</a:t>
            </a:r>
            <a:endParaRPr lang="en-US" sz="1400" dirty="0"/>
          </a:p>
        </p:txBody>
      </p:sp>
      <p:sp>
        <p:nvSpPr>
          <p:cNvPr id="13" name="text-191"/>
          <p:cNvSpPr txBox="1"/>
          <p:nvPr/>
        </p:nvSpPr>
        <p:spPr>
          <a:xfrm>
            <a:off x="406908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Войти</a:t>
            </a:r>
            <a:endParaRPr lang="en-US" sz="1400" dirty="0"/>
          </a:p>
        </p:txBody>
      </p:sp>
      <p:sp>
        <p:nvSpPr>
          <p:cNvPr id="14" name="text-192"/>
          <p:cNvSpPr txBox="1"/>
          <p:nvPr/>
        </p:nvSpPr>
        <p:spPr>
          <a:xfrm>
            <a:off x="2377440" y="3474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Приспособиться</a:t>
            </a:r>
            <a:endParaRPr lang="en-US" sz="1400" dirty="0"/>
          </a:p>
        </p:txBody>
      </p:sp>
      <p:sp>
        <p:nvSpPr>
          <p:cNvPr id="15" name="text-193"/>
          <p:cNvSpPr txBox="1"/>
          <p:nvPr/>
        </p:nvSpPr>
        <p:spPr>
          <a:xfrm>
            <a:off x="52578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Бороться</a:t>
            </a:r>
            <a:endParaRPr lang="en-US" sz="1400" dirty="0"/>
          </a:p>
        </p:txBody>
      </p:sp>
      <p:sp>
        <p:nvSpPr>
          <p:cNvPr id="16" name="payoff-194"/>
          <p:cNvSpPr txBox="1"/>
          <p:nvPr/>
        </p:nvSpPr>
        <p:spPr>
          <a:xfrm>
            <a:off x="594360" y="3310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(0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4)</a:t>
            </a:r>
            <a:endParaRPr lang="en-US" sz="1800" dirty="0"/>
          </a:p>
        </p:txBody>
      </p:sp>
      <p:sp>
        <p:nvSpPr>
          <p:cNvPr id="17" name="payoff-195"/>
          <p:cNvSpPr txBox="1"/>
          <p:nvPr/>
        </p:nvSpPr>
        <p:spPr>
          <a:xfrm>
            <a:off x="278892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(2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2)</a:t>
            </a:r>
            <a:endParaRPr lang="en-US" sz="1800" dirty="0"/>
          </a:p>
        </p:txBody>
      </p:sp>
      <p:sp>
        <p:nvSpPr>
          <p:cNvPr id="18" name="payoff-196"/>
          <p:cNvSpPr txBox="1"/>
          <p:nvPr/>
        </p:nvSpPr>
        <p:spPr>
          <a:xfrm>
            <a:off x="480060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(−1</a:t>
            </a:r>
            <a:pPr algn="ctr" indent="0" marL="0">
              <a:buNone/>
            </a:pPr>
            <a:r>
              <a:rPr lang="en-US" sz="1800" dirty="0">
                <a:solidFill>
                  <a:srgbClr val="B4BCC8"/>
                </a:solidFill>
              </a:rPr>
              <a:t> ;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3)</a:t>
            </a:r>
            <a:endParaRPr lang="en-US" sz="1800" dirty="0"/>
          </a:p>
        </p:txBody>
      </p:sp>
      <p:sp>
        <p:nvSpPr>
          <p:cNvPr id="19" name="text-197"/>
          <p:cNvSpPr txBox="1"/>
          <p:nvPr/>
        </p:nvSpPr>
        <p:spPr>
          <a:xfrm>
            <a:off x="54864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Пусть борьба даёт фирме 3 вместо 0</a:t>
            </a:r>
            <a:endParaRPr lang="en-US" sz="1700" dirty="0"/>
          </a:p>
        </p:txBody>
      </p:sp>
      <p:sp>
        <p:nvSpPr>
          <p:cNvPr id="20" name="text-198"/>
          <p:cNvSpPr txBox="1"/>
          <p:nvPr/>
        </p:nvSpPr>
        <p:spPr>
          <a:xfrm>
            <a:off x="548640" y="5257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Шаг 1: бороться 3 &gt; приспособиться 2. Шаг 2: вход −1 &lt; невход 0. Итог: (Не входить; Бороться), выигрыши (0 ; 4).</a:t>
            </a:r>
            <a:endParaRPr lang="en-US" sz="1500" dirty="0"/>
          </a:p>
        </p:txBody>
      </p:sp>
      <p:sp>
        <p:nvSpPr>
          <p:cNvPr id="21" name="text-199"/>
          <p:cNvSpPr txBox="1"/>
          <p:nvPr/>
        </p:nvSpPr>
        <p:spPr>
          <a:xfrm>
            <a:off x="667512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Стратегическое обязательство (Т. Шеллинг)</a:t>
            </a:r>
            <a:endParaRPr lang="en-US" sz="1800" dirty="0"/>
          </a:p>
        </p:txBody>
      </p:sp>
      <p:sp>
        <p:nvSpPr>
          <p:cNvPr id="22" name="list-200"/>
          <p:cNvSpPr txBox="1"/>
          <p:nvPr/>
        </p:nvSpPr>
        <p:spPr>
          <a:xfrm>
            <a:off x="6675120" y="1828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Избыточные мощности: при входе наводнить рынок дешевле, чем делиться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Контракты, обязывающие снижать цену при появлении конкурента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Репутация «жёсткой» фирмы на других рынках (задача 11)</a:t>
            </a:r>
            <a:endParaRPr lang="en-US" sz="1500" dirty="0"/>
          </a:p>
        </p:txBody>
      </p:sp>
      <p:graphicFrame>
        <p:nvGraphicFramePr>
          <p:cNvPr id="10" name="table-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278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Условие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Исход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 &gt; f,  e &gt; 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Войти; приспособиться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 &gt; f,  e &lt; 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 входить; приспособилась бы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 &gt; a,  ef &gt; 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Войти; борется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 &gt; a,  ef &lt; 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 входить; боролась бы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9: ошибки, лаборатория, вывод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36</a:t>
            </a:r>
            <a:endParaRPr lang="en-US" sz="1100" dirty="0"/>
          </a:p>
        </p:txBody>
      </p:sp>
      <p:sp>
        <p:nvSpPr>
          <p:cNvPr id="4" name="box-202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5" name="note-203"/>
          <p:cNvSpPr txBox="1"/>
          <p:nvPr/>
        </p:nvSpPr>
        <p:spPr>
          <a:xfrm>
            <a:off x="749808" y="146304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⚠️ Типичные ошибки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Верить угрозе и отвечать «Не входить». Решать игру с начала, а не с конца. Путать порядок выигрышей: первым идёт конкурент.</a:t>
            </a:r>
            <a:endParaRPr lang="en-US" sz="1700" dirty="0"/>
          </a:p>
        </p:txBody>
      </p:sp>
      <p:sp>
        <p:nvSpPr>
          <p:cNvPr id="6" name="box-204"/>
          <p:cNvSpPr/>
          <p:nvPr/>
        </p:nvSpPr>
        <p:spPr>
          <a:xfrm>
            <a:off x="54864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7" name="note-205"/>
          <p:cNvSpPr txBox="1"/>
          <p:nvPr/>
        </p:nvSpPr>
        <p:spPr>
          <a:xfrm>
            <a:off x="749808" y="3840480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 лаборатории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Выберите «Войти; фирма приспосабливается» → «Проверить решение». Нажмите «Отметить обратную индукцию» — путь равновесия станет золотым. Поменяйте выигрыши — дерево пересчитается.</a:t>
            </a:r>
            <a:endParaRPr lang="en-US" sz="1700" dirty="0"/>
          </a:p>
        </p:txBody>
      </p:sp>
      <p:sp>
        <p:nvSpPr>
          <p:cNvPr id="8" name="box-206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207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Под запись</a:t>
            </a:r>
            <a:endParaRPr lang="en-US" sz="1800" dirty="0"/>
          </a:p>
        </p:txBody>
      </p:sp>
      <p:sp>
        <p:nvSpPr>
          <p:cNvPr id="10" name="list-208"/>
          <p:cNvSpPr txBox="1"/>
          <p:nvPr/>
        </p:nvSpPr>
        <p:spPr>
          <a:xfrm>
            <a:off x="6473952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Обратная индукция: решаем игру с последнего хода к первому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Стратегия — полный план на каждый узел, даже недостигнутый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Совершенное подыгровое равновесие отбрасывает неправдоподобные угрозы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Угроза работает, только если её выгодно исполнить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10. Повторяющаяся дилемма: условие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38</a:t>
            </a:r>
            <a:endParaRPr lang="en-US" sz="1100" dirty="0"/>
          </a:p>
        </p:txBody>
      </p:sp>
      <p:sp>
        <p:nvSpPr>
          <p:cNvPr id="4" name="text-209"/>
          <p:cNvSpPr txBox="1"/>
          <p:nvPr/>
        </p:nvSpPr>
        <p:spPr>
          <a:xfrm>
            <a:off x="54864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Игрок 1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Игрок 2 →</a:t>
            </a:r>
            <a:endParaRPr lang="en-US" sz="1200" dirty="0"/>
          </a:p>
        </p:txBody>
      </p:sp>
      <p:sp>
        <p:nvSpPr>
          <p:cNvPr id="5" name="text-210"/>
          <p:cNvSpPr txBox="1"/>
          <p:nvPr/>
        </p:nvSpPr>
        <p:spPr>
          <a:xfrm>
            <a:off x="22860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Сотрудничать</a:t>
            </a:r>
            <a:endParaRPr lang="en-US" sz="1600" dirty="0"/>
          </a:p>
        </p:txBody>
      </p:sp>
      <p:sp>
        <p:nvSpPr>
          <p:cNvPr id="6" name="text-211"/>
          <p:cNvSpPr txBox="1"/>
          <p:nvPr/>
        </p:nvSpPr>
        <p:spPr>
          <a:xfrm>
            <a:off x="4407408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Предать</a:t>
            </a:r>
            <a:endParaRPr lang="en-US" sz="1600" dirty="0"/>
          </a:p>
        </p:txBody>
      </p:sp>
      <p:sp>
        <p:nvSpPr>
          <p:cNvPr id="7" name="text-212"/>
          <p:cNvSpPr txBox="1"/>
          <p:nvPr/>
        </p:nvSpPr>
        <p:spPr>
          <a:xfrm>
            <a:off x="548640" y="1901952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Сотрудничать</a:t>
            </a:r>
            <a:endParaRPr lang="en-US" sz="1600" dirty="0"/>
          </a:p>
        </p:txBody>
      </p:sp>
      <p:sp>
        <p:nvSpPr>
          <p:cNvPr id="8" name="cell-213"/>
          <p:cNvSpPr/>
          <p:nvPr/>
        </p:nvSpPr>
        <p:spPr>
          <a:xfrm>
            <a:off x="2286000" y="190195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9" name="pay-214"/>
          <p:cNvSpPr txBox="1"/>
          <p:nvPr/>
        </p:nvSpPr>
        <p:spPr>
          <a:xfrm>
            <a:off x="2286000" y="190195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 = 3</a:t>
            </a:r>
            <a:pPr algn="ctr" indent="0" marL="0">
              <a:buNone/>
            </a:pPr>
            <a:r>
              <a:rPr lang="en-US" sz="160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 = 3</a:t>
            </a:r>
            <a:endParaRPr lang="en-US" sz="2000" dirty="0"/>
          </a:p>
        </p:txBody>
      </p:sp>
      <p:sp>
        <p:nvSpPr>
          <p:cNvPr id="10" name="cell-215"/>
          <p:cNvSpPr/>
          <p:nvPr/>
        </p:nvSpPr>
        <p:spPr>
          <a:xfrm>
            <a:off x="4407408" y="190195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1" name="pay-216"/>
          <p:cNvSpPr txBox="1"/>
          <p:nvPr/>
        </p:nvSpPr>
        <p:spPr>
          <a:xfrm>
            <a:off x="4407408" y="190195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 = 0</a:t>
            </a:r>
            <a:pPr algn="ctr" indent="0" marL="0">
              <a:buNone/>
            </a:pPr>
            <a:r>
              <a:rPr lang="en-US" sz="160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 = 5</a:t>
            </a:r>
            <a:endParaRPr lang="en-US" sz="2000" dirty="0"/>
          </a:p>
        </p:txBody>
      </p:sp>
      <p:sp>
        <p:nvSpPr>
          <p:cNvPr id="12" name="text-217"/>
          <p:cNvSpPr txBox="1"/>
          <p:nvPr/>
        </p:nvSpPr>
        <p:spPr>
          <a:xfrm>
            <a:off x="548640" y="29718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Предать</a:t>
            </a:r>
            <a:endParaRPr lang="en-US" sz="1600" dirty="0"/>
          </a:p>
        </p:txBody>
      </p:sp>
      <p:sp>
        <p:nvSpPr>
          <p:cNvPr id="13" name="cell-218"/>
          <p:cNvSpPr/>
          <p:nvPr/>
        </p:nvSpPr>
        <p:spPr>
          <a:xfrm>
            <a:off x="2286000" y="29718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pay-219"/>
          <p:cNvSpPr txBox="1"/>
          <p:nvPr/>
        </p:nvSpPr>
        <p:spPr>
          <a:xfrm>
            <a:off x="2286000" y="29718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 = 5</a:t>
            </a:r>
            <a:pPr algn="ctr" indent="0" marL="0">
              <a:buNone/>
            </a:pPr>
            <a:r>
              <a:rPr lang="en-US" sz="160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 = 0</a:t>
            </a:r>
            <a:endParaRPr lang="en-US" sz="2000" dirty="0"/>
          </a:p>
        </p:txBody>
      </p:sp>
      <p:sp>
        <p:nvSpPr>
          <p:cNvPr id="15" name="cell-220"/>
          <p:cNvSpPr/>
          <p:nvPr/>
        </p:nvSpPr>
        <p:spPr>
          <a:xfrm>
            <a:off x="4407408" y="29718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pay-221"/>
          <p:cNvSpPr txBox="1"/>
          <p:nvPr/>
        </p:nvSpPr>
        <p:spPr>
          <a:xfrm>
            <a:off x="4407408" y="29718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 = 1</a:t>
            </a:r>
            <a:pPr algn="ctr" indent="0" marL="0">
              <a:buNone/>
            </a:pPr>
            <a:r>
              <a:rPr lang="en-US" sz="1600" dirty="0">
                <a:solidFill>
                  <a:srgbClr val="B4BCC8"/>
                </a:solidFill>
              </a:rPr>
              <a:t>   |   </a:t>
            </a:r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 = 1</a:t>
            </a:r>
            <a:endParaRPr lang="en-US" sz="2000" dirty="0"/>
          </a:p>
        </p:txBody>
      </p:sp>
      <p:sp>
        <p:nvSpPr>
          <p:cNvPr id="17" name="text-222"/>
          <p:cNvSpPr txBox="1"/>
          <p:nvPr/>
        </p:nvSpPr>
        <p:spPr>
          <a:xfrm>
            <a:off x="548640" y="3886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 же дилемма заключённого, что в задаче 1, но сыгранная бесконечно много раз.</a:t>
            </a:r>
            <a:endParaRPr lang="en-US" sz="1600" dirty="0"/>
          </a:p>
        </p:txBody>
      </p:sp>
      <p:graphicFrame>
        <p:nvGraphicFramePr>
          <p:cNvPr id="12" name="table-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760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Обозначение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Смысл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награда за взаимное сотрудничество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искушение предать сотрудничающего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наказание: взаимное предательство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выигрыш обманутого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-224"/>
          <p:cNvSpPr txBox="1"/>
          <p:nvPr/>
        </p:nvSpPr>
        <p:spPr>
          <a:xfrm>
            <a:off x="667512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Вопрос</a:t>
            </a:r>
            <a:endParaRPr lang="en-US" sz="1800" dirty="0"/>
          </a:p>
        </p:txBody>
      </p:sp>
      <p:sp>
        <p:nvSpPr>
          <p:cNvPr id="20" name="text-225"/>
          <p:cNvSpPr txBox="1"/>
          <p:nvPr/>
        </p:nvSpPr>
        <p:spPr>
          <a:xfrm>
            <a:off x="667512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Оба играют grim trigger. При каком минимальном коэффициенте дисконтирования δ сотрудничество устойчиво?</a:t>
            </a:r>
            <a:endParaRPr lang="en-US" sz="1700" dirty="0"/>
          </a:p>
        </p:txBody>
      </p:sp>
      <p:sp>
        <p:nvSpPr>
          <p:cNvPr id="21" name="box-226"/>
          <p:cNvSpPr/>
          <p:nvPr/>
        </p:nvSpPr>
        <p:spPr>
          <a:xfrm>
            <a:off x="6675120" y="3154680"/>
            <a:ext cx="4965192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22" name="note-227"/>
          <p:cNvSpPr txBox="1"/>
          <p:nvPr/>
        </p:nvSpPr>
        <p:spPr>
          <a:xfrm>
            <a:off x="6876288" y="3291840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Порядок для дилеммы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&gt; R &gt; P &gt; S:  5 &gt; 3 &gt; 1 &gt; 0. В однократной игре единственное равновесие — (Предать, Предать).</a:t>
            </a:r>
            <a:endParaRPr lang="en-US" sz="1600" dirty="0"/>
          </a:p>
        </p:txBody>
      </p:sp>
      <p:sp>
        <p:nvSpPr>
          <p:cNvPr id="23" name="box-228"/>
          <p:cNvSpPr/>
          <p:nvPr/>
        </p:nvSpPr>
        <p:spPr>
          <a:xfrm>
            <a:off x="6675120" y="4709160"/>
            <a:ext cx="4965192" cy="1417320"/>
          </a:xfrm>
          <a:prstGeom prst="roundRect">
            <a:avLst>
              <a:gd name="adj" fmla="val 774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4" name="note-229"/>
          <p:cNvSpPr txBox="1"/>
          <p:nvPr/>
        </p:nvSpPr>
        <p:spPr>
          <a:xfrm>
            <a:off x="6876288" y="4846320"/>
            <a:ext cx="4562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не понадобится: при grim trigger после предательства оба навсегда предают, и обманутым никто больше не бывает.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Коэффициент дисконтирования 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38</a:t>
            </a:r>
            <a:endParaRPr lang="en-US" sz="1100" dirty="0"/>
          </a:p>
        </p:txBody>
      </p:sp>
      <p:sp>
        <p:nvSpPr>
          <p:cNvPr id="4" name="text-230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Выигрыш за всю игру:   U = u</a:t>
            </a:r>
            <a:pPr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0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+ δu</a:t>
            </a:r>
            <a:pPr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+ δ</a:t>
            </a:r>
            <a:pPr indent="0" marL="0">
              <a:buNone/>
            </a:pPr>
            <a:r>
              <a:rPr lang="en-US" sz="2100" b="1" baseline="3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</a:t>
            </a:r>
            <a:pPr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+ … = Σ δ</a:t>
            </a:r>
            <a:pPr indent="0" marL="0">
              <a:buNone/>
            </a:pPr>
            <a:r>
              <a:rPr lang="en-US" sz="2100" b="1" baseline="3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u</a:t>
            </a:r>
            <a:pPr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,   0 ≤ δ &lt; 1</a:t>
            </a:r>
            <a:endParaRPr lang="en-US" sz="2100" dirty="0"/>
          </a:p>
        </p:txBody>
      </p:sp>
      <p:sp>
        <p:nvSpPr>
          <p:cNvPr id="5" name="box-231"/>
          <p:cNvSpPr/>
          <p:nvPr/>
        </p:nvSpPr>
        <p:spPr>
          <a:xfrm>
            <a:off x="548640" y="20574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6" name="text-232"/>
          <p:cNvSpPr txBox="1"/>
          <p:nvPr/>
        </p:nvSpPr>
        <p:spPr>
          <a:xfrm>
            <a:off x="73152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Терпение</a:t>
            </a:r>
            <a:endParaRPr lang="en-US" sz="1700" dirty="0"/>
          </a:p>
        </p:txBody>
      </p:sp>
      <p:sp>
        <p:nvSpPr>
          <p:cNvPr id="7" name="text-233"/>
          <p:cNvSpPr txBox="1"/>
          <p:nvPr/>
        </p:nvSpPr>
        <p:spPr>
          <a:xfrm>
            <a:off x="731520" y="2651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Насколько игрок ценит завтрашний выигрыш по сравнению с сегодняшним</a:t>
            </a:r>
            <a:endParaRPr lang="en-US" sz="1400" dirty="0"/>
          </a:p>
        </p:txBody>
      </p:sp>
      <p:sp>
        <p:nvSpPr>
          <p:cNvPr id="8" name="box-234"/>
          <p:cNvSpPr/>
          <p:nvPr/>
        </p:nvSpPr>
        <p:spPr>
          <a:xfrm>
            <a:off x="4297680" y="20574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9" name="text-235"/>
          <p:cNvSpPr txBox="1"/>
          <p:nvPr/>
        </p:nvSpPr>
        <p:spPr>
          <a:xfrm>
            <a:off x="448056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Процентная ставка</a:t>
            </a:r>
            <a:endParaRPr lang="en-US" sz="1700" dirty="0"/>
          </a:p>
        </p:txBody>
      </p:sp>
      <p:sp>
        <p:nvSpPr>
          <p:cNvPr id="10" name="text-236"/>
          <p:cNvSpPr txBox="1"/>
          <p:nvPr/>
        </p:nvSpPr>
        <p:spPr>
          <a:xfrm>
            <a:off x="4480560" y="2651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δ = 1/(1 + r): рубль завтра стоит δ рубля сегодня</a:t>
            </a:r>
            <a:endParaRPr lang="en-US" sz="1400" dirty="0"/>
          </a:p>
        </p:txBody>
      </p:sp>
      <p:sp>
        <p:nvSpPr>
          <p:cNvPr id="11" name="box-237"/>
          <p:cNvSpPr/>
          <p:nvPr/>
        </p:nvSpPr>
        <p:spPr>
          <a:xfrm>
            <a:off x="8046720" y="20574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text-238"/>
          <p:cNvSpPr txBox="1"/>
          <p:nvPr/>
        </p:nvSpPr>
        <p:spPr>
          <a:xfrm>
            <a:off x="82296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Вероятность продолжения</a:t>
            </a:r>
            <a:endParaRPr lang="en-US" sz="1700" dirty="0"/>
          </a:p>
        </p:txBody>
      </p:sp>
      <p:sp>
        <p:nvSpPr>
          <p:cNvPr id="13" name="text-239"/>
          <p:cNvSpPr txBox="1"/>
          <p:nvPr/>
        </p:nvSpPr>
        <p:spPr>
          <a:xfrm>
            <a:off x="8229600" y="26517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После каждого раунда игра продолжается с вероятностью δ: никто не знает, какой раунд последний</a:t>
            </a:r>
            <a:endParaRPr lang="en-US" sz="1400" dirty="0"/>
          </a:p>
        </p:txBody>
      </p:sp>
      <p:sp>
        <p:nvSpPr>
          <p:cNvPr id="14" name="text-240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Вес раунда t при δ = 0,6</a:t>
            </a:r>
            <a:endParaRPr lang="en-US" sz="1700" dirty="0"/>
          </a:p>
        </p:txBody>
      </p:sp>
      <p:graphicFrame>
        <p:nvGraphicFramePr>
          <p:cNvPr id="13" name="table-2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035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"/>
                <a:gridCol w="685800"/>
                <a:gridCol w="731520"/>
                <a:gridCol w="777240"/>
                <a:gridCol w="685800"/>
                <a:gridCol w="777240"/>
                <a:gridCol w="594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вес раунда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0,216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→ 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6" name="box-242"/>
          <p:cNvSpPr/>
          <p:nvPr/>
        </p:nvSpPr>
        <p:spPr>
          <a:xfrm>
            <a:off x="6858000" y="4023360"/>
            <a:ext cx="4782312" cy="2103120"/>
          </a:xfrm>
          <a:prstGeom prst="roundRect">
            <a:avLst>
              <a:gd name="adj" fmla="val 5217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7" name="text-243"/>
          <p:cNvSpPr txBox="1"/>
          <p:nvPr/>
        </p:nvSpPr>
        <p:spPr>
          <a:xfrm>
            <a:off x="708660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Геометрическая прогрессия</a:t>
            </a:r>
            <a:endParaRPr lang="en-US" sz="1700" dirty="0"/>
          </a:p>
        </p:txBody>
      </p:sp>
      <p:sp>
        <p:nvSpPr>
          <p:cNvPr id="18" name="text-244"/>
          <p:cNvSpPr txBox="1"/>
          <p:nvPr/>
        </p:nvSpPr>
        <p:spPr>
          <a:xfrm>
            <a:off x="708660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 = x + δx + δ</a:t>
            </a:r>
            <a:pPr algn="l" indent="0" marL="0">
              <a:buNone/>
            </a:pPr>
            <a:r>
              <a:rPr lang="en-US" sz="1800" b="1" baseline="3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 + …</a:t>
            </a:r>
            <a:endParaRPr lang="en-US" sz="1800" dirty="0"/>
          </a:p>
        </p:txBody>
      </p:sp>
      <p:sp>
        <p:nvSpPr>
          <p:cNvPr id="19" name="text-245"/>
          <p:cNvSpPr txBox="1"/>
          <p:nvPr/>
        </p:nvSpPr>
        <p:spPr>
          <a:xfrm>
            <a:off x="7086600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 = x + δX</a:t>
            </a:r>
            <a:endParaRPr lang="en-US" sz="1800" dirty="0"/>
          </a:p>
        </p:txBody>
      </p:sp>
      <p:sp>
        <p:nvSpPr>
          <p:cNvPr id="20" name="text-246"/>
          <p:cNvSpPr txBox="1"/>
          <p:nvPr/>
        </p:nvSpPr>
        <p:spPr>
          <a:xfrm>
            <a:off x="7086600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X = x/(1 − δ)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Стратегия grim trigger — «мрачный триггер»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38</a:t>
            </a:r>
            <a:endParaRPr lang="en-US" sz="1100" dirty="0"/>
          </a:p>
        </p:txBody>
      </p:sp>
      <p:sp>
        <p:nvSpPr>
          <p:cNvPr id="4" name="box-247"/>
          <p:cNvSpPr/>
          <p:nvPr/>
        </p:nvSpPr>
        <p:spPr>
          <a:xfrm>
            <a:off x="822960" y="182880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5" name="text-248"/>
          <p:cNvSpPr txBox="1"/>
          <p:nvPr/>
        </p:nvSpPr>
        <p:spPr>
          <a:xfrm>
            <a:off x="822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Сотрудничаю</a:t>
            </a:r>
            <a:endParaRPr lang="en-US" sz="2100" dirty="0"/>
          </a:p>
        </p:txBody>
      </p:sp>
      <p:sp>
        <p:nvSpPr>
          <p:cNvPr id="6" name="text-249"/>
          <p:cNvSpPr txBox="1"/>
          <p:nvPr/>
        </p:nvSpPr>
        <p:spPr>
          <a:xfrm>
            <a:off x="82296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пока никто ни разу не предал</a:t>
            </a:r>
            <a:endParaRPr lang="en-US" sz="1500" dirty="0"/>
          </a:p>
        </p:txBody>
      </p:sp>
      <p:sp>
        <p:nvSpPr>
          <p:cNvPr id="7" name="box-250"/>
          <p:cNvSpPr/>
          <p:nvPr/>
        </p:nvSpPr>
        <p:spPr>
          <a:xfrm>
            <a:off x="6309360" y="182880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8" name="text-251"/>
          <p:cNvSpPr txBox="1"/>
          <p:nvPr/>
        </p:nvSpPr>
        <p:spPr>
          <a:xfrm>
            <a:off x="63093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Предаю всегда</a:t>
            </a:r>
            <a:endParaRPr lang="en-US" sz="2100" dirty="0"/>
          </a:p>
        </p:txBody>
      </p:sp>
      <p:sp>
        <p:nvSpPr>
          <p:cNvPr id="9" name="text-252"/>
          <p:cNvSpPr txBox="1"/>
          <p:nvPr/>
        </p:nvSpPr>
        <p:spPr>
          <a:xfrm>
            <a:off x="630936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после первого предательства</a:t>
            </a:r>
            <a:endParaRPr lang="en-US" sz="1500" dirty="0"/>
          </a:p>
        </p:txBody>
      </p:sp>
      <p:sp>
        <p:nvSpPr>
          <p:cNvPr id="10" name="arrow-253"/>
          <p:cNvSpPr/>
          <p:nvPr/>
        </p:nvSpPr>
        <p:spPr>
          <a:xfrm>
            <a:off x="4617720" y="2651760"/>
            <a:ext cx="1554480" cy="0"/>
          </a:xfrm>
          <a:prstGeom prst="line">
            <a:avLst/>
          </a:prstGeom>
          <a:noFill/>
          <a:ln w="38100">
            <a:solidFill>
              <a:srgbClr val="17202C"/>
            </a:solidFill>
            <a:prstDash val="solid"/>
            <a:tailEnd type="triangle"/>
          </a:ln>
        </p:spPr>
      </p:sp>
      <p:sp>
        <p:nvSpPr>
          <p:cNvPr id="11" name="text-254"/>
          <p:cNvSpPr txBox="1"/>
          <p:nvPr/>
        </p:nvSpPr>
        <p:spPr>
          <a:xfrm>
            <a:off x="44805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кто-то предал</a:t>
            </a:r>
            <a:endParaRPr lang="en-US" sz="1400" dirty="0"/>
          </a:p>
        </p:txBody>
      </p:sp>
      <p:sp>
        <p:nvSpPr>
          <p:cNvPr id="12" name="text-255"/>
          <p:cNvSpPr txBox="1"/>
          <p:nvPr/>
        </p:nvSpPr>
        <p:spPr>
          <a:xfrm>
            <a:off x="100584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возврата нет</a:t>
            </a:r>
            <a:endParaRPr lang="en-US" sz="1400" dirty="0"/>
          </a:p>
        </p:txBody>
      </p:sp>
      <p:sp>
        <p:nvSpPr>
          <p:cNvPr id="13" name="text-25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Начинаем в левом состоянии. Переход в правое — навсегда.</a:t>
            </a:r>
            <a:endParaRPr lang="en-US" sz="1600" dirty="0"/>
          </a:p>
        </p:txBody>
      </p:sp>
      <p:sp>
        <p:nvSpPr>
          <p:cNvPr id="14" name="box-257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5" name="note-258"/>
          <p:cNvSpPr txBox="1"/>
          <p:nvPr/>
        </p:nvSpPr>
        <p:spPr>
          <a:xfrm>
            <a:off x="749808" y="4434840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Почему именно эта стратегия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Это самое суровое возможное наказание. Если сотрудничество не держится даже при нём, оно не удержится ни при каком.</a:t>
            </a:r>
            <a:endParaRPr lang="en-US" sz="1600" dirty="0"/>
          </a:p>
        </p:txBody>
      </p:sp>
      <p:sp>
        <p:nvSpPr>
          <p:cNvPr id="16" name="box-259"/>
          <p:cNvSpPr/>
          <p:nvPr/>
        </p:nvSpPr>
        <p:spPr>
          <a:xfrm>
            <a:off x="6245352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7" name="note-260"/>
          <p:cNvSpPr txBox="1"/>
          <p:nvPr/>
        </p:nvSpPr>
        <p:spPr>
          <a:xfrm>
            <a:off x="6446520" y="4434840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проверяем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Пусть партнёр играет grim trigger. Выгодно ли мне сотрудничать всегда — или выгоднее однажды предать?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1. Два потока выигрышей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39</a:t>
            </a:r>
            <a:endParaRPr lang="en-US" sz="1100" dirty="0"/>
          </a:p>
        </p:txBody>
      </p:sp>
      <p:graphicFrame>
        <p:nvGraphicFramePr>
          <p:cNvPr id="15" name="table-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234440"/>
                <a:gridCol w="1234440"/>
                <a:gridCol w="1234440"/>
                <a:gridCol w="82296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Раунд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Сумма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Сотрудничать всегда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= 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= 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= 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= 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R/(1 − δ)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Предать в раунде 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 = 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 = 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 = 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 = 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 + δP/(1 − δ)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badge-262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badgeText-263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-264"/>
          <p:cNvSpPr txBox="1"/>
          <p:nvPr/>
        </p:nvSpPr>
        <p:spPr>
          <a:xfrm>
            <a:off x="118872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Сотрудничать всегда</a:t>
            </a:r>
            <a:endParaRPr lang="en-US" sz="2000" dirty="0"/>
          </a:p>
        </p:txBody>
      </p:sp>
      <p:sp>
        <p:nvSpPr>
          <p:cNvPr id="8" name="text-265"/>
          <p:cNvSpPr txBox="1"/>
          <p:nvPr/>
        </p:nvSpPr>
        <p:spPr>
          <a:xfrm>
            <a:off x="118872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R + δR + δ</a:t>
            </a:r>
            <a:pPr indent="0" marL="0">
              <a:buNone/>
            </a:pPr>
            <a:r>
              <a:rPr lang="en-US" sz="2100" b="1" baseline="30000" dirty="0">
                <a:solidFill>
                  <a:schemeClr val="accent4"/>
                </a:solidFill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R + … = R/(1 − δ)</a:t>
            </a:r>
            <a:endParaRPr lang="en-US" sz="2100" dirty="0"/>
          </a:p>
        </p:txBody>
      </p:sp>
      <p:sp>
        <p:nvSpPr>
          <p:cNvPr id="9" name="text-266"/>
          <p:cNvSpPr txBox="1"/>
          <p:nvPr/>
        </p:nvSpPr>
        <p:spPr>
          <a:xfrm>
            <a:off x="118872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Каждый раунд партнёр сотрудничает, я тоже — получаю R.</a:t>
            </a:r>
            <a:endParaRPr lang="en-US" sz="1500" dirty="0"/>
          </a:p>
        </p:txBody>
      </p:sp>
      <p:sp>
        <p:nvSpPr>
          <p:cNvPr id="10" name="badge-267"/>
          <p:cNvSpPr/>
          <p:nvPr/>
        </p:nvSpPr>
        <p:spPr>
          <a:xfrm>
            <a:off x="6245352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dgeText-268"/>
          <p:cNvSpPr txBox="1"/>
          <p:nvPr/>
        </p:nvSpPr>
        <p:spPr>
          <a:xfrm>
            <a:off x="624535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-269"/>
          <p:cNvSpPr txBox="1"/>
          <p:nvPr/>
        </p:nvSpPr>
        <p:spPr>
          <a:xfrm>
            <a:off x="6885432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Предать сейчас</a:t>
            </a:r>
            <a:endParaRPr lang="en-US" sz="2000" dirty="0"/>
          </a:p>
        </p:txBody>
      </p:sp>
      <p:sp>
        <p:nvSpPr>
          <p:cNvPr id="13" name="text-270"/>
          <p:cNvSpPr txBox="1"/>
          <p:nvPr/>
        </p:nvSpPr>
        <p:spPr>
          <a:xfrm>
            <a:off x="6885432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T + δP + δ</a:t>
            </a:r>
            <a:pPr indent="0" marL="0">
              <a:buNone/>
            </a:pPr>
            <a:r>
              <a:rPr lang="en-US" sz="2100" b="1" baseline="30000" dirty="0">
                <a:solidFill>
                  <a:schemeClr val="accent6"/>
                </a:solidFill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P + … = T + δP/(1 − δ)</a:t>
            </a:r>
            <a:endParaRPr lang="en-US" sz="2100" dirty="0"/>
          </a:p>
        </p:txBody>
      </p:sp>
      <p:sp>
        <p:nvSpPr>
          <p:cNvPr id="14" name="text-271"/>
          <p:cNvSpPr txBox="1"/>
          <p:nvPr/>
        </p:nvSpPr>
        <p:spPr>
          <a:xfrm>
            <a:off x="6885432" y="4434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Сегодня партнёр ещё сотрудничает — получаю T. С завтрашнего дня он предаёт навсегда, мой лучший ответ — тоже предавать: P каждый раунд.</a:t>
            </a:r>
            <a:endParaRPr lang="en-US" sz="1500" dirty="0"/>
          </a:p>
        </p:txBody>
      </p:sp>
      <p:sp>
        <p:nvSpPr>
          <p:cNvPr id="15" name="box-272"/>
          <p:cNvSpPr/>
          <p:nvPr/>
        </p:nvSpPr>
        <p:spPr>
          <a:xfrm>
            <a:off x="548640" y="562356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6" name="note-273"/>
          <p:cNvSpPr txBox="1"/>
          <p:nvPr/>
        </p:nvSpPr>
        <p:spPr>
          <a:xfrm>
            <a:off x="749808" y="5760720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⚠️ Наказание начинается со следующего раунда — отсюда множитель δ.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2. Вывод порога δ*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39</a:t>
            </a:r>
            <a:endParaRPr lang="en-US" sz="1100" dirty="0"/>
          </a:p>
        </p:txBody>
      </p:sp>
      <p:sp>
        <p:nvSpPr>
          <p:cNvPr id="4" name="badge-27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275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6" name="text-276"/>
          <p:cNvSpPr txBox="1"/>
          <p:nvPr/>
        </p:nvSpPr>
        <p:spPr>
          <a:xfrm>
            <a:off x="11887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Сотрудничать не хуже, чем предать</a:t>
            </a:r>
            <a:endParaRPr lang="en-US" sz="2000" dirty="0"/>
          </a:p>
        </p:txBody>
      </p:sp>
      <p:sp>
        <p:nvSpPr>
          <p:cNvPr id="7" name="text-277"/>
          <p:cNvSpPr txBox="1"/>
          <p:nvPr/>
        </p:nvSpPr>
        <p:spPr>
          <a:xfrm>
            <a:off x="1188720" y="18745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R/(1 − δ)  ≥  T + δP/(1 − δ)</a:t>
            </a:r>
            <a:endParaRPr lang="en-US" sz="2200" dirty="0"/>
          </a:p>
        </p:txBody>
      </p:sp>
      <p:sp>
        <p:nvSpPr>
          <p:cNvPr id="8" name="text-278"/>
          <p:cNvSpPr txBox="1"/>
          <p:nvPr/>
        </p:nvSpPr>
        <p:spPr>
          <a:xfrm>
            <a:off x="1188720" y="235000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| умножаем на (1 − δ) &gt; 0</a:t>
            </a:r>
            <a:endParaRPr lang="en-US" sz="1500" dirty="0"/>
          </a:p>
        </p:txBody>
      </p:sp>
      <p:sp>
        <p:nvSpPr>
          <p:cNvPr id="9" name="text-279"/>
          <p:cNvSpPr txBox="1"/>
          <p:nvPr/>
        </p:nvSpPr>
        <p:spPr>
          <a:xfrm>
            <a:off x="1188720" y="282549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  ≥  T(1 − δ) + δP</a:t>
            </a:r>
            <a:endParaRPr lang="en-US" sz="2200" dirty="0"/>
          </a:p>
        </p:txBody>
      </p:sp>
      <p:sp>
        <p:nvSpPr>
          <p:cNvPr id="10" name="text-280"/>
          <p:cNvSpPr txBox="1"/>
          <p:nvPr/>
        </p:nvSpPr>
        <p:spPr>
          <a:xfrm>
            <a:off x="1188720" y="3300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  ≥  T − δT + δP</a:t>
            </a:r>
            <a:endParaRPr lang="en-US" sz="2200" dirty="0"/>
          </a:p>
        </p:txBody>
      </p:sp>
      <p:sp>
        <p:nvSpPr>
          <p:cNvPr id="11" name="text-281"/>
          <p:cNvSpPr txBox="1"/>
          <p:nvPr/>
        </p:nvSpPr>
        <p:spPr>
          <a:xfrm>
            <a:off x="1188720" y="377647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δ(T − P)  ≥  T − R</a:t>
            </a:r>
            <a:endParaRPr lang="en-US" sz="2200" dirty="0"/>
          </a:p>
        </p:txBody>
      </p:sp>
      <p:sp>
        <p:nvSpPr>
          <p:cNvPr id="12" name="text-282"/>
          <p:cNvSpPr txBox="1"/>
          <p:nvPr/>
        </p:nvSpPr>
        <p:spPr>
          <a:xfrm>
            <a:off x="1188720" y="425196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| делим на T − P &gt; 0</a:t>
            </a:r>
            <a:endParaRPr lang="en-US" sz="1500" dirty="0"/>
          </a:p>
        </p:txBody>
      </p:sp>
      <p:sp>
        <p:nvSpPr>
          <p:cNvPr id="13" name="box-283"/>
          <p:cNvSpPr/>
          <p:nvPr/>
        </p:nvSpPr>
        <p:spPr>
          <a:xfrm>
            <a:off x="1188720" y="48463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4" name="text-284"/>
          <p:cNvSpPr txBox="1"/>
          <p:nvPr/>
        </p:nvSpPr>
        <p:spPr>
          <a:xfrm>
            <a:off x="1188720" y="48463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δ  ≥  δ* = (T − R)/(T − P)</a:t>
            </a:r>
            <a:endParaRPr lang="en-US" sz="2800" dirty="0"/>
          </a:p>
        </p:txBody>
      </p:sp>
      <p:sp>
        <p:nvSpPr>
          <p:cNvPr id="15" name="box-285"/>
          <p:cNvSpPr/>
          <p:nvPr/>
        </p:nvSpPr>
        <p:spPr>
          <a:xfrm>
            <a:off x="6903720" y="1280160"/>
            <a:ext cx="4736592" cy="237744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6" name="text-286"/>
          <p:cNvSpPr txBox="1"/>
          <p:nvPr/>
        </p:nvSpPr>
        <p:spPr>
          <a:xfrm>
            <a:off x="713232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Числа задачи</a:t>
            </a:r>
            <a:endParaRPr lang="en-US" sz="1800" dirty="0"/>
          </a:p>
        </p:txBody>
      </p:sp>
      <p:sp>
        <p:nvSpPr>
          <p:cNvPr id="17" name="text-287"/>
          <p:cNvSpPr txBox="1"/>
          <p:nvPr/>
        </p:nvSpPr>
        <p:spPr>
          <a:xfrm>
            <a:off x="7132320" y="1874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δ* = (5 − 3)/(5 − 1)</a:t>
            </a:r>
            <a:endParaRPr lang="en-US" sz="2200" dirty="0"/>
          </a:p>
        </p:txBody>
      </p:sp>
      <p:sp>
        <p:nvSpPr>
          <p:cNvPr id="18" name="text-288"/>
          <p:cNvSpPr txBox="1"/>
          <p:nvPr/>
        </p:nvSpPr>
        <p:spPr>
          <a:xfrm>
            <a:off x="7132320" y="2468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δ* = 2/4 = 0,5</a:t>
            </a:r>
            <a:endParaRPr lang="en-US" sz="2600" dirty="0"/>
          </a:p>
        </p:txBody>
      </p:sp>
      <p:sp>
        <p:nvSpPr>
          <p:cNvPr id="19" name="text-289"/>
          <p:cNvSpPr txBox="1"/>
          <p:nvPr/>
        </p:nvSpPr>
        <p:spPr>
          <a:xfrm>
            <a:off x="713232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Ответ в лабораторию: 0,5</a:t>
            </a:r>
            <a:endParaRPr lang="en-US" sz="1500" dirty="0"/>
          </a:p>
        </p:txBody>
      </p:sp>
      <p:sp>
        <p:nvSpPr>
          <p:cNvPr id="20" name="box-290"/>
          <p:cNvSpPr/>
          <p:nvPr/>
        </p:nvSpPr>
        <p:spPr>
          <a:xfrm>
            <a:off x="6903720" y="3840480"/>
            <a:ext cx="4736592" cy="2240280"/>
          </a:xfrm>
          <a:prstGeom prst="roundRect">
            <a:avLst>
              <a:gd name="adj" fmla="val 489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21" name="note-291"/>
          <p:cNvSpPr txBox="1"/>
          <p:nvPr/>
        </p:nvSpPr>
        <p:spPr>
          <a:xfrm>
            <a:off x="7104888" y="3977640"/>
            <a:ext cx="43342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Смысл дроби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Числитель T − R = 2 — выигрыш от предательства сегодня. Знаменатель T − P = 4 — во сколько обходится наказание в каждом будущем раунде по сравнению с соблазном.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3. Проверка числами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39</a:t>
            </a:r>
            <a:endParaRPr lang="en-US" sz="1100" dirty="0"/>
          </a:p>
        </p:txBody>
      </p:sp>
      <p:graphicFrame>
        <p:nvGraphicFramePr>
          <p:cNvPr id="4" name="chart-292" descr=""/>
          <p:cNvGraphicFramePr/>
          <p:nvPr/>
        </p:nvGraphicFramePr>
        <p:xfrm>
          <a:off x="54864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-2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371600"/>
          <a:ext cx="482803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143000"/>
                <a:gridCol w="14904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δ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Сотрудничать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Предать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Вывод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предать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безразличен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7,5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сотрудничать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сотрудничать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x-294"/>
          <p:cNvSpPr/>
          <p:nvPr/>
        </p:nvSpPr>
        <p:spPr>
          <a:xfrm>
            <a:off x="6812280" y="3977640"/>
            <a:ext cx="4828032" cy="2148840"/>
          </a:xfrm>
          <a:prstGeom prst="roundRect">
            <a:avLst>
              <a:gd name="adj" fmla="val 510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7" name="note-295"/>
          <p:cNvSpPr txBox="1"/>
          <p:nvPr/>
        </p:nvSpPr>
        <p:spPr>
          <a:xfrm>
            <a:off x="7013448" y="4114800"/>
            <a:ext cx="44256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видно на графике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Линии пересекаются ровно при δ = 0,5. Левее выгоднее предать, правее — сотрудничать. Чем ближе δ к 1, тем сильнее «тень будущего».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Почему угроза наказания правдоподобна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39</a:t>
            </a:r>
            <a:endParaRPr lang="en-US" sz="1100" dirty="0"/>
          </a:p>
        </p:txBody>
      </p:sp>
      <p:sp>
        <p:nvSpPr>
          <p:cNvPr id="4" name="box-296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5" name="note-297"/>
          <p:cNvSpPr txBox="1"/>
          <p:nvPr/>
        </p:nvSpPr>
        <p:spPr>
          <a:xfrm>
            <a:off x="749808" y="146304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Наказание — тоже равновесие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После предательства оба навсегда предают. Это равновесие Нэша однократной игры, повторённое в каждом раунде. Отклоняться от него невыгодно: сотрудничество против предателя даёт 0 &lt; 1.</a:t>
            </a:r>
            <a:endParaRPr lang="en-US" sz="1600" dirty="0"/>
          </a:p>
        </p:txBody>
      </p:sp>
      <p:sp>
        <p:nvSpPr>
          <p:cNvPr id="6" name="box-298"/>
          <p:cNvSpPr/>
          <p:nvPr/>
        </p:nvSpPr>
        <p:spPr>
          <a:xfrm>
            <a:off x="54864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7" name="note-299"/>
          <p:cNvSpPr txBox="1"/>
          <p:nvPr/>
        </p:nvSpPr>
        <p:spPr>
          <a:xfrm>
            <a:off x="749808" y="3840480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Достаточно проверить одно отклонение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Принцип однократного отклонения: в игре с дисконтированием профиль — совершенное подыгровое равновесие, если ни одному игроку не выгодно отклониться в одном раунде, а дальше следовать стратегии.</a:t>
            </a:r>
            <a:endParaRPr lang="en-US" sz="1600" dirty="0"/>
          </a:p>
        </p:txBody>
      </p:sp>
      <p:sp>
        <p:nvSpPr>
          <p:cNvPr id="8" name="box-300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301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Итог задачи 10</a:t>
            </a:r>
            <a:endParaRPr lang="en-US" sz="1800" dirty="0"/>
          </a:p>
        </p:txBody>
      </p:sp>
      <p:sp>
        <p:nvSpPr>
          <p:cNvPr id="10" name="text-302"/>
          <p:cNvSpPr txBox="1"/>
          <p:nvPr/>
        </p:nvSpPr>
        <p:spPr>
          <a:xfrm>
            <a:off x="6473952" y="19659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При δ ≥ 1/2 профиль «оба играют grim trigger» — совершенное подыгровое равновесие бесконечно повторяющейся дилеммы.</a:t>
            </a:r>
            <a:endParaRPr lang="en-US" sz="1800" dirty="0"/>
          </a:p>
        </p:txBody>
      </p:sp>
      <p:sp>
        <p:nvSpPr>
          <p:cNvPr id="11" name="text-303"/>
          <p:cNvSpPr txBox="1"/>
          <p:nvPr/>
        </p:nvSpPr>
        <p:spPr>
          <a:xfrm>
            <a:off x="6473952" y="3520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равновесии никто ни разу не предаёт: каждый раунд оба получают 3, а угроза наказания так и остаётся угрозой.</a:t>
            </a:r>
            <a:endParaRPr lang="en-US" sz="1600" dirty="0"/>
          </a:p>
        </p:txBody>
      </p:sp>
      <p:sp>
        <p:nvSpPr>
          <p:cNvPr id="12" name="text-304"/>
          <p:cNvSpPr txBox="1"/>
          <p:nvPr/>
        </p:nvSpPr>
        <p:spPr>
          <a:xfrm>
            <a:off x="6473952" y="4983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Сравните с задачей 9: там угроза была неправдоподобной, здесь — правдоподобна.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Тень будущего: интерпретация и границы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40</a:t>
            </a:r>
            <a:endParaRPr lang="en-US" sz="1100" dirty="0"/>
          </a:p>
        </p:txBody>
      </p:sp>
      <p:sp>
        <p:nvSpPr>
          <p:cNvPr id="4" name="box-305"/>
          <p:cNvSpPr/>
          <p:nvPr/>
        </p:nvSpPr>
        <p:spPr>
          <a:xfrm>
            <a:off x="548640" y="132588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5" name="text-306"/>
          <p:cNvSpPr txBox="1"/>
          <p:nvPr/>
        </p:nvSpPr>
        <p:spPr>
          <a:xfrm>
            <a:off x="731520" y="132588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δ → 0</a:t>
            </a:r>
            <a:endParaRPr lang="en-US" sz="1700" dirty="0"/>
          </a:p>
        </p:txBody>
      </p:sp>
      <p:sp>
        <p:nvSpPr>
          <p:cNvPr id="6" name="text-307"/>
          <p:cNvSpPr txBox="1"/>
          <p:nvPr/>
        </p:nvSpPr>
        <p:spPr>
          <a:xfrm>
            <a:off x="2697480" y="132588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Будущее не важно — однократная дилемма, предательство</a:t>
            </a:r>
            <a:endParaRPr lang="en-US" sz="1400" dirty="0"/>
          </a:p>
        </p:txBody>
      </p:sp>
      <p:sp>
        <p:nvSpPr>
          <p:cNvPr id="7" name="box-308"/>
          <p:cNvSpPr/>
          <p:nvPr/>
        </p:nvSpPr>
        <p:spPr>
          <a:xfrm>
            <a:off x="548640" y="2350008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8" name="text-309"/>
          <p:cNvSpPr txBox="1"/>
          <p:nvPr/>
        </p:nvSpPr>
        <p:spPr>
          <a:xfrm>
            <a:off x="731520" y="2350008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δ → 1</a:t>
            </a:r>
            <a:endParaRPr lang="en-US" sz="1700" dirty="0"/>
          </a:p>
        </p:txBody>
      </p:sp>
      <p:sp>
        <p:nvSpPr>
          <p:cNvPr id="9" name="text-310"/>
          <p:cNvSpPr txBox="1"/>
          <p:nvPr/>
        </p:nvSpPr>
        <p:spPr>
          <a:xfrm>
            <a:off x="2697480" y="235000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Будущее почти как настоящее — сотрудничество устойчиво</a:t>
            </a:r>
            <a:endParaRPr lang="en-US" sz="1400" dirty="0"/>
          </a:p>
        </p:txBody>
      </p:sp>
      <p:sp>
        <p:nvSpPr>
          <p:cNvPr id="10" name="box-311"/>
          <p:cNvSpPr/>
          <p:nvPr/>
        </p:nvSpPr>
        <p:spPr>
          <a:xfrm>
            <a:off x="548640" y="3374136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1" name="text-312"/>
          <p:cNvSpPr txBox="1"/>
          <p:nvPr/>
        </p:nvSpPr>
        <p:spPr>
          <a:xfrm>
            <a:off x="731520" y="3374136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10 раундов, все знают</a:t>
            </a:r>
            <a:endParaRPr lang="en-US" sz="1700" dirty="0"/>
          </a:p>
        </p:txBody>
      </p:sp>
      <p:sp>
        <p:nvSpPr>
          <p:cNvPr id="12" name="text-313"/>
          <p:cNvSpPr txBox="1"/>
          <p:nvPr/>
        </p:nvSpPr>
        <p:spPr>
          <a:xfrm>
            <a:off x="2697480" y="337413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Обратная индукция: в 10-м раунде предают, значит, и в 9-м… и в 1-м</a:t>
            </a:r>
            <a:endParaRPr lang="en-US" sz="1400" dirty="0"/>
          </a:p>
        </p:txBody>
      </p:sp>
      <p:sp>
        <p:nvSpPr>
          <p:cNvPr id="13" name="box-314"/>
          <p:cNvSpPr/>
          <p:nvPr/>
        </p:nvSpPr>
        <p:spPr>
          <a:xfrm>
            <a:off x="548640" y="45262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note-315"/>
          <p:cNvSpPr txBox="1"/>
          <p:nvPr/>
        </p:nvSpPr>
        <p:spPr>
          <a:xfrm>
            <a:off x="749808" y="4663440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Народная теорема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При достаточно большом δ равновесным может быть почти любой исход, где каждый получает больше, чем гарантирует себе сам. Сотрудничество возможно — но возможно и многое другое.</a:t>
            </a:r>
            <a:endParaRPr lang="en-US" sz="1600" dirty="0"/>
          </a:p>
        </p:txBody>
      </p:sp>
      <p:sp>
        <p:nvSpPr>
          <p:cNvPr id="15" name="box-316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6" name="text-317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Турнир Аксельрода (1980)</a:t>
            </a:r>
            <a:endParaRPr lang="en-US" sz="1800" dirty="0"/>
          </a:p>
        </p:txBody>
      </p:sp>
      <p:sp>
        <p:nvSpPr>
          <p:cNvPr id="17" name="text-318"/>
          <p:cNvSpPr txBox="1"/>
          <p:nvPr/>
        </p:nvSpPr>
        <p:spPr>
          <a:xfrm>
            <a:off x="6473952" y="1920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Победила «Око за око» А. Рапопорта: в первом раунде сотрудничать, дальше повторять прошлый ход соперника.</a:t>
            </a:r>
            <a:endParaRPr lang="en-US" sz="1500" dirty="0"/>
          </a:p>
        </p:txBody>
      </p:sp>
      <p:sp>
        <p:nvSpPr>
          <p:cNvPr id="18" name="text-319"/>
          <p:cNvSpPr txBox="1"/>
          <p:nvPr/>
        </p:nvSpPr>
        <p:spPr>
          <a:xfrm>
            <a:off x="6473952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Однократное отклонение с возвратом не должно окупаться:</a:t>
            </a:r>
            <a:endParaRPr lang="en-US" sz="1500" dirty="0"/>
          </a:p>
        </p:txBody>
      </p:sp>
      <p:sp>
        <p:nvSpPr>
          <p:cNvPr id="19" name="text-320"/>
          <p:cNvSpPr txBox="1"/>
          <p:nvPr/>
        </p:nvSpPr>
        <p:spPr>
          <a:xfrm>
            <a:off x="6473952" y="3611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 + δS ≤ R + δR</a:t>
            </a:r>
            <a:endParaRPr lang="en-US" sz="2100" dirty="0"/>
          </a:p>
        </p:txBody>
      </p:sp>
      <p:sp>
        <p:nvSpPr>
          <p:cNvPr id="20" name="text-321"/>
          <p:cNvSpPr txBox="1"/>
          <p:nvPr/>
        </p:nvSpPr>
        <p:spPr>
          <a:xfrm>
            <a:off x="6473952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δ ≥ (T − R)/(R − S) = 2/3</a:t>
            </a:r>
            <a:endParaRPr lang="en-US" sz="2100" dirty="0"/>
          </a:p>
        </p:txBody>
      </p:sp>
      <p:sp>
        <p:nvSpPr>
          <p:cNvPr id="21" name="text-322"/>
          <p:cNvSpPr txBox="1"/>
          <p:nvPr/>
        </p:nvSpPr>
        <p:spPr>
          <a:xfrm>
            <a:off x="6473952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Мягкое наказание требует большего терпения: 2/3 &gt; 1/2.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10: ошибки, лаборатория, вывод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39</a:t>
            </a:r>
            <a:endParaRPr lang="en-US" sz="1100" dirty="0"/>
          </a:p>
        </p:txBody>
      </p:sp>
      <p:sp>
        <p:nvSpPr>
          <p:cNvPr id="4" name="box-323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5" name="note-324"/>
          <p:cNvSpPr txBox="1"/>
          <p:nvPr/>
        </p:nvSpPr>
        <p:spPr>
          <a:xfrm>
            <a:off x="749808" y="146304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⚠️ Типичные ошибки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Знаменатель R − P или T − S вместо T − P. Забыть множитель δ: наказание начинается со следующего раунда. Требовать δ &gt; 1 или δ = 1 — сумма тогда бесконечна.</a:t>
            </a:r>
            <a:endParaRPr lang="en-US" sz="1700" dirty="0"/>
          </a:p>
        </p:txBody>
      </p:sp>
      <p:sp>
        <p:nvSpPr>
          <p:cNvPr id="6" name="box-325"/>
          <p:cNvSpPr/>
          <p:nvPr/>
        </p:nvSpPr>
        <p:spPr>
          <a:xfrm>
            <a:off x="54864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7" name="note-326"/>
          <p:cNvSpPr txBox="1"/>
          <p:nvPr/>
        </p:nvSpPr>
        <p:spPr>
          <a:xfrm>
            <a:off x="749808" y="3840480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 лаборатории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Введите порог 0,5 → «Проверить решение»: увидите обе суммы (7,5 и 6,5). Поменяйте δ на 0,4 и проверьте снова. Подставьте числа задачи 6: R = 4, T = 5, P = 2 — порог 1/3.</a:t>
            </a:r>
            <a:endParaRPr lang="en-US" sz="1700" dirty="0"/>
          </a:p>
        </p:txBody>
      </p:sp>
      <p:sp>
        <p:nvSpPr>
          <p:cNvPr id="8" name="box-327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328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Под запись</a:t>
            </a:r>
            <a:endParaRPr lang="en-US" sz="1800" dirty="0"/>
          </a:p>
        </p:txBody>
      </p:sp>
      <p:sp>
        <p:nvSpPr>
          <p:cNvPr id="10" name="list-329"/>
          <p:cNvSpPr txBox="1"/>
          <p:nvPr/>
        </p:nvSpPr>
        <p:spPr>
          <a:xfrm>
            <a:off x="6473952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Повторение позволяет наказать сегодняшнее предательство завтра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Сотрудничество устойчиво при δ ≥ (T − R)/(T − P)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Наказание должно быть правдоподобным — само быть равновесием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Известный последний раунд разрушает сотрудничество обратной индукцией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11. Вход при неполной информации: условие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41</a:t>
            </a:r>
            <a:endParaRPr lang="en-US" sz="1100" dirty="0"/>
          </a:p>
        </p:txBody>
      </p:sp>
      <p:graphicFrame>
        <p:nvGraphicFramePr>
          <p:cNvPr id="21" name="table-3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108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Тип фирмы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Вероятность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Её ответ на вход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Выигрыш конкурента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Жёсткая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 = 0,4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борется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 = −2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Мягкая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1 − p = 0,6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приспосабливается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 = +4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(не входить)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 = 0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box-331"/>
          <p:cNvSpPr/>
          <p:nvPr/>
        </p:nvSpPr>
        <p:spPr>
          <a:xfrm>
            <a:off x="548640" y="361188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6" name="note-332"/>
          <p:cNvSpPr txBox="1"/>
          <p:nvPr/>
        </p:nvSpPr>
        <p:spPr>
          <a:xfrm>
            <a:off x="749808" y="3749040"/>
            <a:ext cx="4992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нового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Фирма знает свой тип, конкурент — нет. Он знает только долю жёстких фирм на таких рынках — вероятность p. Это неполная информация.</a:t>
            </a:r>
            <a:endParaRPr lang="en-US" sz="1600" dirty="0"/>
          </a:p>
        </p:txBody>
      </p:sp>
      <p:sp>
        <p:nvSpPr>
          <p:cNvPr id="7" name="box-333"/>
          <p:cNvSpPr/>
          <p:nvPr/>
        </p:nvSpPr>
        <p:spPr>
          <a:xfrm>
            <a:off x="6245352" y="361188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8" name="note-334"/>
          <p:cNvSpPr txBox="1"/>
          <p:nvPr/>
        </p:nvSpPr>
        <p:spPr>
          <a:xfrm>
            <a:off x="6446520" y="3749040"/>
            <a:ext cx="4992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Вопрос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Найти ожидаемый выигрыш от входа E(вход) и порог p*, при котором конкуренту всё равно. Решить для p = 0,4 и p = 0,8.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Приём Харсаньи: ход природы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41</a:t>
            </a:r>
            <a:endParaRPr lang="en-US" sz="1100" dirty="0"/>
          </a:p>
        </p:txBody>
      </p:sp>
      <p:sp>
        <p:nvSpPr>
          <p:cNvPr id="4" name="edge-335"/>
          <p:cNvSpPr/>
          <p:nvPr/>
        </p:nvSpPr>
        <p:spPr>
          <a:xfrm flipH="1">
            <a:off x="1463040" y="1600200"/>
            <a:ext cx="182880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5" name="edge-336"/>
          <p:cNvSpPr/>
          <p:nvPr/>
        </p:nvSpPr>
        <p:spPr>
          <a:xfrm>
            <a:off x="3291840" y="1600200"/>
            <a:ext cx="182880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6" name="node-337"/>
          <p:cNvSpPr/>
          <p:nvPr/>
        </p:nvSpPr>
        <p:spPr>
          <a:xfrm>
            <a:off x="3127248" y="1435608"/>
            <a:ext cx="329184" cy="329184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-338"/>
          <p:cNvSpPr txBox="1"/>
          <p:nvPr/>
        </p:nvSpPr>
        <p:spPr>
          <a:xfrm>
            <a:off x="2377440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Природа</a:t>
            </a:r>
            <a:endParaRPr lang="en-US" sz="1500" dirty="0"/>
          </a:p>
        </p:txBody>
      </p:sp>
      <p:sp>
        <p:nvSpPr>
          <p:cNvPr id="8" name="text-339"/>
          <p:cNvSpPr txBox="1"/>
          <p:nvPr/>
        </p:nvSpPr>
        <p:spPr>
          <a:xfrm>
            <a:off x="54864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жёсткая, p</a:t>
            </a:r>
            <a:endParaRPr lang="en-US" sz="1400" dirty="0"/>
          </a:p>
        </p:txBody>
      </p:sp>
      <p:sp>
        <p:nvSpPr>
          <p:cNvPr id="9" name="text-340"/>
          <p:cNvSpPr txBox="1"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мягкая, 1 − p</a:t>
            </a:r>
            <a:endParaRPr lang="en-US" sz="1400" dirty="0"/>
          </a:p>
        </p:txBody>
      </p:sp>
      <p:sp>
        <p:nvSpPr>
          <p:cNvPr id="10" name="infoset-341"/>
          <p:cNvSpPr/>
          <p:nvPr/>
        </p:nvSpPr>
        <p:spPr>
          <a:xfrm>
            <a:off x="960120" y="2715768"/>
            <a:ext cx="4663440" cy="694944"/>
          </a:xfrm>
          <a:prstGeom prst="roundRect">
            <a:avLst>
              <a:gd name="adj" fmla="val 46053"/>
            </a:avLst>
          </a:prstGeom>
          <a:ln w="22225">
            <a:solidFill>
              <a:srgbClr val="2747C4"/>
            </a:solidFill>
            <a:prstDash val="dash"/>
          </a:ln>
        </p:spPr>
      </p:sp>
      <p:sp>
        <p:nvSpPr>
          <p:cNvPr id="11" name="node-342"/>
          <p:cNvSpPr/>
          <p:nvPr/>
        </p:nvSpPr>
        <p:spPr>
          <a:xfrm>
            <a:off x="1316736" y="29169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node-343"/>
          <p:cNvSpPr/>
          <p:nvPr/>
        </p:nvSpPr>
        <p:spPr>
          <a:xfrm>
            <a:off x="4974336" y="2916936"/>
            <a:ext cx="292608" cy="29260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-344"/>
          <p:cNvSpPr txBox="1"/>
          <p:nvPr/>
        </p:nvSpPr>
        <p:spPr>
          <a:xfrm>
            <a:off x="1737360" y="28986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Конкурент не различает эти узлы</a:t>
            </a:r>
            <a:endParaRPr lang="en-US" sz="1300" dirty="0"/>
          </a:p>
        </p:txBody>
      </p:sp>
      <p:sp>
        <p:nvSpPr>
          <p:cNvPr id="14" name="edge-345"/>
          <p:cNvSpPr/>
          <p:nvPr/>
        </p:nvSpPr>
        <p:spPr>
          <a:xfrm flipH="1">
            <a:off x="731520" y="3063240"/>
            <a:ext cx="73152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5" name="edge-346"/>
          <p:cNvSpPr/>
          <p:nvPr/>
        </p:nvSpPr>
        <p:spPr>
          <a:xfrm>
            <a:off x="1463040" y="3063240"/>
            <a:ext cx="73152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6" name="text-347"/>
          <p:cNvSpPr txBox="1"/>
          <p:nvPr/>
        </p:nvSpPr>
        <p:spPr>
          <a:xfrm>
            <a:off x="0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Войти</a:t>
            </a:r>
            <a:endParaRPr lang="en-US" sz="1300" dirty="0"/>
          </a:p>
        </p:txBody>
      </p:sp>
      <p:sp>
        <p:nvSpPr>
          <p:cNvPr id="17" name="text-348"/>
          <p:cNvSpPr txBox="1"/>
          <p:nvPr/>
        </p:nvSpPr>
        <p:spPr>
          <a:xfrm>
            <a:off x="214884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Нет</a:t>
            </a:r>
            <a:endParaRPr lang="en-US" sz="1300" dirty="0"/>
          </a:p>
        </p:txBody>
      </p:sp>
      <p:sp>
        <p:nvSpPr>
          <p:cNvPr id="18" name="text-349"/>
          <p:cNvSpPr txBox="1"/>
          <p:nvPr/>
        </p:nvSpPr>
        <p:spPr>
          <a:xfrm>
            <a:off x="2743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−2</a:t>
            </a:r>
            <a:endParaRPr lang="en-US" sz="1800" dirty="0"/>
          </a:p>
        </p:txBody>
      </p:sp>
      <p:sp>
        <p:nvSpPr>
          <p:cNvPr id="19" name="text-350"/>
          <p:cNvSpPr txBox="1"/>
          <p:nvPr/>
        </p:nvSpPr>
        <p:spPr>
          <a:xfrm>
            <a:off x="17373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</a:t>
            </a:r>
            <a:endParaRPr lang="en-US" sz="1800" dirty="0"/>
          </a:p>
        </p:txBody>
      </p:sp>
      <p:sp>
        <p:nvSpPr>
          <p:cNvPr id="20" name="edge-351"/>
          <p:cNvSpPr/>
          <p:nvPr/>
        </p:nvSpPr>
        <p:spPr>
          <a:xfrm flipH="1">
            <a:off x="4389120" y="3063240"/>
            <a:ext cx="73152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21" name="edge-352"/>
          <p:cNvSpPr/>
          <p:nvPr/>
        </p:nvSpPr>
        <p:spPr>
          <a:xfrm>
            <a:off x="5120640" y="3063240"/>
            <a:ext cx="731520" cy="14630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22" name="text-353"/>
          <p:cNvSpPr txBox="1"/>
          <p:nvPr/>
        </p:nvSpPr>
        <p:spPr>
          <a:xfrm>
            <a:off x="3657600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Войти</a:t>
            </a:r>
            <a:endParaRPr lang="en-US" sz="1300" dirty="0"/>
          </a:p>
        </p:txBody>
      </p:sp>
      <p:sp>
        <p:nvSpPr>
          <p:cNvPr id="23" name="text-354"/>
          <p:cNvSpPr txBox="1"/>
          <p:nvPr/>
        </p:nvSpPr>
        <p:spPr>
          <a:xfrm>
            <a:off x="580644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Нет</a:t>
            </a:r>
            <a:endParaRPr lang="en-US" sz="1300" dirty="0"/>
          </a:p>
        </p:txBody>
      </p:sp>
      <p:sp>
        <p:nvSpPr>
          <p:cNvPr id="24" name="text-355"/>
          <p:cNvSpPr txBox="1"/>
          <p:nvPr/>
        </p:nvSpPr>
        <p:spPr>
          <a:xfrm>
            <a:off x="393192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-356"/>
          <p:cNvSpPr txBox="1"/>
          <p:nvPr/>
        </p:nvSpPr>
        <p:spPr>
          <a:xfrm>
            <a:off x="53949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</a:t>
            </a:r>
            <a:endParaRPr lang="en-US" sz="1800" dirty="0"/>
          </a:p>
        </p:txBody>
      </p:sp>
      <p:sp>
        <p:nvSpPr>
          <p:cNvPr id="26" name="text-357"/>
          <p:cNvSpPr txBox="1"/>
          <p:nvPr/>
        </p:nvSpPr>
        <p:spPr>
          <a:xfrm>
            <a:off x="548640" y="5349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Показаны выигрыши конкурента</a:t>
            </a:r>
            <a:endParaRPr lang="en-US" sz="1300" dirty="0"/>
          </a:p>
        </p:txBody>
      </p:sp>
      <p:sp>
        <p:nvSpPr>
          <p:cNvPr id="27" name="text-358"/>
          <p:cNvSpPr txBox="1"/>
          <p:nvPr/>
        </p:nvSpPr>
        <p:spPr>
          <a:xfrm>
            <a:off x="667512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Дж. Харсаньи, 1967–1968</a:t>
            </a:r>
            <a:endParaRPr lang="en-US" sz="1800" dirty="0"/>
          </a:p>
        </p:txBody>
      </p:sp>
      <p:sp>
        <p:nvSpPr>
          <p:cNvPr id="28" name="list-359"/>
          <p:cNvSpPr txBox="1"/>
          <p:nvPr/>
        </p:nvSpPr>
        <p:spPr>
          <a:xfrm>
            <a:off x="6675120" y="18288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Перед игрой «природа» случайно выбирает тип фирмы с известными всем вероятностями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Фирма свой тип знает, конкурент — нет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Неполная информация о выигрышах превращается в неполную информацию о ходе природы — а с вероятностями мы считать умеем</a:t>
            </a:r>
            <a:endParaRPr lang="en-US" sz="1500" dirty="0"/>
          </a:p>
        </p:txBody>
      </p:sp>
      <p:sp>
        <p:nvSpPr>
          <p:cNvPr id="29" name="box-360"/>
          <p:cNvSpPr/>
          <p:nvPr/>
        </p:nvSpPr>
        <p:spPr>
          <a:xfrm>
            <a:off x="6675120" y="4617720"/>
            <a:ext cx="4965192" cy="1508760"/>
          </a:xfrm>
          <a:prstGeom prst="roundRect">
            <a:avLst>
              <a:gd name="adj" fmla="val 7273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30" name="note-361"/>
          <p:cNvSpPr txBox="1"/>
          <p:nvPr/>
        </p:nvSpPr>
        <p:spPr>
          <a:xfrm>
            <a:off x="6876288" y="4754880"/>
            <a:ext cx="4562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Информационное множество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Узлы, которые игрок не различает. Действие в них обязано быть одинаковым: конкурент не может «войти только против мягкой».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1–2. Ожидаемый выигрыш и порог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42</a:t>
            </a:r>
            <a:endParaRPr lang="en-US" sz="1100" dirty="0"/>
          </a:p>
        </p:txBody>
      </p:sp>
      <p:sp>
        <p:nvSpPr>
          <p:cNvPr id="4" name="badge-36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363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-364"/>
          <p:cNvSpPr txBox="1"/>
          <p:nvPr/>
        </p:nvSpPr>
        <p:spPr>
          <a:xfrm>
            <a:off x="118872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Ожидаемый выигрыш от входа</a:t>
            </a:r>
            <a:endParaRPr lang="en-US" sz="2000" dirty="0"/>
          </a:p>
        </p:txBody>
      </p:sp>
      <p:sp>
        <p:nvSpPr>
          <p:cNvPr id="7" name="text-365"/>
          <p:cNvSpPr txBox="1"/>
          <p:nvPr/>
        </p:nvSpPr>
        <p:spPr>
          <a:xfrm>
            <a:off x="118872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E(вход) = p·t + (1 − p)·s</a:t>
            </a:r>
            <a:endParaRPr lang="en-US" sz="2100" dirty="0"/>
          </a:p>
        </p:txBody>
      </p:sp>
      <p:sp>
        <p:nvSpPr>
          <p:cNvPr id="8" name="text-366"/>
          <p:cNvSpPr txBox="1"/>
          <p:nvPr/>
        </p:nvSpPr>
        <p:spPr>
          <a:xfrm>
            <a:off x="118872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E(вход) = p·(−2) + (1 − p)·4</a:t>
            </a:r>
            <a:endParaRPr lang="en-US" sz="2100" dirty="0"/>
          </a:p>
        </p:txBody>
      </p:sp>
      <p:sp>
        <p:nvSpPr>
          <p:cNvPr id="9" name="text-367"/>
          <p:cNvSpPr txBox="1"/>
          <p:nvPr/>
        </p:nvSpPr>
        <p:spPr>
          <a:xfrm>
            <a:off x="118872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E(вход) = 4 − 6p</a:t>
            </a:r>
            <a:endParaRPr lang="en-US" sz="2400" dirty="0"/>
          </a:p>
        </p:txBody>
      </p:sp>
      <p:sp>
        <p:nvSpPr>
          <p:cNvPr id="10" name="text-368"/>
          <p:cNvSpPr txBox="1"/>
          <p:nvPr/>
        </p:nvSpPr>
        <p:spPr>
          <a:xfrm>
            <a:off x="11887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Среднее по типам с весами-вероятностями.</a:t>
            </a:r>
            <a:endParaRPr lang="en-US" sz="1500" dirty="0"/>
          </a:p>
        </p:txBody>
      </p:sp>
      <p:sp>
        <p:nvSpPr>
          <p:cNvPr id="11" name="badge-369"/>
          <p:cNvSpPr/>
          <p:nvPr/>
        </p:nvSpPr>
        <p:spPr>
          <a:xfrm>
            <a:off x="6245352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badgeText-370"/>
          <p:cNvSpPr txBox="1"/>
          <p:nvPr/>
        </p:nvSpPr>
        <p:spPr>
          <a:xfrm>
            <a:off x="624535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-371"/>
          <p:cNvSpPr txBox="1"/>
          <p:nvPr/>
        </p:nvSpPr>
        <p:spPr>
          <a:xfrm>
            <a:off x="6885432" y="1280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Порог безразличия p*</a:t>
            </a:r>
            <a:endParaRPr lang="en-US" sz="2000" dirty="0"/>
          </a:p>
        </p:txBody>
      </p:sp>
      <p:sp>
        <p:nvSpPr>
          <p:cNvPr id="14" name="text-372"/>
          <p:cNvSpPr txBox="1"/>
          <p:nvPr/>
        </p:nvSpPr>
        <p:spPr>
          <a:xfrm>
            <a:off x="6885432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p*·t + (1 − p*)·s = o</a:t>
            </a:r>
            <a:endParaRPr lang="en-US" sz="2100" dirty="0"/>
          </a:p>
        </p:txBody>
      </p:sp>
      <p:sp>
        <p:nvSpPr>
          <p:cNvPr id="15" name="text-373"/>
          <p:cNvSpPr txBox="1"/>
          <p:nvPr/>
        </p:nvSpPr>
        <p:spPr>
          <a:xfrm>
            <a:off x="6885432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 − p*(s − t) = o</a:t>
            </a:r>
            <a:endParaRPr lang="en-US" sz="2100" dirty="0"/>
          </a:p>
        </p:txBody>
      </p:sp>
      <p:sp>
        <p:nvSpPr>
          <p:cNvPr id="16" name="text-374"/>
          <p:cNvSpPr txBox="1"/>
          <p:nvPr/>
        </p:nvSpPr>
        <p:spPr>
          <a:xfrm>
            <a:off x="6885432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p* = (s − o)/(s − t)</a:t>
            </a:r>
            <a:endParaRPr lang="en-US" sz="2400" dirty="0"/>
          </a:p>
        </p:txBody>
      </p:sp>
      <p:sp>
        <p:nvSpPr>
          <p:cNvPr id="17" name="text-375"/>
          <p:cNvSpPr txBox="1"/>
          <p:nvPr/>
        </p:nvSpPr>
        <p:spPr>
          <a:xfrm>
            <a:off x="6885432" y="3337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p* = (4 − 0)/(4 + 2) = 2/3</a:t>
            </a:r>
            <a:endParaRPr lang="en-US" sz="2100" dirty="0"/>
          </a:p>
        </p:txBody>
      </p:sp>
      <p:sp>
        <p:nvSpPr>
          <p:cNvPr id="18" name="box-376"/>
          <p:cNvSpPr/>
          <p:nvPr/>
        </p:nvSpPr>
        <p:spPr>
          <a:xfrm>
            <a:off x="548640" y="4206240"/>
            <a:ext cx="11094415" cy="192024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9" name="text-377"/>
          <p:cNvSpPr txBox="1"/>
          <p:nvPr/>
        </p:nvSpPr>
        <p:spPr>
          <a:xfrm>
            <a:off x="77724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Правило решения</a:t>
            </a:r>
            <a:endParaRPr lang="en-US" sz="1800" dirty="0"/>
          </a:p>
        </p:txBody>
      </p:sp>
      <p:sp>
        <p:nvSpPr>
          <p:cNvPr id="20" name="text-378"/>
          <p:cNvSpPr txBox="1"/>
          <p:nvPr/>
        </p:nvSpPr>
        <p:spPr>
          <a:xfrm>
            <a:off x="777240" y="480060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Конкурент входит, если вероятность жёсткого типа ниже порога: p &lt; p* = 2/3. Не входит, если p &gt; 2/3. При p = 2/3 ему всё равно.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3. Решение для p = 0,4 и p = 0,8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42</a:t>
            </a:r>
            <a:endParaRPr lang="en-US" sz="1100" dirty="0"/>
          </a:p>
        </p:txBody>
      </p:sp>
      <p:graphicFrame>
        <p:nvGraphicFramePr>
          <p:cNvPr id="4" name="chart-379" descr=""/>
          <p:cNvGraphicFramePr/>
          <p:nvPr/>
        </p:nvGraphicFramePr>
        <p:xfrm>
          <a:off x="54864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ox-380"/>
          <p:cNvSpPr/>
          <p:nvPr/>
        </p:nvSpPr>
        <p:spPr>
          <a:xfrm>
            <a:off x="6812280" y="1325880"/>
            <a:ext cx="4828032" cy="1783080"/>
          </a:xfrm>
          <a:prstGeom prst="roundRect">
            <a:avLst>
              <a:gd name="adj" fmla="val 6154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6" name="text-381"/>
          <p:cNvSpPr txBox="1"/>
          <p:nvPr/>
        </p:nvSpPr>
        <p:spPr>
          <a:xfrm>
            <a:off x="7040880" y="1435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 = 0,4</a:t>
            </a:r>
            <a:endParaRPr lang="en-US" sz="1900" dirty="0"/>
          </a:p>
        </p:txBody>
      </p:sp>
      <p:sp>
        <p:nvSpPr>
          <p:cNvPr id="7" name="text-382"/>
          <p:cNvSpPr txBox="1"/>
          <p:nvPr/>
        </p:nvSpPr>
        <p:spPr>
          <a:xfrm>
            <a:off x="704088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 = 4 − 6·0,4 = 1,6</a:t>
            </a:r>
            <a:endParaRPr lang="en-US" sz="2100" dirty="0"/>
          </a:p>
        </p:txBody>
      </p:sp>
      <p:sp>
        <p:nvSpPr>
          <p:cNvPr id="8" name="text-383"/>
          <p:cNvSpPr txBox="1"/>
          <p:nvPr/>
        </p:nvSpPr>
        <p:spPr>
          <a:xfrm>
            <a:off x="704088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1,6 &gt; 0  ⇒  Войти</a:t>
            </a:r>
            <a:endParaRPr lang="en-US" sz="1900" dirty="0"/>
          </a:p>
        </p:txBody>
      </p:sp>
      <p:sp>
        <p:nvSpPr>
          <p:cNvPr id="9" name="box-384"/>
          <p:cNvSpPr/>
          <p:nvPr/>
        </p:nvSpPr>
        <p:spPr>
          <a:xfrm>
            <a:off x="6812280" y="3291840"/>
            <a:ext cx="4828032" cy="1783080"/>
          </a:xfrm>
          <a:prstGeom prst="roundRect">
            <a:avLst>
              <a:gd name="adj" fmla="val 6154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0" name="text-385"/>
          <p:cNvSpPr txBox="1"/>
          <p:nvPr/>
        </p:nvSpPr>
        <p:spPr>
          <a:xfrm>
            <a:off x="704088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 = 0,8</a:t>
            </a:r>
            <a:endParaRPr lang="en-US" sz="1900" dirty="0"/>
          </a:p>
        </p:txBody>
      </p:sp>
      <p:sp>
        <p:nvSpPr>
          <p:cNvPr id="11" name="text-386"/>
          <p:cNvSpPr txBox="1"/>
          <p:nvPr/>
        </p:nvSpPr>
        <p:spPr>
          <a:xfrm>
            <a:off x="70408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 = 4 − 6·0,8 = −0,8</a:t>
            </a:r>
            <a:endParaRPr lang="en-US" sz="2100" dirty="0"/>
          </a:p>
        </p:txBody>
      </p:sp>
      <p:sp>
        <p:nvSpPr>
          <p:cNvPr id="12" name="text-387"/>
          <p:cNvSpPr txBox="1"/>
          <p:nvPr/>
        </p:nvSpPr>
        <p:spPr>
          <a:xfrm>
            <a:off x="7040880" y="4343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−0,8 &lt; 0  ⇒  Не входить</a:t>
            </a:r>
            <a:endParaRPr lang="en-US" sz="1900" dirty="0"/>
          </a:p>
        </p:txBody>
      </p:sp>
      <p:sp>
        <p:nvSpPr>
          <p:cNvPr id="13" name="box-388"/>
          <p:cNvSpPr/>
          <p:nvPr/>
        </p:nvSpPr>
        <p:spPr>
          <a:xfrm>
            <a:off x="6812280" y="5257800"/>
            <a:ext cx="4828032" cy="868680"/>
          </a:xfrm>
          <a:prstGeom prst="roundRect">
            <a:avLst>
              <a:gd name="adj" fmla="val 12632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4" name="note-389"/>
          <p:cNvSpPr txBox="1"/>
          <p:nvPr/>
        </p:nvSpPr>
        <p:spPr>
          <a:xfrm>
            <a:off x="7013448" y="5394960"/>
            <a:ext cx="4425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Линия пересекает ноль при p = 2/3 ≈ 0,667.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Байесовское равновесие Нэша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43</a:t>
            </a:r>
            <a:endParaRPr lang="en-US" sz="1100" dirty="0"/>
          </a:p>
        </p:txBody>
      </p:sp>
      <p:sp>
        <p:nvSpPr>
          <p:cNvPr id="4" name="box-390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5" name="text-391"/>
          <p:cNvSpPr txBox="1"/>
          <p:nvPr/>
        </p:nvSpPr>
        <p:spPr>
          <a:xfrm>
            <a:off x="777240" y="1325880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📌 Каждый тип каждого игрока выбирает лучший ответ, максимизируя ожидаемый выигрыш при своих представлениях о типах других.</a:t>
            </a:r>
            <a:endParaRPr lang="en-US" sz="1900" dirty="0"/>
          </a:p>
        </p:txBody>
      </p:sp>
      <p:sp>
        <p:nvSpPr>
          <p:cNvPr id="6" name="text-392"/>
          <p:cNvSpPr txBox="1"/>
          <p:nvPr/>
        </p:nvSpPr>
        <p:spPr>
          <a:xfrm>
            <a:off x="54864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Равновесие задачи 11 при p = 0,4</a:t>
            </a:r>
            <a:endParaRPr lang="en-US" sz="1800" dirty="0"/>
          </a:p>
        </p:txBody>
      </p:sp>
      <p:graphicFrame>
        <p:nvGraphicFramePr>
          <p:cNvPr id="25" name="table-3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Кто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Стратегия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Почему лучший ответ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Конкурент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входить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 = 1,6 &gt; 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Жёсткая фирма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бороться при входе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борьба ей выгоднее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Мягкая фирма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приспособиться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приспособление ей выгоднее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box-394"/>
          <p:cNvSpPr/>
          <p:nvPr/>
        </p:nvSpPr>
        <p:spPr>
          <a:xfrm>
            <a:off x="6812280" y="2834640"/>
            <a:ext cx="4828032" cy="3291840"/>
          </a:xfrm>
          <a:prstGeom prst="roundRect">
            <a:avLst>
              <a:gd name="adj" fmla="val 3333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9" name="note-395"/>
          <p:cNvSpPr txBox="1"/>
          <p:nvPr/>
        </p:nvSpPr>
        <p:spPr>
          <a:xfrm>
            <a:off x="7013448" y="2971800"/>
            <a:ext cx="44256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Уточнение к формулировке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 лаборатории задача названа байесовской игрой, но решение принимает только конкурент. Ответы типов фирмы уже «свёрнуты» в t и s обратной индукцией, как в задаче 9. Это сокращённая форма байесовской игры.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Чувствительность порога и репутация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43</a:t>
            </a:r>
            <a:endParaRPr lang="en-US" sz="1100" dirty="0"/>
          </a:p>
        </p:txBody>
      </p:sp>
      <p:sp>
        <p:nvSpPr>
          <p:cNvPr id="4" name="text-396"/>
          <p:cNvSpPr txBox="1"/>
          <p:nvPr/>
        </p:nvSpPr>
        <p:spPr>
          <a:xfrm>
            <a:off x="54864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Как p* зависит от опасности жёсткого типа (s = 4, o = 0)</a:t>
            </a:r>
            <a:endParaRPr lang="en-US" sz="1700" dirty="0"/>
          </a:p>
        </p:txBody>
      </p:sp>
      <p:graphicFrame>
        <p:nvGraphicFramePr>
          <p:cNvPr id="26" name="table-3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p* = 4/(4 − t)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Смысл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0,8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вход рискован мало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−2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условие задачи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−4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−8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0,33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большой риск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398"/>
          <p:cNvSpPr txBox="1"/>
          <p:nvPr/>
        </p:nvSpPr>
        <p:spPr>
          <a:xfrm>
            <a:off x="548640" y="4206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Чем опаснее жёсткая фирма, тем при меньшей её доле конкурент уже отказывается от входа.</a:t>
            </a:r>
            <a:endParaRPr lang="en-US" sz="1500" dirty="0"/>
          </a:p>
        </p:txBody>
      </p:sp>
      <p:sp>
        <p:nvSpPr>
          <p:cNvPr id="7" name="box-399"/>
          <p:cNvSpPr/>
          <p:nvPr/>
        </p:nvSpPr>
        <p:spPr>
          <a:xfrm>
            <a:off x="6537960" y="1280160"/>
            <a:ext cx="5102352" cy="4846320"/>
          </a:xfrm>
          <a:prstGeom prst="roundRect">
            <a:avLst>
              <a:gd name="adj" fmla="val 2264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8" name="text-400"/>
          <p:cNvSpPr txBox="1"/>
          <p:nvPr/>
        </p:nvSpPr>
        <p:spPr>
          <a:xfrm>
            <a:off x="6766560" y="1417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Мягкой фирме выгодно казаться жёсткой</a:t>
            </a:r>
            <a:endParaRPr lang="en-US" sz="1800" dirty="0"/>
          </a:p>
        </p:txBody>
      </p:sp>
      <p:sp>
        <p:nvSpPr>
          <p:cNvPr id="9" name="list-401"/>
          <p:cNvSpPr txBox="1"/>
          <p:nvPr/>
        </p:nvSpPr>
        <p:spPr>
          <a:xfrm>
            <a:off x="6766560" y="224028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Если конкуренты считают долю жёстких фирм выше 2/3, они не входят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Бороться с первыми конкурентами даже себе в убыток — значит заработать репутацию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Крепс, Уилсон, Милгром, Робертс (1982): малая вероятность жёсткого типа заставляет мягкую фирму бороться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Сигнализирование Спенса: образование как сигнал способностей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11: ошибки, лаборатория, вывод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42</a:t>
            </a:r>
            <a:endParaRPr lang="en-US" sz="1100" dirty="0"/>
          </a:p>
        </p:txBody>
      </p:sp>
      <p:sp>
        <p:nvSpPr>
          <p:cNvPr id="4" name="box-402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5" name="note-403"/>
          <p:cNvSpPr txBox="1"/>
          <p:nvPr/>
        </p:nvSpPr>
        <p:spPr>
          <a:xfrm>
            <a:off x="749808" y="146304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⚠️ Типичные ошибки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Перевёрнутая дробь или знак: (s − o)/(s + t). Путать p (данные) и p* (порог). Брать вероятность мягкого типа вместо жёсткого.</a:t>
            </a:r>
            <a:endParaRPr lang="en-US" sz="1700" dirty="0"/>
          </a:p>
        </p:txBody>
      </p:sp>
      <p:sp>
        <p:nvSpPr>
          <p:cNvPr id="6" name="box-404"/>
          <p:cNvSpPr/>
          <p:nvPr/>
        </p:nvSpPr>
        <p:spPr>
          <a:xfrm>
            <a:off x="54864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7" name="note-405"/>
          <p:cNvSpPr txBox="1"/>
          <p:nvPr/>
        </p:nvSpPr>
        <p:spPr>
          <a:xfrm>
            <a:off x="749808" y="3840480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 лаборатории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Введите E(вход) = 1,6 и p* = 0,667 → «Проверить решение». Смените p на 0,8 и E на −0,8. Раскройте график: точка p ниже пунктира невхода, правее порога.</a:t>
            </a:r>
            <a:endParaRPr lang="en-US" sz="1700" dirty="0"/>
          </a:p>
        </p:txBody>
      </p:sp>
      <p:sp>
        <p:nvSpPr>
          <p:cNvPr id="8" name="box-406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407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Под запись</a:t>
            </a:r>
            <a:endParaRPr lang="en-US" sz="1800" dirty="0"/>
          </a:p>
        </p:txBody>
      </p:sp>
      <p:sp>
        <p:nvSpPr>
          <p:cNvPr id="10" name="list-408"/>
          <p:cNvSpPr txBox="1"/>
          <p:nvPr/>
        </p:nvSpPr>
        <p:spPr>
          <a:xfrm>
            <a:off x="6473952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Неполная информация моделируется ходом природы (Харсаньи)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Решение — по ожидаемому выигрышу: E = pt + (1 − p)s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Порог p* = (s − o)/(s − t); входить, если p &lt; p*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Убеждения других о вашем типе — стратегический ресурс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12. Дуополия Курно: модель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44</a:t>
            </a:r>
            <a:endParaRPr lang="en-US" sz="1100" dirty="0"/>
          </a:p>
        </p:txBody>
      </p:sp>
      <p:graphicFrame>
        <p:nvGraphicFramePr>
          <p:cNvPr id="28" name="table-4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Элемент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Запись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Игроки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фирмы 1 и 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Стратегии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объёмы q₁, q₂ ≥ 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любое число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Обратный спрос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 = a − b(q₁ + q₂)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= 120, b = 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Издержки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 на единицу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 = 20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Прибыль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πᵢ = (P − c)·qᵢ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box-410"/>
          <p:cNvSpPr/>
          <p:nvPr/>
        </p:nvSpPr>
        <p:spPr>
          <a:xfrm>
            <a:off x="548640" y="4343400"/>
            <a:ext cx="6400800" cy="1783080"/>
          </a:xfrm>
          <a:prstGeom prst="roundRect">
            <a:avLst>
              <a:gd name="adj" fmla="val 6154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6" name="note-411"/>
          <p:cNvSpPr txBox="1"/>
          <p:nvPr/>
        </p:nvSpPr>
        <p:spPr>
          <a:xfrm>
            <a:off x="749808" y="4480560"/>
            <a:ext cx="5998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нового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Стратегия — любое неотрицательное число, матрицу не нарисуешь. Лучший ответ ищем не перебором, а производной. Понятие равновесия прежнее: каждый выбирает лучший ответ на выбор другого.</a:t>
            </a:r>
            <a:endParaRPr lang="en-US" sz="1600" dirty="0"/>
          </a:p>
        </p:txBody>
      </p:sp>
      <p:sp>
        <p:nvSpPr>
          <p:cNvPr id="7" name="box-412"/>
          <p:cNvSpPr/>
          <p:nvPr/>
        </p:nvSpPr>
        <p:spPr>
          <a:xfrm>
            <a:off x="7223760" y="1325880"/>
            <a:ext cx="4416552" cy="4800600"/>
          </a:xfrm>
          <a:prstGeom prst="roundRect">
            <a:avLst>
              <a:gd name="adj" fmla="val 2484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8" name="text-413"/>
          <p:cNvSpPr txBox="1"/>
          <p:nvPr/>
        </p:nvSpPr>
        <p:spPr>
          <a:xfrm>
            <a:off x="745236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А. О. Курно, 1838</a:t>
            </a:r>
            <a:endParaRPr lang="en-US" sz="1800" dirty="0"/>
          </a:p>
        </p:txBody>
      </p:sp>
      <p:sp>
        <p:nvSpPr>
          <p:cNvPr id="9" name="text-414"/>
          <p:cNvSpPr txBox="1"/>
          <p:nvPr/>
        </p:nvSpPr>
        <p:spPr>
          <a:xfrm>
            <a:off x="7452360" y="192024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Первая формальная модель стратегического взаимодействия — за 112 лет до Нэша. Курно фактически нашёл равновесие Нэша для этой игры, поэтому говорят «равновесие Курно — Нэша».</a:t>
            </a:r>
            <a:endParaRPr lang="en-US" sz="1500" dirty="0"/>
          </a:p>
        </p:txBody>
      </p:sp>
      <p:sp>
        <p:nvSpPr>
          <p:cNvPr id="10" name="text-415"/>
          <p:cNvSpPr txBox="1"/>
          <p:nvPr/>
        </p:nvSpPr>
        <p:spPr>
          <a:xfrm>
            <a:off x="7452360" y="41605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Цена зависит от суммарного выпуска: выпуская больше, фирма 2 снижает цену и для фирмы 1. Это внешний эффект, как в задачах 1, 4, 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1. Прибыль фирмы 1 как функция её выпуска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45</a:t>
            </a:r>
            <a:endParaRPr lang="en-US" sz="1100" dirty="0"/>
          </a:p>
        </p:txBody>
      </p:sp>
      <p:sp>
        <p:nvSpPr>
          <p:cNvPr id="4" name="badge-41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17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-418"/>
          <p:cNvSpPr txBox="1"/>
          <p:nvPr/>
        </p:nvSpPr>
        <p:spPr>
          <a:xfrm>
            <a:off x="11887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Подставляем цену в прибыль</a:t>
            </a:r>
            <a:endParaRPr lang="en-US" sz="2000" dirty="0"/>
          </a:p>
        </p:txBody>
      </p:sp>
      <p:sp>
        <p:nvSpPr>
          <p:cNvPr id="7" name="text-419"/>
          <p:cNvSpPr txBox="1"/>
          <p:nvPr/>
        </p:nvSpPr>
        <p:spPr>
          <a:xfrm>
            <a:off x="1188720" y="1828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π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= (P − c)·q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-420"/>
          <p:cNvSpPr txBox="1"/>
          <p:nvPr/>
        </p:nvSpPr>
        <p:spPr>
          <a:xfrm>
            <a:off x="1188720" y="2377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π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= (a − b(q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+ 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) − c)·q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-421"/>
          <p:cNvSpPr txBox="1"/>
          <p:nvPr/>
        </p:nvSpPr>
        <p:spPr>
          <a:xfrm>
            <a:off x="1188720" y="2926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π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= (a − c)q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bq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baseline="3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− bq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</a:t>
            </a:r>
            <a:pPr algn="l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-422"/>
          <p:cNvSpPr txBox="1"/>
          <p:nvPr/>
        </p:nvSpPr>
        <p:spPr>
          <a:xfrm>
            <a:off x="1188720" y="3474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π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= 100q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− 2q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baseline="3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− 2q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box-423"/>
          <p:cNvSpPr/>
          <p:nvPr/>
        </p:nvSpPr>
        <p:spPr>
          <a:xfrm>
            <a:off x="548640" y="4251960"/>
            <a:ext cx="6035040" cy="1874520"/>
          </a:xfrm>
          <a:prstGeom prst="roundRect">
            <a:avLst>
              <a:gd name="adj" fmla="val 5854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2" name="note-424"/>
          <p:cNvSpPr txBox="1"/>
          <p:nvPr/>
        </p:nvSpPr>
        <p:spPr>
          <a:xfrm>
            <a:off x="749808" y="4389120"/>
            <a:ext cx="5632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читать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При фиксированном q₂ это парабола по q₁ ветвями вниз: коэффициент при q₁² равен −2 &lt; 0. У неё ровно один максимум — его и ищем.</a:t>
            </a:r>
            <a:endParaRPr lang="en-US" sz="1600" dirty="0"/>
          </a:p>
        </p:txBody>
      </p:sp>
      <p:sp>
        <p:nvSpPr>
          <p:cNvPr id="13" name="box-425"/>
          <p:cNvSpPr/>
          <p:nvPr/>
        </p:nvSpPr>
        <p:spPr>
          <a:xfrm>
            <a:off x="6903720" y="1280160"/>
            <a:ext cx="4736592" cy="4846320"/>
          </a:xfrm>
          <a:prstGeom prst="roundRect">
            <a:avLst>
              <a:gd name="adj" fmla="val 2317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4" name="text-426"/>
          <p:cNvSpPr txBox="1"/>
          <p:nvPr/>
        </p:nvSpPr>
        <p:spPr>
          <a:xfrm>
            <a:off x="7132320" y="1417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Пример: q₂ = 10</a:t>
            </a:r>
            <a:endParaRPr lang="en-US" sz="1800" dirty="0"/>
          </a:p>
        </p:txBody>
      </p:sp>
      <p:graphicFrame>
        <p:nvGraphicFramePr>
          <p:cNvPr id="29" name="table-4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920240"/>
          <a:ext cx="42793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62763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q₁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Цена P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π₁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6" name="text-428"/>
          <p:cNvSpPr txBox="1"/>
          <p:nvPr/>
        </p:nvSpPr>
        <p:spPr>
          <a:xfrm>
            <a:off x="713232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Максимум при q₁ = 20: это лучший ответ на q₂ = 10.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2. Функция реакции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45</a:t>
            </a:r>
            <a:endParaRPr lang="en-US" sz="1100" dirty="0"/>
          </a:p>
        </p:txBody>
      </p:sp>
      <p:sp>
        <p:nvSpPr>
          <p:cNvPr id="4" name="badge-429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30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6" name="text-431"/>
          <p:cNvSpPr txBox="1"/>
          <p:nvPr/>
        </p:nvSpPr>
        <p:spPr>
          <a:xfrm>
            <a:off x="11887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Условие первого порядка</a:t>
            </a:r>
            <a:endParaRPr lang="en-US" sz="2000" dirty="0"/>
          </a:p>
        </p:txBody>
      </p:sp>
      <p:sp>
        <p:nvSpPr>
          <p:cNvPr id="7" name="text-432"/>
          <p:cNvSpPr txBox="1"/>
          <p:nvPr/>
        </p:nvSpPr>
        <p:spPr>
          <a:xfrm>
            <a:off x="1188720" y="1828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∂π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/∂q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= a − c − 2bq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− bq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 = 0</a:t>
            </a:r>
            <a:endParaRPr lang="en-US" sz="2100" dirty="0"/>
          </a:p>
        </p:txBody>
      </p:sp>
      <p:sp>
        <p:nvSpPr>
          <p:cNvPr id="8" name="text-433"/>
          <p:cNvSpPr txBox="1"/>
          <p:nvPr/>
        </p:nvSpPr>
        <p:spPr>
          <a:xfrm>
            <a:off x="118872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q</a:t>
            </a:r>
            <a:pPr algn="l" indent="0" marL="0">
              <a:buNone/>
            </a:pPr>
            <a:r>
              <a:rPr lang="en-US" sz="23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 = R</a:t>
            </a:r>
            <a:pPr algn="l" indent="0" marL="0">
              <a:buNone/>
            </a:pPr>
            <a:r>
              <a:rPr lang="en-US" sz="23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(q</a:t>
            </a:r>
            <a:pPr algn="l" indent="0" marL="0">
              <a:buNone/>
            </a:pPr>
            <a:r>
              <a:rPr lang="en-US" sz="2300" b="1" baseline="-4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) = (a − c − bq</a:t>
            </a:r>
            <a:pPr algn="l" indent="0" marL="0">
              <a:buNone/>
            </a:pPr>
            <a:r>
              <a:rPr lang="en-US" sz="2300" b="1" baseline="-4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)/(2b)</a:t>
            </a:r>
            <a:endParaRPr lang="en-US" sz="2300" dirty="0"/>
          </a:p>
        </p:txBody>
      </p:sp>
      <p:sp>
        <p:nvSpPr>
          <p:cNvPr id="9" name="text-434"/>
          <p:cNvSpPr txBox="1"/>
          <p:nvPr/>
        </p:nvSpPr>
        <p:spPr>
          <a:xfrm>
            <a:off x="118872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(q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) = (100 − 2q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)/4 = 25 − q</a:t>
            </a:r>
            <a:pPr algn="l" indent="0" marL="0">
              <a:buNone/>
            </a:pPr>
            <a:r>
              <a:rPr lang="en-US" sz="21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/2</a:t>
            </a:r>
            <a:endParaRPr lang="en-US" sz="2100" dirty="0"/>
          </a:p>
        </p:txBody>
      </p:sp>
      <p:sp>
        <p:nvSpPr>
          <p:cNvPr id="10" name="text-435"/>
          <p:cNvSpPr txBox="1"/>
          <p:nvPr/>
        </p:nvSpPr>
        <p:spPr>
          <a:xfrm>
            <a:off x="118872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Условие второго порядка: ∂</a:t>
            </a:r>
            <a:pPr indent="0" marL="0">
              <a:buNone/>
            </a:pPr>
            <a:r>
              <a:rPr lang="en-US" sz="1500" baseline="3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π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/∂q</a:t>
            </a:r>
            <a:pPr indent="0" marL="0">
              <a:buNone/>
            </a:pPr>
            <a:r>
              <a:rPr lang="en-US" sz="1500" baseline="-40000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500" baseline="3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−2b = −4 &lt; 0 — это максимум.</a:t>
            </a:r>
            <a:endParaRPr lang="en-US" sz="1500" dirty="0"/>
          </a:p>
        </p:txBody>
      </p:sp>
      <p:sp>
        <p:nvSpPr>
          <p:cNvPr id="11" name="box-436"/>
          <p:cNvSpPr/>
          <p:nvPr/>
        </p:nvSpPr>
        <p:spPr>
          <a:xfrm>
            <a:off x="548640" y="4251960"/>
            <a:ext cx="6035040" cy="1874520"/>
          </a:xfrm>
          <a:prstGeom prst="roundRect">
            <a:avLst>
              <a:gd name="adj" fmla="val 5854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2" name="note-437"/>
          <p:cNvSpPr txBox="1"/>
          <p:nvPr/>
        </p:nvSpPr>
        <p:spPr>
          <a:xfrm>
            <a:off x="749808" y="4389120"/>
            <a:ext cx="5632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⚠️ Типичные ошибки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Производная от −bq₁² — это −2bq₁, отсюда двойка в знаменателе. Дифференцировать нужно только по своей переменной: выбор соперника зафиксирован.</a:t>
            </a:r>
            <a:endParaRPr lang="en-US" sz="1600" dirty="0"/>
          </a:p>
        </p:txBody>
      </p:sp>
      <p:sp>
        <p:nvSpPr>
          <p:cNvPr id="13" name="text-438"/>
          <p:cNvSpPr txBox="1"/>
          <p:nvPr/>
        </p:nvSpPr>
        <p:spPr>
          <a:xfrm>
            <a:off x="6903720" y="1280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Как читать функцию реакции</a:t>
            </a:r>
            <a:endParaRPr lang="en-US" sz="1800" dirty="0"/>
          </a:p>
        </p:txBody>
      </p:sp>
      <p:graphicFrame>
        <p:nvGraphicFramePr>
          <p:cNvPr id="30" name="table-4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783080"/>
          <a:ext cx="47365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3347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Выпуск фирмы 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Лучший ответ фирмы 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 (монополия)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 (цена = c)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5" name="text-440"/>
          <p:cNvSpPr txBox="1"/>
          <p:nvPr/>
        </p:nvSpPr>
        <p:spPr>
          <a:xfrm>
            <a:off x="6903720" y="457200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Каждая лишняя единица выпуска конкурента снижает оптимальный выпуск фирмы 1 на 0,5.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3. Равновесие — пересечение функций реакции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sp>
        <p:nvSpPr>
          <p:cNvPr id="4" name="badge-44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4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6" name="text-443"/>
          <p:cNvSpPr txBox="1"/>
          <p:nvPr/>
        </p:nvSpPr>
        <p:spPr>
          <a:xfrm>
            <a:off x="11887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Решаем систему</a:t>
            </a:r>
            <a:endParaRPr lang="en-US" sz="2000" dirty="0"/>
          </a:p>
        </p:txBody>
      </p:sp>
      <p:sp>
        <p:nvSpPr>
          <p:cNvPr id="7" name="text-444"/>
          <p:cNvSpPr txBox="1"/>
          <p:nvPr/>
        </p:nvSpPr>
        <p:spPr>
          <a:xfrm>
            <a:off x="1188720" y="1828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25 − 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/2</a:t>
            </a:r>
            <a:endParaRPr lang="en-US" sz="2000" dirty="0"/>
          </a:p>
        </p:txBody>
      </p:sp>
      <p:sp>
        <p:nvSpPr>
          <p:cNvPr id="8" name="text-445"/>
          <p:cNvSpPr txBox="1"/>
          <p:nvPr/>
        </p:nvSpPr>
        <p:spPr>
          <a:xfrm>
            <a:off x="118872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2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25 − 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/2</a:t>
            </a:r>
            <a:endParaRPr lang="en-US" sz="2000" dirty="0"/>
          </a:p>
        </p:txBody>
      </p:sp>
      <p:sp>
        <p:nvSpPr>
          <p:cNvPr id="9" name="text-446"/>
          <p:cNvSpPr txBox="1"/>
          <p:nvPr/>
        </p:nvSpPr>
        <p:spPr>
          <a:xfrm>
            <a:off x="1188720" y="2834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Подставим второе в первое:</a:t>
            </a:r>
            <a:endParaRPr lang="en-US" sz="1500" dirty="0"/>
          </a:p>
        </p:txBody>
      </p:sp>
      <p:sp>
        <p:nvSpPr>
          <p:cNvPr id="10" name="text-447"/>
          <p:cNvSpPr txBox="1"/>
          <p:nvPr/>
        </p:nvSpPr>
        <p:spPr>
          <a:xfrm>
            <a:off x="1188720" y="3337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25 − (25 − 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/2)/2 = 12,5 + 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/4</a:t>
            </a:r>
            <a:endParaRPr lang="en-US" sz="2000" dirty="0"/>
          </a:p>
        </p:txBody>
      </p:sp>
      <p:sp>
        <p:nvSpPr>
          <p:cNvPr id="11" name="text-448"/>
          <p:cNvSpPr txBox="1"/>
          <p:nvPr/>
        </p:nvSpPr>
        <p:spPr>
          <a:xfrm>
            <a:off x="1188720" y="3840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(3/4)q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12,5  ⇒  q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50/3</a:t>
            </a:r>
            <a:endParaRPr lang="en-US" sz="2000" dirty="0"/>
          </a:p>
        </p:txBody>
      </p:sp>
      <p:sp>
        <p:nvSpPr>
          <p:cNvPr id="12" name="text-449"/>
          <p:cNvSpPr txBox="1"/>
          <p:nvPr/>
        </p:nvSpPr>
        <p:spPr>
          <a:xfrm>
            <a:off x="1188720" y="4343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* = q</a:t>
            </a:r>
            <a:pPr algn="l"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* = 16,67</a:t>
            </a:r>
            <a:endParaRPr lang="en-US" sz="2400" dirty="0"/>
          </a:p>
        </p:txBody>
      </p:sp>
      <p:sp>
        <p:nvSpPr>
          <p:cNvPr id="13" name="box-450"/>
          <p:cNvSpPr/>
          <p:nvPr/>
        </p:nvSpPr>
        <p:spPr>
          <a:xfrm>
            <a:off x="6812280" y="1280160"/>
            <a:ext cx="4828032" cy="192024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14" name="text-451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 общем виде</a:t>
            </a:r>
            <a:endParaRPr lang="en-US" sz="1700" dirty="0"/>
          </a:p>
        </p:txBody>
      </p:sp>
      <p:sp>
        <p:nvSpPr>
          <p:cNvPr id="15" name="text-452"/>
          <p:cNvSpPr txBox="1"/>
          <p:nvPr/>
        </p:nvSpPr>
        <p:spPr>
          <a:xfrm>
            <a:off x="7040880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 = (a − c − bq)/(2b)</a:t>
            </a:r>
            <a:endParaRPr lang="en-US" sz="2000" dirty="0"/>
          </a:p>
        </p:txBody>
      </p:sp>
      <p:sp>
        <p:nvSpPr>
          <p:cNvPr id="16" name="text-453"/>
          <p:cNvSpPr txBox="1"/>
          <p:nvPr/>
        </p:nvSpPr>
        <p:spPr>
          <a:xfrm>
            <a:off x="704088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q* = (a − c)/(3b) = 100/6</a:t>
            </a:r>
            <a:endParaRPr lang="en-US" sz="2000" dirty="0"/>
          </a:p>
        </p:txBody>
      </p:sp>
      <p:sp>
        <p:nvSpPr>
          <p:cNvPr id="17" name="box-454"/>
          <p:cNvSpPr/>
          <p:nvPr/>
        </p:nvSpPr>
        <p:spPr>
          <a:xfrm>
            <a:off x="6812280" y="3383280"/>
            <a:ext cx="4828032" cy="27432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18" name="note-455"/>
          <p:cNvSpPr txBox="1"/>
          <p:nvPr/>
        </p:nvSpPr>
        <p:spPr>
          <a:xfrm>
            <a:off x="7013448" y="3520440"/>
            <a:ext cx="44256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Проверка определения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Если фирма 2 выпускает 16,67, лучший ответ фирмы 1: 25 − 16,67/2 = 16,67. Ни одна фирма не хочет менять выпуск в одиночку — это равновесие Нэша.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4. Цена и прибыль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sp>
        <p:nvSpPr>
          <p:cNvPr id="4" name="badge-45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57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6" name="text-458"/>
          <p:cNvSpPr txBox="1"/>
          <p:nvPr/>
        </p:nvSpPr>
        <p:spPr>
          <a:xfrm>
            <a:off x="11887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Подставляем равновесный выпуск</a:t>
            </a:r>
            <a:endParaRPr lang="en-US" sz="2000" dirty="0"/>
          </a:p>
        </p:txBody>
      </p:sp>
      <p:sp>
        <p:nvSpPr>
          <p:cNvPr id="7" name="text-459"/>
          <p:cNvSpPr txBox="1"/>
          <p:nvPr/>
        </p:nvSpPr>
        <p:spPr>
          <a:xfrm>
            <a:off x="1188720" y="1828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Q* = 2q* = 33,33</a:t>
            </a:r>
            <a:endParaRPr lang="en-US" sz="2100" dirty="0"/>
          </a:p>
        </p:txBody>
      </p:sp>
      <p:sp>
        <p:nvSpPr>
          <p:cNvPr id="8" name="text-460"/>
          <p:cNvSpPr txBox="1"/>
          <p:nvPr/>
        </p:nvSpPr>
        <p:spPr>
          <a:xfrm>
            <a:off x="118872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P* = a − bQ* = 120 − 2·33,33 = 53,33</a:t>
            </a:r>
            <a:endParaRPr lang="en-US" sz="2100" dirty="0"/>
          </a:p>
        </p:txBody>
      </p:sp>
      <p:sp>
        <p:nvSpPr>
          <p:cNvPr id="9" name="text-461"/>
          <p:cNvSpPr txBox="1"/>
          <p:nvPr/>
        </p:nvSpPr>
        <p:spPr>
          <a:xfrm>
            <a:off x="118872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π* = (P* − c)·q* = 33,33 · 16,67 = 555,56</a:t>
            </a:r>
            <a:endParaRPr lang="en-US" sz="2100" dirty="0"/>
          </a:p>
        </p:txBody>
      </p:sp>
      <p:sp>
        <p:nvSpPr>
          <p:cNvPr id="10" name="text-462"/>
          <p:cNvSpPr txBox="1"/>
          <p:nvPr/>
        </p:nvSpPr>
        <p:spPr>
          <a:xfrm>
            <a:off x="1188720" y="36118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В общем виде:  P* = (a + 2c)/3,   π* = (a − c)</a:t>
            </a:r>
            <a:pPr indent="0" marL="0">
              <a:buNone/>
            </a:pPr>
            <a:r>
              <a:rPr lang="en-US" sz="1700" baseline="3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/(9b) = 10 000/18</a:t>
            </a:r>
            <a:endParaRPr lang="en-US" sz="1700" dirty="0"/>
          </a:p>
        </p:txBody>
      </p:sp>
      <p:sp>
        <p:nvSpPr>
          <p:cNvPr id="11" name="box-463"/>
          <p:cNvSpPr/>
          <p:nvPr/>
        </p:nvSpPr>
        <p:spPr>
          <a:xfrm>
            <a:off x="548640" y="4343400"/>
            <a:ext cx="6035040" cy="1783080"/>
          </a:xfrm>
          <a:prstGeom prst="roundRect">
            <a:avLst>
              <a:gd name="adj" fmla="val 6154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2" name="note-464"/>
          <p:cNvSpPr txBox="1"/>
          <p:nvPr/>
        </p:nvSpPr>
        <p:spPr>
          <a:xfrm>
            <a:off x="749808" y="4480560"/>
            <a:ext cx="5632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⚠️ Проверка здравым смыслом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Цена должна лежать между c = 20 и a = 120. Если получилось −13,33, в спрос подставили удвоенный Q: a − b·2·2q. Правильно a − b·Q, где Q = 2q.</a:t>
            </a:r>
            <a:endParaRPr lang="en-US" sz="1600" dirty="0"/>
          </a:p>
        </p:txBody>
      </p:sp>
      <p:sp>
        <p:nvSpPr>
          <p:cNvPr id="13" name="box-465"/>
          <p:cNvSpPr/>
          <p:nvPr/>
        </p:nvSpPr>
        <p:spPr>
          <a:xfrm>
            <a:off x="7086600" y="1325880"/>
            <a:ext cx="4553712" cy="1417320"/>
          </a:xfrm>
          <a:prstGeom prst="roundRect">
            <a:avLst>
              <a:gd name="adj" fmla="val 7742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4" name="text-466"/>
          <p:cNvSpPr txBox="1"/>
          <p:nvPr/>
        </p:nvSpPr>
        <p:spPr>
          <a:xfrm>
            <a:off x="7315200" y="13258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q*</a:t>
            </a:r>
            <a:endParaRPr lang="en-US" sz="3000" dirty="0"/>
          </a:p>
        </p:txBody>
      </p:sp>
      <p:sp>
        <p:nvSpPr>
          <p:cNvPr id="15" name="text-467"/>
          <p:cNvSpPr txBox="1"/>
          <p:nvPr/>
        </p:nvSpPr>
        <p:spPr>
          <a:xfrm>
            <a:off x="8595360" y="13258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16,67</a:t>
            </a:r>
            <a:endParaRPr lang="en-US" sz="4400" dirty="0"/>
          </a:p>
        </p:txBody>
      </p:sp>
      <p:sp>
        <p:nvSpPr>
          <p:cNvPr id="16" name="box-468"/>
          <p:cNvSpPr/>
          <p:nvPr/>
        </p:nvSpPr>
        <p:spPr>
          <a:xfrm>
            <a:off x="7086600" y="2926080"/>
            <a:ext cx="4553712" cy="1417320"/>
          </a:xfrm>
          <a:prstGeom prst="roundRect">
            <a:avLst>
              <a:gd name="adj" fmla="val 7742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7" name="text-469"/>
          <p:cNvSpPr txBox="1"/>
          <p:nvPr/>
        </p:nvSpPr>
        <p:spPr>
          <a:xfrm>
            <a:off x="7315200" y="29260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P*</a:t>
            </a:r>
            <a:endParaRPr lang="en-US" sz="3000" dirty="0"/>
          </a:p>
        </p:txBody>
      </p:sp>
      <p:sp>
        <p:nvSpPr>
          <p:cNvPr id="18" name="text-470"/>
          <p:cNvSpPr txBox="1"/>
          <p:nvPr/>
        </p:nvSpPr>
        <p:spPr>
          <a:xfrm>
            <a:off x="8595360" y="29260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53,33</a:t>
            </a:r>
            <a:endParaRPr lang="en-US" sz="4400" dirty="0"/>
          </a:p>
        </p:txBody>
      </p:sp>
      <p:sp>
        <p:nvSpPr>
          <p:cNvPr id="19" name="box-471"/>
          <p:cNvSpPr/>
          <p:nvPr/>
        </p:nvSpPr>
        <p:spPr>
          <a:xfrm>
            <a:off x="7086600" y="4526280"/>
            <a:ext cx="4553712" cy="1417320"/>
          </a:xfrm>
          <a:prstGeom prst="roundRect">
            <a:avLst>
              <a:gd name="adj" fmla="val 7742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20" name="text-472"/>
          <p:cNvSpPr txBox="1"/>
          <p:nvPr/>
        </p:nvSpPr>
        <p:spPr>
          <a:xfrm>
            <a:off x="7315200" y="4526280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π*</a:t>
            </a:r>
            <a:endParaRPr lang="en-US" sz="3000" dirty="0"/>
          </a:p>
        </p:txBody>
      </p:sp>
      <p:sp>
        <p:nvSpPr>
          <p:cNvPr id="21" name="text-473"/>
          <p:cNvSpPr txBox="1"/>
          <p:nvPr/>
        </p:nvSpPr>
        <p:spPr>
          <a:xfrm>
            <a:off x="8595360" y="45262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555,56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График: функции реакции и путь приспособления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45</a:t>
            </a:r>
            <a:endParaRPr lang="en-US" sz="1100" dirty="0"/>
          </a:p>
        </p:txBody>
      </p:sp>
      <p:graphicFrame>
        <p:nvGraphicFramePr>
          <p:cNvPr id="4" name="chart-474" descr=""/>
          <p:cNvGraphicFramePr/>
          <p:nvPr/>
        </p:nvGraphicFramePr>
        <p:xfrm>
          <a:off x="548640" y="1280160"/>
          <a:ext cx="57607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475"/>
          <p:cNvSpPr txBox="1"/>
          <p:nvPr/>
        </p:nvSpPr>
        <p:spPr>
          <a:xfrm>
            <a:off x="6583680" y="1280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Фирмы по очереди отвечают на прошлый выпуск соперника</a:t>
            </a:r>
            <a:endParaRPr lang="en-US" sz="1700" dirty="0"/>
          </a:p>
        </p:txBody>
      </p:sp>
      <p:graphicFrame>
        <p:nvGraphicFramePr>
          <p:cNvPr id="33" name="table-4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057400"/>
          <a:ext cx="50566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19476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Шаг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Кто отвечает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Выпуск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12,5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18,75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15,63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17,19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фирма 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16,41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обе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16,67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7" name="text-477"/>
          <p:cNvSpPr txBox="1"/>
          <p:nvPr/>
        </p:nvSpPr>
        <p:spPr>
          <a:xfrm>
            <a:off x="6583680" y="5349240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Старт: фирма 2 ничего не выпускает. Ломаная сходится к точке пересечения — равновесие устойчиво к такому приспособлению.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Сравнение: монополия, Курно, конкуренция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graphicFrame>
        <p:nvGraphicFramePr>
          <p:cNvPr id="34" name="table-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280160"/>
                <a:gridCol w="182880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Рынок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Выпуск Q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Цена P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Прибыль отрасли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Излишек потребителей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Общее благосостояние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Монополия (картель)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625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1875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Дуополия Курно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33,33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53,33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1111,11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1111,11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2222,22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Совершенная конкуренция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box-479"/>
          <p:cNvSpPr/>
          <p:nvPr/>
        </p:nvSpPr>
        <p:spPr>
          <a:xfrm>
            <a:off x="548640" y="37947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6" name="note-480"/>
          <p:cNvSpPr txBox="1"/>
          <p:nvPr/>
        </p:nvSpPr>
        <p:spPr>
          <a:xfrm>
            <a:off x="749808" y="3931920"/>
            <a:ext cx="49926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Курно — между крайностями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Выпуск больше, а цена ниже, чем при монополии; выпуск меньше, а цена выше, чем при совершенной конкуренции.</a:t>
            </a:r>
            <a:endParaRPr lang="en-US" sz="1600" dirty="0"/>
          </a:p>
        </p:txBody>
      </p:sp>
      <p:sp>
        <p:nvSpPr>
          <p:cNvPr id="7" name="box-481"/>
          <p:cNvSpPr/>
          <p:nvPr/>
        </p:nvSpPr>
        <p:spPr>
          <a:xfrm>
            <a:off x="6245352" y="37947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9525">
            <a:solidFill>
              <a:srgbClr val="F2F4F8"/>
            </a:solidFill>
            <a:prstDash val="solid"/>
          </a:ln>
        </p:spPr>
      </p:sp>
      <p:sp>
        <p:nvSpPr>
          <p:cNvPr id="8" name="note-482"/>
          <p:cNvSpPr txBox="1"/>
          <p:nvPr/>
        </p:nvSpPr>
        <p:spPr>
          <a:xfrm>
            <a:off x="6446520" y="3931920"/>
            <a:ext cx="49926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считали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Монополия: Q = (a − c)/(2b) = 25. Конкуренция: P = c, Q = (a − c)/b = 50. Излишек потребителей — площадь треугольника под спросом: bQ²/2.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Почему картель неустойчив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sp>
        <p:nvSpPr>
          <p:cNvPr id="4" name="badge-483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484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-485"/>
          <p:cNvSpPr txBox="1"/>
          <p:nvPr/>
        </p:nvSpPr>
        <p:spPr>
          <a:xfrm>
            <a:off x="118872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Договорились: по 12,5 каждой</a:t>
            </a:r>
            <a:endParaRPr lang="en-US" sz="2000" dirty="0"/>
          </a:p>
        </p:txBody>
      </p:sp>
      <p:sp>
        <p:nvSpPr>
          <p:cNvPr id="7" name="text-486"/>
          <p:cNvSpPr txBox="1"/>
          <p:nvPr/>
        </p:nvSpPr>
        <p:spPr>
          <a:xfrm>
            <a:off x="118872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Цена 70, прибыль каждой 50 · 12,5 = 625 — больше, чем 555,56 в Курно.</a:t>
            </a:r>
            <a:endParaRPr lang="en-US" sz="1600" dirty="0"/>
          </a:p>
        </p:txBody>
      </p:sp>
      <p:sp>
        <p:nvSpPr>
          <p:cNvPr id="8" name="badge-487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badgeText-488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-489"/>
          <p:cNvSpPr txBox="1"/>
          <p:nvPr/>
        </p:nvSpPr>
        <p:spPr>
          <a:xfrm>
            <a:off x="118872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Фирма 1 отвечает лучшим образом</a:t>
            </a:r>
            <a:endParaRPr lang="en-US" sz="2000" dirty="0"/>
          </a:p>
        </p:txBody>
      </p:sp>
      <p:sp>
        <p:nvSpPr>
          <p:cNvPr id="11" name="text-490"/>
          <p:cNvSpPr txBox="1"/>
          <p:nvPr/>
        </p:nvSpPr>
        <p:spPr>
          <a:xfrm>
            <a:off x="1188720" y="3200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(12,5) = 25 − 6,25 = 18,75</a:t>
            </a:r>
            <a:endParaRPr lang="en-US" sz="2000" dirty="0"/>
          </a:p>
        </p:txBody>
      </p:sp>
      <p:sp>
        <p:nvSpPr>
          <p:cNvPr id="12" name="text-491"/>
          <p:cNvSpPr txBox="1"/>
          <p:nvPr/>
        </p:nvSpPr>
        <p:spPr>
          <a:xfrm>
            <a:off x="1188720" y="3703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 = 120 − 2·(18,75 + 12,5) = 57,5</a:t>
            </a:r>
            <a:endParaRPr lang="en-US" sz="2000" dirty="0"/>
          </a:p>
        </p:txBody>
      </p:sp>
      <p:sp>
        <p:nvSpPr>
          <p:cNvPr id="13" name="text-492"/>
          <p:cNvSpPr txBox="1"/>
          <p:nvPr/>
        </p:nvSpPr>
        <p:spPr>
          <a:xfrm>
            <a:off x="118872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π</a:t>
            </a:r>
            <a:pPr algn="l" indent="0" marL="0">
              <a:buNone/>
            </a:pPr>
            <a:r>
              <a:rPr lang="en-US" sz="2000" b="1" baseline="-40000" dirty="0">
                <a:solidFill>
                  <a:schemeClr val="accent1"/>
                </a:solidFill>
              </a:rPr>
              <a:t>1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= 37,5 · 18,75 = 703,1</a:t>
            </a:r>
            <a:endParaRPr lang="en-US" sz="2000" dirty="0"/>
          </a:p>
        </p:txBody>
      </p:sp>
      <p:sp>
        <p:nvSpPr>
          <p:cNvPr id="14" name="box-493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15" name="note-494"/>
          <p:cNvSpPr txBox="1"/>
          <p:nvPr/>
        </p:nvSpPr>
        <p:spPr>
          <a:xfrm>
            <a:off x="749808" y="5029200"/>
            <a:ext cx="5084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703,1 &gt; 625: нарушать договор выгодно — и обе фирмы это знают.</a:t>
            </a:r>
            <a:endParaRPr lang="en-US" sz="1600" dirty="0"/>
          </a:p>
        </p:txBody>
      </p:sp>
      <p:graphicFrame>
        <p:nvGraphicFramePr>
          <p:cNvPr id="35" name="table-4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28216"/>
                <a:gridCol w="172821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Фирма 2: 12,5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Фирма 2: 16,67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Фирма 1: 12,5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625 ; 625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520,8 ; 694,4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Фирма 1: 16,67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694,4 ; 520,8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555,6 ; 555,6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17" name="text-496"/>
          <p:cNvSpPr txBox="1"/>
          <p:nvPr/>
        </p:nvSpPr>
        <p:spPr>
          <a:xfrm>
            <a:off x="6400800" y="3154680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Выигрыши (фирма 1 ; фирма 2) для двух уровней выпуска. Выпуск 16,67 доминирует 12,5 — снова дилемма заключённого.</a:t>
            </a:r>
            <a:endParaRPr lang="en-US" sz="1400" dirty="0"/>
          </a:p>
        </p:txBody>
      </p:sp>
      <p:sp>
        <p:nvSpPr>
          <p:cNvPr id="18" name="box-497"/>
          <p:cNvSpPr/>
          <p:nvPr/>
        </p:nvSpPr>
        <p:spPr>
          <a:xfrm>
            <a:off x="6400800" y="4251960"/>
            <a:ext cx="5239512" cy="1874520"/>
          </a:xfrm>
          <a:prstGeom prst="roundRect">
            <a:avLst>
              <a:gd name="adj" fmla="val 5854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19" name="note-498"/>
          <p:cNvSpPr txBox="1"/>
          <p:nvPr/>
        </p:nvSpPr>
        <p:spPr>
          <a:xfrm>
            <a:off x="6601968" y="4389120"/>
            <a:ext cx="48371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Связь с задачей 10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При бесконечном повторении картель может удержаться, если фирмы достаточно ценят будущее и видят выпуск друг друга.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Обобщение: n фирм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sp>
        <p:nvSpPr>
          <p:cNvPr id="4" name="text-499"/>
          <p:cNvSpPr txBox="1"/>
          <p:nvPr/>
        </p:nvSpPr>
        <p:spPr>
          <a:xfrm>
            <a:off x="548640" y="1371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q* = (a − c)/((n + 1)b)</a:t>
            </a:r>
            <a:endParaRPr lang="en-US" sz="2400" dirty="0"/>
          </a:p>
        </p:txBody>
      </p:sp>
      <p:sp>
        <p:nvSpPr>
          <p:cNvPr id="5" name="text-500"/>
          <p:cNvSpPr txBox="1"/>
          <p:nvPr/>
        </p:nvSpPr>
        <p:spPr>
          <a:xfrm>
            <a:off x="548640" y="1965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P* = (a + nc)/(n + 1)</a:t>
            </a:r>
            <a:endParaRPr lang="en-US" sz="2400" dirty="0"/>
          </a:p>
        </p:txBody>
      </p:sp>
      <p:sp>
        <p:nvSpPr>
          <p:cNvPr id="6" name="text-501"/>
          <p:cNvSpPr txBox="1"/>
          <p:nvPr/>
        </p:nvSpPr>
        <p:spPr>
          <a:xfrm>
            <a:off x="548640" y="2560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π* = (a − c)</a:t>
            </a:r>
            <a:pPr algn="l" indent="0" marL="0">
              <a:buNone/>
            </a:pPr>
            <a:r>
              <a:rPr lang="en-US" sz="2400" b="1" baseline="3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/((n + 1)</a:t>
            </a:r>
            <a:pPr algn="l" indent="0" marL="0">
              <a:buNone/>
            </a:pPr>
            <a:r>
              <a:rPr lang="en-US" sz="2400" b="1" baseline="30000" dirty="0">
                <a:solidFill>
                  <a:schemeClr val="accent1"/>
                </a:solidFill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 b)</a:t>
            </a:r>
            <a:endParaRPr lang="en-US" sz="2400" dirty="0"/>
          </a:p>
        </p:txBody>
      </p:sp>
      <p:sp>
        <p:nvSpPr>
          <p:cNvPr id="7" name="box-502"/>
          <p:cNvSpPr/>
          <p:nvPr/>
        </p:nvSpPr>
        <p:spPr>
          <a:xfrm>
            <a:off x="548640" y="338328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8" name="note-503"/>
          <p:cNvSpPr txBox="1"/>
          <p:nvPr/>
        </p:nvSpPr>
        <p:spPr>
          <a:xfrm>
            <a:off x="749808" y="3520440"/>
            <a:ext cx="4718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Мост между рынками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1 — монополия, n → ∞ — цена стремится к c, совершенная конкуренция. Сравните с задачей 6 (Бертран): там хватило двух фирм, чтобы цена упала до издержек. Разница — чем конкурируют фирмы: ценами или объёмами.</a:t>
            </a:r>
            <a:endParaRPr lang="en-US" sz="1600" dirty="0"/>
          </a:p>
        </p:txBody>
      </p:sp>
      <p:graphicFrame>
        <p:nvGraphicFramePr>
          <p:cNvPr id="36" name="table-5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71600"/>
          <a:ext cx="56052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q* каждой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Цена P*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Прибыль каждой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16,67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53,33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555,56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312,5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8,33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36,67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138,89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4,55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29,09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41,32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21,96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1,92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505"/>
          <p:cNvSpPr txBox="1"/>
          <p:nvPr/>
        </p:nvSpPr>
        <p:spPr>
          <a:xfrm>
            <a:off x="6035040" y="4892040"/>
            <a:ext cx="5605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При n = 3: q* = 12,5, P* = 45, π* = 312,5 — ответ к домашнему заданию.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Задача 12: ошибки, лаборатория, вывод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46</a:t>
            </a:r>
            <a:endParaRPr lang="en-US" sz="1100" dirty="0"/>
          </a:p>
        </p:txBody>
      </p:sp>
      <p:sp>
        <p:nvSpPr>
          <p:cNvPr id="4" name="box-506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DF0DE"/>
          </a:solidFill>
          <a:ln w="9525">
            <a:solidFill>
              <a:srgbClr val="FDF0DE"/>
            </a:solidFill>
            <a:prstDash val="solid"/>
          </a:ln>
        </p:spPr>
      </p:sp>
      <p:sp>
        <p:nvSpPr>
          <p:cNvPr id="5" name="note-507"/>
          <p:cNvSpPr txBox="1"/>
          <p:nvPr/>
        </p:nvSpPr>
        <p:spPr>
          <a:xfrm>
            <a:off x="749808" y="146304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⚠️ Типичные ошибки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Потерять двойку при дифференцировании q₁². Дифференцировать по чужому выпуску. Подставить в спрос q вместо Q = 2q — или удвоить Q ещё раз.</a:t>
            </a:r>
            <a:endParaRPr lang="en-US" sz="1700" dirty="0"/>
          </a:p>
        </p:txBody>
      </p:sp>
      <p:sp>
        <p:nvSpPr>
          <p:cNvPr id="6" name="box-508"/>
          <p:cNvSpPr/>
          <p:nvPr/>
        </p:nvSpPr>
        <p:spPr>
          <a:xfrm>
            <a:off x="548640" y="37033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EFFF"/>
          </a:solidFill>
          <a:ln w="9525">
            <a:solidFill>
              <a:srgbClr val="EAEFFF"/>
            </a:solidFill>
            <a:prstDash val="solid"/>
          </a:ln>
        </p:spPr>
      </p:sp>
      <p:sp>
        <p:nvSpPr>
          <p:cNvPr id="7" name="note-509"/>
          <p:cNvSpPr txBox="1"/>
          <p:nvPr/>
        </p:nvSpPr>
        <p:spPr>
          <a:xfrm>
            <a:off x="749808" y="3840480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 лаборатории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Введите 16,667; 53,333; 555,556 → «Проверить решение». Раскройте «График функций реакции»: равновесие на пересечении, точка картеля — вне прямых.</a:t>
            </a:r>
            <a:endParaRPr lang="en-US" sz="1700" dirty="0"/>
          </a:p>
        </p:txBody>
      </p:sp>
      <p:sp>
        <p:nvSpPr>
          <p:cNvPr id="8" name="box-510"/>
          <p:cNvSpPr/>
          <p:nvPr/>
        </p:nvSpPr>
        <p:spPr>
          <a:xfrm>
            <a:off x="6245352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9" name="text-511"/>
          <p:cNvSpPr txBox="1"/>
          <p:nvPr/>
        </p:nvSpPr>
        <p:spPr>
          <a:xfrm>
            <a:off x="6473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📌 Под запись</a:t>
            </a:r>
            <a:endParaRPr lang="en-US" sz="1800" dirty="0"/>
          </a:p>
        </p:txBody>
      </p:sp>
      <p:sp>
        <p:nvSpPr>
          <p:cNvPr id="10" name="list-512"/>
          <p:cNvSpPr txBox="1"/>
          <p:nvPr/>
        </p:nvSpPr>
        <p:spPr>
          <a:xfrm>
            <a:off x="6473952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Лучший ответ при непрерывных стратегиях — условие первого порядка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Функция реакции: q₁ = (a − c − bq₂)/(2b)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Равновесие Курно — пересечение функций реакции: q* = (a − c)/(3b)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Картель неустойчив: та же дилемма заключённого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Четыре задачи — четыре инструмента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Слайд лекции 47</a:t>
            </a:r>
            <a:endParaRPr lang="en-US" sz="1100" dirty="0"/>
          </a:p>
        </p:txBody>
      </p:sp>
      <p:graphicFrame>
        <p:nvGraphicFramePr>
          <p:cNvPr id="38" name="table-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56032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Задача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Что нового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Инструмент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Ответ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9. Вход на рынок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ходы по очереди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обратная индукция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Войти; приспособиться (2 ; 2)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10. Повторяющаяся дилемма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будущее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дисконтированная сумма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δ* = (T − R)/(T − P) = 0,5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11. Неполная информация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тип соперника неизвестен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ожидаемый выигрыш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p* = 2/3; при p = 0,4 войти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12. Дуополия Курно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стратегия — число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условие первого порядка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q* = 16,67; P* = 53,33; π* = 555,56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514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9525">
            <a:solidFill>
              <a:srgbClr val="FFF4D6"/>
            </a:solidFill>
            <a:prstDash val="solid"/>
          </a:ln>
        </p:spPr>
      </p:sp>
      <p:sp>
        <p:nvSpPr>
          <p:cNvPr id="6" name="note-515"/>
          <p:cNvSpPr txBox="1"/>
          <p:nvPr/>
        </p:nvSpPr>
        <p:spPr>
          <a:xfrm>
            <a:off x="749808" y="4892040"/>
            <a:ext cx="106920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📌 Один вопрос для всех задач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Может ли кто-то из игроков улучшить свой результат, изменив только свой выбор? Меняется лишь способ ответить: обратная индукция, дисконтирование, ожидание, производная.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Домашнее задание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По материалам задач 9–12</a:t>
            </a:r>
            <a:endParaRPr lang="en-US" sz="2000" dirty="0"/>
          </a:p>
        </p:txBody>
      </p:sp>
      <p:sp>
        <p:nvSpPr>
          <p:cNvPr id="4" name="badge-516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-517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518"/>
          <p:cNvSpPr txBox="1"/>
          <p:nvPr/>
        </p:nvSpPr>
        <p:spPr>
          <a:xfrm>
            <a:off x="1115568" y="3749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Измените выигрыши в задаче 9 так, чтобы угроза борьбы стала правдоподобной. Найдите новое равновесие</a:t>
            </a:r>
            <a:endParaRPr lang="en-US" sz="1600" dirty="0"/>
          </a:p>
        </p:txBody>
      </p:sp>
      <p:sp>
        <p:nvSpPr>
          <p:cNvPr id="7" name="badge-519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adgeText-520"/>
          <p:cNvSpPr txBox="1"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521"/>
          <p:cNvSpPr txBox="1"/>
          <p:nvPr/>
        </p:nvSpPr>
        <p:spPr>
          <a:xfrm>
            <a:off x="1115568" y="43708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Задача 10: найдите δ* при R = 4, T = 6, P = 1 и порог для «Ока за око» при S = 0</a:t>
            </a:r>
            <a:endParaRPr lang="en-US" sz="1600" dirty="0"/>
          </a:p>
        </p:txBody>
      </p:sp>
      <p:sp>
        <p:nvSpPr>
          <p:cNvPr id="10" name="badge-522"/>
          <p:cNvSpPr/>
          <p:nvPr/>
        </p:nvSpPr>
        <p:spPr>
          <a:xfrm>
            <a:off x="548640" y="50383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dgeText-523"/>
          <p:cNvSpPr txBox="1"/>
          <p:nvPr/>
        </p:nvSpPr>
        <p:spPr>
          <a:xfrm>
            <a:off x="54864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-524"/>
          <p:cNvSpPr txBox="1"/>
          <p:nvPr/>
        </p:nvSpPr>
        <p:spPr>
          <a:xfrm>
            <a:off x="1115568" y="49926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Задача 11: найдите p*, если против жёсткой фирмы конкурент теряет 8. Почему порог изменился?</a:t>
            </a:r>
            <a:endParaRPr lang="en-US" sz="1600" dirty="0"/>
          </a:p>
        </p:txBody>
      </p:sp>
      <p:sp>
        <p:nvSpPr>
          <p:cNvPr id="13" name="badge-525"/>
          <p:cNvSpPr/>
          <p:nvPr/>
        </p:nvSpPr>
        <p:spPr>
          <a:xfrm>
            <a:off x="548640" y="566013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badgeText-526"/>
          <p:cNvSpPr txBox="1"/>
          <p:nvPr/>
        </p:nvSpPr>
        <p:spPr>
          <a:xfrm>
            <a:off x="5486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-527"/>
          <p:cNvSpPr txBox="1"/>
          <p:nvPr/>
        </p:nvSpPr>
        <p:spPr>
          <a:xfrm>
            <a:off x="1115568" y="561441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Решите задачу 12 для трёх фирм и сравните с дуополией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 Theory Lab">
  <a:themeElements>
    <a:clrScheme name="Game Theory Lab">
      <a:dk1>
        <a:srgbClr val="17202C"/>
      </a:dk1>
      <a:lt1>
        <a:srgbClr val="FFFFFF"/>
      </a:lt1>
      <a:dk2>
        <a:srgbClr val="5A6576"/>
      </a:dk2>
      <a:lt2>
        <a:srgbClr val="EDF0F4"/>
      </a:lt2>
      <a:accent1>
        <a:srgbClr val="2747C4"/>
      </a:accent1>
      <a:accent2>
        <a:srgbClr val="A0306E"/>
      </a:accent2>
      <a:accent3>
        <a:srgbClr val="D99A00"/>
      </a:accent3>
      <a:accent4>
        <a:srgbClr val="17724A"/>
      </a:accent4>
      <a:accent5>
        <a:srgbClr val="D3DAE4"/>
      </a:accent5>
      <a:accent6>
        <a:srgbClr val="9A4F00"/>
      </a:accent6>
      <a:hlink>
        <a:srgbClr val="2747C4"/>
      </a:hlink>
      <a:folHlink>
        <a:srgbClr val="A0306E"/>
      </a:folHlink>
    </a:clrScheme>
    <a:fontScheme name="Game Theory 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игр: задачи 9–12 с полными решениями</dc:title>
  <dc:subject>PptxGenJS Presentation</dc:subject>
  <dc:creator>Сергей Ермаков</dc:creator>
  <cp:lastModifiedBy>Сергей Ермаков</cp:lastModifiedBy>
  <cp:revision>1</cp:revision>
  <dcterms:created xsi:type="dcterms:W3CDTF">2026-10-14T16:23:14Z</dcterms:created>
  <dcterms:modified xsi:type="dcterms:W3CDTF">2026-10-14T16:23:14Z</dcterms:modified>
</cp:coreProperties>
</file>