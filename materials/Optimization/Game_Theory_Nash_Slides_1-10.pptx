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36f41af-6d74-6da7-4024-ba1a3da08be0}">
          <p14:sldIdLst>
            <p14:sldId id="256"/>
            <p14:sldId id="257"/>
            <p14:sldId id="258"/>
          </p14:sldIdLst>
        </p14:section>
        <p14:section name="Язык теории игр" id="{5f13eb8b-d919-021e-e80a-e73d135131f6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Равновесие Нэша" id="{933a0b75-252d-0562-0d0a-88fa97c5ae23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лекции. До сих пор в курсе решения принимались в одиночку: функция цели, ограничения, неопределённость, но природа не отвечала на наш выбор. Теперь результат каждого зависит от решений других. Работаем в два окна: слева лаборатория, справа презентация. Вопрос в зал: назовите ситуацию за последнюю неделю, где ваш результат зависел от выбора другого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лекции. Кнопка разбора даёт ответ в двух-трёх предложениях. Лекция даёт то, чего в них нет: почему решение именно такое, где ловушка и что из задачи следует для реальных решений.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лекции (маршрут). Каждая следующая задача добавляет одну новую идею: доминирование, несколько равновесий, смешанные стратегии, проектирование механизма, время, повторение, информация, непрерывные стратегии.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лекции. Выигрыш — не обязательно деньги. Если человеку важна справедливость, это должно войти в его выигрыш, иначе модель предскажет поведение, которого мы не увидим. Одновременность не обязательно буквальная: достаточно, чтобы никто не видел хода соперника.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лекции (история). Фон Нейман и Моргенштерн полностью решили игры двух лиц с нулевой суммой. Но в большинстве ситуаций интересы частично совпадают и частично расходятся. Решающий шаг сделал Нэш в 1950 году: понятие равновесия для любых конечных игр. Харсаньи — автор теории игр с неполной информацией, Зельтен — совершенного подыгрового равновесия.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лекции. Функция выигрыша сопоставляет каждому профилю число. Профиль — одна клетка матрицы. Самая частая ошибка новичка — перепутать, чей выигрыш первый: первое число — выигрыш того, кто выбирает строку.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лекции (пример). Ответ на задание: игрок 1 предал, игрок 2 молчал; игрок 1 получает 5, игрок 2 — 0. Попросите студентов прочитать вслух две-три клетки.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лекции. Разберите определение по словам: «строго» — неравенство строгое; «при любых» — проверяем все столбцы, а не самый вероятный. Вопрос в зал: нужно ли знать выигрыши соперника, чтобы воспользоваться доминирующей стратегией?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лекции (дополнение). Если доминирующей стратегии нет, можно вычёркивать заведомо плохие. Номера на матрице показывают порядок вычёркивания. Предупреждение: с исключением слабо доминируемых стратегий надо быть осторожнее — результат может зависеть от порядка.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лекции. Лучший ответ — понятие локальное: мысленно замораживаем выбор соперника. «Охота на оленя» Руссо — не из лаборатории, её используем как нейтральный пример. Связь с доминированием: доминирующая стратегия — случай, когда функция лучшего ответа постоянна.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лекции. Если два игрока одновременно хотят перейти в другую клетку и обоим там лучше, это не нарушает равновесия Нэша. Поэтому в дилемме заключённого равновесие — взаимное предательство. Равновесие — неподвижная точка отображения лучших ответов.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лекции (интерпретации). Нэш сформулировал понятие в двухстраничной заметке 1950 года. Нобелевская премия 1994 года — вместе с Харсаньи и Зельтеном.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лекции. Подчёркнутое левое число означает, что игроку 1 не выгодно менять строку; подчёркнутое правое — что игроку 2 не выгодно менять столбец. Оба вместе — определение равновесия. В лаборатории это делает кнопка «Показать лучшие ответы».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лекции. Чистая стратегия — частный случай смешанной с вероятностью 1. Игрок 1 подбирает смесь не для того, чтобы ему самому было всё равно, а чтобы было всё равно сопернику: только тогда соперник готов смешивать. Доказательство теоремы Нэша опирается на теорему Какутани о неподвижной точке.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лекции (вывод). Проверка примера: при p = 3/4 олень даёт игроку 2 ровно 3, заяц — тоже 3. Смешанное равновесие охоты на оленя даёт 3 — столько же, сколько безопасное (Заяц, Заяц), и меньше, чем 4 в (Олень, Олень).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лекции. Критерий Парето не требует сравнивать выигрыши разных людей. В дилемме заключённого (Молчать, Молчать) эффективен, но не равновесен; (Предать, Предать) равновесен, но неэффективен. Переход к задаче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теоретической части (слайды 1–10 лекции). Переход к задаче 1: откройте её в лаборатории и прочитайте условие вслух.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Теория игр и равновесие Нэша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Двенадцать задач: от матрицы выигрышей до модели Курно</a:t>
            </a:r>
            <a:endParaRPr lang="en-US" sz="2000" dirty="0"/>
          </a:p>
        </p:txBody>
      </p:sp>
      <p:sp>
        <p:nvSpPr>
          <p:cNvPr id="4" name="badge-1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2"/>
          <p:cNvSpPr txBox="1"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-3"/>
          <p:cNvSpPr txBox="1"/>
          <p:nvPr/>
        </p:nvSpPr>
        <p:spPr>
          <a:xfrm>
            <a:off x="1097280" y="4069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Язык теории игр и равновесие Нэша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задачи 1–3</a:t>
            </a:r>
            <a:endParaRPr lang="en-US" sz="1600" dirty="0"/>
          </a:p>
        </p:txBody>
      </p:sp>
      <p:sp>
        <p:nvSpPr>
          <p:cNvPr id="7" name="badge-4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adgeText-5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-6"/>
          <p:cNvSpPr txBox="1"/>
          <p:nvPr/>
        </p:nvSpPr>
        <p:spPr>
          <a:xfrm>
            <a:off x="1097280" y="4636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Статические игры и смешанные стратегии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задачи 4–8</a:t>
            </a:r>
            <a:endParaRPr lang="en-US" sz="1600" dirty="0"/>
          </a:p>
        </p:txBody>
      </p:sp>
      <p:sp>
        <p:nvSpPr>
          <p:cNvPr id="10" name="badge-7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dgeText-8"/>
          <p:cNvSpPr txBox="1"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-9"/>
          <p:cNvSpPr txBox="1"/>
          <p:nvPr/>
        </p:nvSpPr>
        <p:spPr>
          <a:xfrm>
            <a:off x="1097280" y="52029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Динамика, повторение, неполная информация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задачи 9–12</a:t>
            </a:r>
            <a:endParaRPr lang="en-US" sz="1600" dirty="0"/>
          </a:p>
        </p:txBody>
      </p:sp>
      <p:sp>
        <p:nvSpPr>
          <p:cNvPr id="13" name="motif-10"/>
          <p:cNvSpPr/>
          <p:nvPr/>
        </p:nvSpPr>
        <p:spPr>
          <a:xfrm>
            <a:off x="8229600" y="192024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4" name="motifText-11"/>
          <p:cNvSpPr txBox="1"/>
          <p:nvPr/>
        </p:nvSpPr>
        <p:spPr>
          <a:xfrm>
            <a:off x="8229600" y="19202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A2F0"/>
                </a:solidFill>
              </a:rPr>
              <a:t>3</a:t>
            </a:r>
            <a:pPr algn="ctr" indent="0" marL="0">
              <a:buNone/>
            </a:pPr>
            <a:r>
              <a:rPr lang="en-US" sz="2000" dirty="0">
                <a:solidFill>
                  <a:srgbClr val="5A6576"/>
                </a:solidFill>
              </a:rPr>
              <a:t>  |  </a:t>
            </a:r>
            <a:pPr algn="ctr" indent="0" marL="0">
              <a:buNone/>
            </a:pPr>
            <a:r>
              <a:rPr lang="en-US" sz="2600" b="1" dirty="0">
                <a:solidFill>
                  <a:srgbClr val="E39AC4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motif-12"/>
          <p:cNvSpPr/>
          <p:nvPr/>
        </p:nvSpPr>
        <p:spPr>
          <a:xfrm>
            <a:off x="10012680" y="192024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6" name="motifText-13"/>
          <p:cNvSpPr txBox="1"/>
          <p:nvPr/>
        </p:nvSpPr>
        <p:spPr>
          <a:xfrm>
            <a:off x="10012680" y="19202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A2F0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rgbClr val="5A6576"/>
                </a:solidFill>
              </a:rPr>
              <a:t>  |  </a:t>
            </a:r>
            <a:pPr algn="ctr" indent="0" marL="0">
              <a:buNone/>
            </a:pPr>
            <a:r>
              <a:rPr lang="en-US" sz="2600" b="1" dirty="0">
                <a:solidFill>
                  <a:srgbClr val="E39AC4"/>
                </a:solidFill>
              </a:rPr>
              <a:t>5</a:t>
            </a:r>
            <a:endParaRPr lang="en-US" sz="2600" dirty="0"/>
          </a:p>
        </p:txBody>
      </p:sp>
      <p:sp>
        <p:nvSpPr>
          <p:cNvPr id="17" name="motif-14"/>
          <p:cNvSpPr/>
          <p:nvPr/>
        </p:nvSpPr>
        <p:spPr>
          <a:xfrm>
            <a:off x="8229600" y="301752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8" name="motifText-15"/>
          <p:cNvSpPr txBox="1"/>
          <p:nvPr/>
        </p:nvSpPr>
        <p:spPr>
          <a:xfrm>
            <a:off x="8229600" y="3017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A2F0"/>
                </a:solidFill>
              </a:rPr>
              <a:t>5</a:t>
            </a:r>
            <a:pPr algn="ctr" indent="0" marL="0">
              <a:buNone/>
            </a:pPr>
            <a:r>
              <a:rPr lang="en-US" sz="2000" dirty="0">
                <a:solidFill>
                  <a:srgbClr val="5A6576"/>
                </a:solidFill>
              </a:rPr>
              <a:t>  |  </a:t>
            </a:r>
            <a:pPr algn="ctr" indent="0" marL="0">
              <a:buNone/>
            </a:pPr>
            <a:r>
              <a:rPr lang="en-US" sz="2600" b="1" dirty="0">
                <a:solidFill>
                  <a:srgbClr val="E39AC4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motif-16"/>
          <p:cNvSpPr/>
          <p:nvPr/>
        </p:nvSpPr>
        <p:spPr>
          <a:xfrm>
            <a:off x="10012680" y="3017520"/>
            <a:ext cx="164592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motifText-17"/>
          <p:cNvSpPr txBox="1"/>
          <p:nvPr/>
        </p:nvSpPr>
        <p:spPr>
          <a:xfrm>
            <a:off x="10012680" y="3017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 |  </a:t>
            </a:r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21" name="text-18"/>
          <p:cNvSpPr txBox="1"/>
          <p:nvPr/>
        </p:nvSpPr>
        <p:spPr>
          <a:xfrm>
            <a:off x="8229600" y="4251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Клетка, из которой никто не хочет уйти в одиночку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Работаем в два окна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2</a:t>
            </a:r>
            <a:endParaRPr lang="en-US" sz="1100" dirty="0"/>
          </a:p>
        </p:txBody>
      </p:sp>
      <p:sp>
        <p:nvSpPr>
          <p:cNvPr id="4" name="box-19"/>
          <p:cNvSpPr/>
          <p:nvPr/>
        </p:nvSpPr>
        <p:spPr>
          <a:xfrm>
            <a:off x="548640" y="132588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5" name="text-20"/>
          <p:cNvSpPr txBox="1"/>
          <p:nvPr/>
        </p:nvSpPr>
        <p:spPr>
          <a:xfrm>
            <a:off x="822960" y="1481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Слева: лаборатория</a:t>
            </a:r>
            <a:endParaRPr lang="en-US" sz="2200" dirty="0"/>
          </a:p>
        </p:txBody>
      </p:sp>
      <p:sp>
        <p:nvSpPr>
          <p:cNvPr id="6" name="list-21"/>
          <p:cNvSpPr txBox="1"/>
          <p:nvPr/>
        </p:nvSpPr>
        <p:spPr>
          <a:xfrm>
            <a:off x="822960" y="2011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Условие задачи и матрица выигрышей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Поля для расчётов и варианты ответа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Кнопки «Проверить решение», «Подсказка», «Пошаговый разбор»</a:t>
            </a:r>
            <a:endParaRPr lang="en-US" sz="1600" dirty="0"/>
          </a:p>
        </p:txBody>
      </p:sp>
      <p:sp>
        <p:nvSpPr>
          <p:cNvPr id="7" name="box-22"/>
          <p:cNvSpPr/>
          <p:nvPr/>
        </p:nvSpPr>
        <p:spPr>
          <a:xfrm>
            <a:off x="6291072" y="132588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FBEAF3"/>
          </a:solidFill>
          <a:ln w="9525">
            <a:solidFill>
              <a:srgbClr val="FBEAF3"/>
            </a:solidFill>
            <a:prstDash val="solid"/>
          </a:ln>
        </p:spPr>
      </p:sp>
      <p:sp>
        <p:nvSpPr>
          <p:cNvPr id="8" name="text-23"/>
          <p:cNvSpPr txBox="1"/>
          <p:nvPr/>
        </p:nvSpPr>
        <p:spPr>
          <a:xfrm>
            <a:off x="6565392" y="1481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Справа: презентация</a:t>
            </a:r>
            <a:endParaRPr lang="en-US" sz="2200" dirty="0"/>
          </a:p>
        </p:txBody>
      </p:sp>
      <p:sp>
        <p:nvSpPr>
          <p:cNvPr id="9" name="list-24"/>
          <p:cNvSpPr txBox="1"/>
          <p:nvPr/>
        </p:nvSpPr>
        <p:spPr>
          <a:xfrm>
            <a:off x="6565392" y="2011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Формальная запись игры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Вывод равновесия шаг за шагом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Обобщение: что задача говорит о реальных решениях</a:t>
            </a:r>
            <a:endParaRPr lang="en-US" sz="1600" dirty="0"/>
          </a:p>
        </p:txBody>
      </p:sp>
      <p:sp>
        <p:nvSpPr>
          <p:cNvPr id="10" name="text-25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Порядок работы с каждой задачей</a:t>
            </a:r>
            <a:endParaRPr lang="en-US" sz="1800" dirty="0"/>
          </a:p>
        </p:txBody>
      </p:sp>
      <p:sp>
        <p:nvSpPr>
          <p:cNvPr id="11" name="box-26"/>
          <p:cNvSpPr/>
          <p:nvPr/>
        </p:nvSpPr>
        <p:spPr>
          <a:xfrm>
            <a:off x="548640" y="45720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badge-27"/>
          <p:cNvSpPr/>
          <p:nvPr/>
        </p:nvSpPr>
        <p:spPr>
          <a:xfrm>
            <a:off x="713232" y="481888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badgeText-28"/>
          <p:cNvSpPr txBox="1"/>
          <p:nvPr/>
        </p:nvSpPr>
        <p:spPr>
          <a:xfrm>
            <a:off x="713232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-29"/>
          <p:cNvSpPr txBox="1"/>
          <p:nvPr/>
        </p:nvSpPr>
        <p:spPr>
          <a:xfrm>
            <a:off x="1261872" y="4572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Читаем условие в лаборатории</a:t>
            </a:r>
            <a:endParaRPr lang="en-US" sz="1500" dirty="0"/>
          </a:p>
        </p:txBody>
      </p:sp>
      <p:sp>
        <p:nvSpPr>
          <p:cNvPr id="15" name="box-30"/>
          <p:cNvSpPr/>
          <p:nvPr/>
        </p:nvSpPr>
        <p:spPr>
          <a:xfrm>
            <a:off x="3355848" y="45720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badge-31"/>
          <p:cNvSpPr/>
          <p:nvPr/>
        </p:nvSpPr>
        <p:spPr>
          <a:xfrm>
            <a:off x="3520440" y="481888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badgeText-32"/>
          <p:cNvSpPr txBox="1"/>
          <p:nvPr/>
        </p:nvSpPr>
        <p:spPr>
          <a:xfrm>
            <a:off x="35204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-33"/>
          <p:cNvSpPr txBox="1"/>
          <p:nvPr/>
        </p:nvSpPr>
        <p:spPr>
          <a:xfrm>
            <a:off x="4069080" y="4572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Записываем игру на слайде</a:t>
            </a:r>
            <a:endParaRPr lang="en-US" sz="1500" dirty="0"/>
          </a:p>
        </p:txBody>
      </p:sp>
      <p:sp>
        <p:nvSpPr>
          <p:cNvPr id="19" name="box-34"/>
          <p:cNvSpPr/>
          <p:nvPr/>
        </p:nvSpPr>
        <p:spPr>
          <a:xfrm>
            <a:off x="6163056" y="45720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0" name="badge-35"/>
          <p:cNvSpPr/>
          <p:nvPr/>
        </p:nvSpPr>
        <p:spPr>
          <a:xfrm>
            <a:off x="6327648" y="481888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badgeText-36"/>
          <p:cNvSpPr txBox="1"/>
          <p:nvPr/>
        </p:nvSpPr>
        <p:spPr>
          <a:xfrm>
            <a:off x="6327648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-37"/>
          <p:cNvSpPr txBox="1"/>
          <p:nvPr/>
        </p:nvSpPr>
        <p:spPr>
          <a:xfrm>
            <a:off x="6876288" y="4572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Ищем равновесие руками</a:t>
            </a:r>
            <a:endParaRPr lang="en-US" sz="1500" dirty="0"/>
          </a:p>
        </p:txBody>
      </p:sp>
      <p:sp>
        <p:nvSpPr>
          <p:cNvPr id="23" name="box-38"/>
          <p:cNvSpPr/>
          <p:nvPr/>
        </p:nvSpPr>
        <p:spPr>
          <a:xfrm>
            <a:off x="8970264" y="45720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4" name="badge-39"/>
          <p:cNvSpPr/>
          <p:nvPr/>
        </p:nvSpPr>
        <p:spPr>
          <a:xfrm>
            <a:off x="9134856" y="481888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badgeText-40"/>
          <p:cNvSpPr txBox="1"/>
          <p:nvPr/>
        </p:nvSpPr>
        <p:spPr>
          <a:xfrm>
            <a:off x="9134856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-41"/>
          <p:cNvSpPr txBox="1"/>
          <p:nvPr/>
        </p:nvSpPr>
        <p:spPr>
          <a:xfrm>
            <a:off x="9683496" y="4572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Нажимаем «Проверить решение»</a:t>
            </a:r>
            <a:endParaRPr lang="en-US" sz="1500" dirty="0"/>
          </a:p>
        </p:txBody>
      </p:sp>
      <p:sp>
        <p:nvSpPr>
          <p:cNvPr id="27" name="box-42"/>
          <p:cNvSpPr/>
          <p:nvPr/>
        </p:nvSpPr>
        <p:spPr>
          <a:xfrm>
            <a:off x="548640" y="56692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8" name="note-43"/>
          <p:cNvSpPr txBox="1"/>
          <p:nvPr/>
        </p:nvSpPr>
        <p:spPr>
          <a:xfrm>
            <a:off x="749808" y="5806440"/>
            <a:ext cx="10692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📌 «Пошаговый разбор» нажимаем последним: сначала решаем сами, потом проверяем, и только потом читаем готовый разбор.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Двенадцать задач, двенадцать идей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2</a:t>
            </a:r>
            <a:endParaRPr lang="en-US" sz="1100" dirty="0"/>
          </a:p>
        </p:txBody>
      </p:sp>
      <p:sp>
        <p:nvSpPr>
          <p:cNvPr id="4" name="box-44"/>
          <p:cNvSpPr/>
          <p:nvPr/>
        </p:nvSpPr>
        <p:spPr>
          <a:xfrm>
            <a:off x="548640" y="132588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5" name="badge-45"/>
          <p:cNvSpPr/>
          <p:nvPr/>
        </p:nvSpPr>
        <p:spPr>
          <a:xfrm>
            <a:off x="713232" y="149047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adgeText-46"/>
          <p:cNvSpPr txBox="1"/>
          <p:nvPr/>
        </p:nvSpPr>
        <p:spPr>
          <a:xfrm>
            <a:off x="713232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47"/>
          <p:cNvSpPr txBox="1"/>
          <p:nvPr/>
        </p:nvSpPr>
        <p:spPr>
          <a:xfrm>
            <a:off x="1234440" y="14538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Дилемма заключённого</a:t>
            </a:r>
            <a:endParaRPr lang="en-US" sz="1500" dirty="0"/>
          </a:p>
        </p:txBody>
      </p:sp>
      <p:sp>
        <p:nvSpPr>
          <p:cNvPr id="8" name="text-48"/>
          <p:cNvSpPr txBox="1"/>
          <p:nvPr/>
        </p:nvSpPr>
        <p:spPr>
          <a:xfrm>
            <a:off x="731520" y="2075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строгое доминирование</a:t>
            </a:r>
            <a:endParaRPr lang="en-US" sz="1300" dirty="0"/>
          </a:p>
        </p:txBody>
      </p:sp>
      <p:sp>
        <p:nvSpPr>
          <p:cNvPr id="9" name="box-49"/>
          <p:cNvSpPr/>
          <p:nvPr/>
        </p:nvSpPr>
        <p:spPr>
          <a:xfrm>
            <a:off x="3355848" y="132588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0" name="badge-50"/>
          <p:cNvSpPr/>
          <p:nvPr/>
        </p:nvSpPr>
        <p:spPr>
          <a:xfrm>
            <a:off x="3520440" y="149047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badgeText-51"/>
          <p:cNvSpPr txBox="1"/>
          <p:nvPr/>
        </p:nvSpPr>
        <p:spPr>
          <a:xfrm>
            <a:off x="352044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52"/>
          <p:cNvSpPr txBox="1"/>
          <p:nvPr/>
        </p:nvSpPr>
        <p:spPr>
          <a:xfrm>
            <a:off x="4041648" y="14538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Координация при разных предпочтениях</a:t>
            </a:r>
            <a:endParaRPr lang="en-US" sz="1500" dirty="0"/>
          </a:p>
        </p:txBody>
      </p:sp>
      <p:sp>
        <p:nvSpPr>
          <p:cNvPr id="13" name="text-53"/>
          <p:cNvSpPr txBox="1"/>
          <p:nvPr/>
        </p:nvSpPr>
        <p:spPr>
          <a:xfrm>
            <a:off x="3538728" y="2075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несколько равновесий</a:t>
            </a:r>
            <a:endParaRPr lang="en-US" sz="1300" dirty="0"/>
          </a:p>
        </p:txBody>
      </p:sp>
      <p:sp>
        <p:nvSpPr>
          <p:cNvPr id="14" name="box-54"/>
          <p:cNvSpPr/>
          <p:nvPr/>
        </p:nvSpPr>
        <p:spPr>
          <a:xfrm>
            <a:off x="6163056" y="132588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5" name="badge-55"/>
          <p:cNvSpPr/>
          <p:nvPr/>
        </p:nvSpPr>
        <p:spPr>
          <a:xfrm>
            <a:off x="6327648" y="149047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badgeText-56"/>
          <p:cNvSpPr txBox="1"/>
          <p:nvPr/>
        </p:nvSpPr>
        <p:spPr>
          <a:xfrm>
            <a:off x="6327648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-57"/>
          <p:cNvSpPr txBox="1"/>
          <p:nvPr/>
        </p:nvSpPr>
        <p:spPr>
          <a:xfrm>
            <a:off x="6848856" y="14538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Ястребы и голуби</a:t>
            </a:r>
            <a:endParaRPr lang="en-US" sz="1500" dirty="0"/>
          </a:p>
        </p:txBody>
      </p:sp>
      <p:sp>
        <p:nvSpPr>
          <p:cNvPr id="18" name="text-58"/>
          <p:cNvSpPr txBox="1"/>
          <p:nvPr/>
        </p:nvSpPr>
        <p:spPr>
          <a:xfrm>
            <a:off x="6345936" y="2075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антикоординация, смешанное равновесие</a:t>
            </a:r>
            <a:endParaRPr lang="en-US" sz="1300" dirty="0"/>
          </a:p>
        </p:txBody>
      </p:sp>
      <p:sp>
        <p:nvSpPr>
          <p:cNvPr id="19" name="box-59"/>
          <p:cNvSpPr/>
          <p:nvPr/>
        </p:nvSpPr>
        <p:spPr>
          <a:xfrm>
            <a:off x="8970264" y="132588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0" name="badge-60"/>
          <p:cNvSpPr/>
          <p:nvPr/>
        </p:nvSpPr>
        <p:spPr>
          <a:xfrm>
            <a:off x="9134856" y="149047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badgeText-61"/>
          <p:cNvSpPr txBox="1"/>
          <p:nvPr/>
        </p:nvSpPr>
        <p:spPr>
          <a:xfrm>
            <a:off x="9134856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-62"/>
          <p:cNvSpPr txBox="1"/>
          <p:nvPr/>
        </p:nvSpPr>
        <p:spPr>
          <a:xfrm>
            <a:off x="9656064" y="14538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Общественное благо</a:t>
            </a:r>
            <a:endParaRPr lang="en-US" sz="1500" dirty="0"/>
          </a:p>
        </p:txBody>
      </p:sp>
      <p:sp>
        <p:nvSpPr>
          <p:cNvPr id="23" name="text-63"/>
          <p:cNvSpPr txBox="1"/>
          <p:nvPr/>
        </p:nvSpPr>
        <p:spPr>
          <a:xfrm>
            <a:off x="9153144" y="2075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проблема безбилетника</a:t>
            </a:r>
            <a:endParaRPr lang="en-US" sz="1300" dirty="0"/>
          </a:p>
        </p:txBody>
      </p:sp>
      <p:sp>
        <p:nvSpPr>
          <p:cNvPr id="24" name="box-64"/>
          <p:cNvSpPr/>
          <p:nvPr/>
        </p:nvSpPr>
        <p:spPr>
          <a:xfrm>
            <a:off x="548640" y="27889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5" name="badge-65"/>
          <p:cNvSpPr/>
          <p:nvPr/>
        </p:nvSpPr>
        <p:spPr>
          <a:xfrm>
            <a:off x="713232" y="295351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badgeText-66"/>
          <p:cNvSpPr txBox="1"/>
          <p:nvPr/>
        </p:nvSpPr>
        <p:spPr>
          <a:xfrm>
            <a:off x="713232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-67"/>
          <p:cNvSpPr txBox="1"/>
          <p:nvPr/>
        </p:nvSpPr>
        <p:spPr>
          <a:xfrm>
            <a:off x="1234440" y="2916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Аукцион второй цены</a:t>
            </a:r>
            <a:endParaRPr lang="en-US" sz="1500" dirty="0"/>
          </a:p>
        </p:txBody>
      </p:sp>
      <p:sp>
        <p:nvSpPr>
          <p:cNvPr id="28" name="text-68"/>
          <p:cNvSpPr txBox="1"/>
          <p:nvPr/>
        </p:nvSpPr>
        <p:spPr>
          <a:xfrm>
            <a:off x="731520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слабое доминирование, правдивость</a:t>
            </a:r>
            <a:endParaRPr lang="en-US" sz="1300" dirty="0"/>
          </a:p>
        </p:txBody>
      </p:sp>
      <p:sp>
        <p:nvSpPr>
          <p:cNvPr id="29" name="box-69"/>
          <p:cNvSpPr/>
          <p:nvPr/>
        </p:nvSpPr>
        <p:spPr>
          <a:xfrm>
            <a:off x="3355848" y="27889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0" name="badge-70"/>
          <p:cNvSpPr/>
          <p:nvPr/>
        </p:nvSpPr>
        <p:spPr>
          <a:xfrm>
            <a:off x="3520440" y="295351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badgeText-71"/>
          <p:cNvSpPr txBox="1"/>
          <p:nvPr/>
        </p:nvSpPr>
        <p:spPr>
          <a:xfrm>
            <a:off x="35204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-72"/>
          <p:cNvSpPr txBox="1"/>
          <p:nvPr/>
        </p:nvSpPr>
        <p:spPr>
          <a:xfrm>
            <a:off x="4041648" y="2916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Ценовая конкуренция</a:t>
            </a:r>
            <a:endParaRPr lang="en-US" sz="1500" dirty="0"/>
          </a:p>
        </p:txBody>
      </p:sp>
      <p:sp>
        <p:nvSpPr>
          <p:cNvPr id="33" name="text-73"/>
          <p:cNvSpPr txBox="1"/>
          <p:nvPr/>
        </p:nvSpPr>
        <p:spPr>
          <a:xfrm>
            <a:off x="3538728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дилемма на рынке</a:t>
            </a:r>
            <a:endParaRPr lang="en-US" sz="1300" dirty="0"/>
          </a:p>
        </p:txBody>
      </p:sp>
      <p:sp>
        <p:nvSpPr>
          <p:cNvPr id="34" name="box-74"/>
          <p:cNvSpPr/>
          <p:nvPr/>
        </p:nvSpPr>
        <p:spPr>
          <a:xfrm>
            <a:off x="6163056" y="27889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5" name="badge-75"/>
          <p:cNvSpPr/>
          <p:nvPr/>
        </p:nvSpPr>
        <p:spPr>
          <a:xfrm>
            <a:off x="6327648" y="295351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badgeText-76"/>
          <p:cNvSpPr txBox="1"/>
          <p:nvPr/>
        </p:nvSpPr>
        <p:spPr>
          <a:xfrm>
            <a:off x="6327648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-77"/>
          <p:cNvSpPr txBox="1"/>
          <p:nvPr/>
        </p:nvSpPr>
        <p:spPr>
          <a:xfrm>
            <a:off x="6848856" y="2916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Координация агентов RL</a:t>
            </a:r>
            <a:endParaRPr lang="en-US" sz="1500" dirty="0"/>
          </a:p>
        </p:txBody>
      </p:sp>
      <p:sp>
        <p:nvSpPr>
          <p:cNvPr id="38" name="text-78"/>
          <p:cNvSpPr txBox="1"/>
          <p:nvPr/>
        </p:nvSpPr>
        <p:spPr>
          <a:xfrm>
            <a:off x="6345936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игра координации и обучение</a:t>
            </a:r>
            <a:endParaRPr lang="en-US" sz="1300" dirty="0"/>
          </a:p>
        </p:txBody>
      </p:sp>
      <p:sp>
        <p:nvSpPr>
          <p:cNvPr id="39" name="box-79"/>
          <p:cNvSpPr/>
          <p:nvPr/>
        </p:nvSpPr>
        <p:spPr>
          <a:xfrm>
            <a:off x="8970264" y="27889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40" name="badge-80"/>
          <p:cNvSpPr/>
          <p:nvPr/>
        </p:nvSpPr>
        <p:spPr>
          <a:xfrm>
            <a:off x="9134856" y="295351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badgeText-81"/>
          <p:cNvSpPr txBox="1"/>
          <p:nvPr/>
        </p:nvSpPr>
        <p:spPr>
          <a:xfrm>
            <a:off x="913485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-82"/>
          <p:cNvSpPr txBox="1"/>
          <p:nvPr/>
        </p:nvSpPr>
        <p:spPr>
          <a:xfrm>
            <a:off x="9656064" y="2916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Орёл и решка</a:t>
            </a:r>
            <a:endParaRPr lang="en-US" sz="1500" dirty="0"/>
          </a:p>
        </p:txBody>
      </p:sp>
      <p:sp>
        <p:nvSpPr>
          <p:cNvPr id="43" name="text-83"/>
          <p:cNvSpPr txBox="1"/>
          <p:nvPr/>
        </p:nvSpPr>
        <p:spPr>
          <a:xfrm>
            <a:off x="9153144" y="3538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смешанные стратегии, нулевая сумма</a:t>
            </a:r>
            <a:endParaRPr lang="en-US" sz="1300" dirty="0"/>
          </a:p>
        </p:txBody>
      </p:sp>
      <p:sp>
        <p:nvSpPr>
          <p:cNvPr id="44" name="box-84"/>
          <p:cNvSpPr/>
          <p:nvPr/>
        </p:nvSpPr>
        <p:spPr>
          <a:xfrm>
            <a:off x="548640" y="425196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BEAF3"/>
          </a:solidFill>
          <a:ln w="9525">
            <a:solidFill>
              <a:srgbClr val="FBEAF3"/>
            </a:solidFill>
            <a:prstDash val="solid"/>
          </a:ln>
        </p:spPr>
      </p:sp>
      <p:sp>
        <p:nvSpPr>
          <p:cNvPr id="45" name="badge-85"/>
          <p:cNvSpPr/>
          <p:nvPr/>
        </p:nvSpPr>
        <p:spPr>
          <a:xfrm>
            <a:off x="713232" y="441655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badgeText-86"/>
          <p:cNvSpPr txBox="1"/>
          <p:nvPr/>
        </p:nvSpPr>
        <p:spPr>
          <a:xfrm>
            <a:off x="713232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47" name="text-87"/>
          <p:cNvSpPr txBox="1"/>
          <p:nvPr/>
        </p:nvSpPr>
        <p:spPr>
          <a:xfrm>
            <a:off x="1234440" y="43799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Вход на рынок</a:t>
            </a:r>
            <a:endParaRPr lang="en-US" sz="1500" dirty="0"/>
          </a:p>
        </p:txBody>
      </p:sp>
      <p:sp>
        <p:nvSpPr>
          <p:cNvPr id="48" name="text-88"/>
          <p:cNvSpPr txBox="1"/>
          <p:nvPr/>
        </p:nvSpPr>
        <p:spPr>
          <a:xfrm>
            <a:off x="731520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обратная индукция</a:t>
            </a:r>
            <a:endParaRPr lang="en-US" sz="1300" dirty="0"/>
          </a:p>
        </p:txBody>
      </p:sp>
      <p:sp>
        <p:nvSpPr>
          <p:cNvPr id="49" name="box-89"/>
          <p:cNvSpPr/>
          <p:nvPr/>
        </p:nvSpPr>
        <p:spPr>
          <a:xfrm>
            <a:off x="3355848" y="425196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BEAF3"/>
          </a:solidFill>
          <a:ln w="9525">
            <a:solidFill>
              <a:srgbClr val="FBEAF3"/>
            </a:solidFill>
            <a:prstDash val="solid"/>
          </a:ln>
        </p:spPr>
      </p:sp>
      <p:sp>
        <p:nvSpPr>
          <p:cNvPr id="50" name="badge-90"/>
          <p:cNvSpPr/>
          <p:nvPr/>
        </p:nvSpPr>
        <p:spPr>
          <a:xfrm>
            <a:off x="3520440" y="441655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badgeText-91"/>
          <p:cNvSpPr txBox="1"/>
          <p:nvPr/>
        </p:nvSpPr>
        <p:spPr>
          <a:xfrm>
            <a:off x="3520440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52" name="text-92"/>
          <p:cNvSpPr txBox="1"/>
          <p:nvPr/>
        </p:nvSpPr>
        <p:spPr>
          <a:xfrm>
            <a:off x="4041648" y="43799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Повторяющаяся дилемма</a:t>
            </a:r>
            <a:endParaRPr lang="en-US" sz="1500" dirty="0"/>
          </a:p>
        </p:txBody>
      </p:sp>
      <p:sp>
        <p:nvSpPr>
          <p:cNvPr id="53" name="text-93"/>
          <p:cNvSpPr txBox="1"/>
          <p:nvPr/>
        </p:nvSpPr>
        <p:spPr>
          <a:xfrm>
            <a:off x="3538728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дисконтирование будущего</a:t>
            </a:r>
            <a:endParaRPr lang="en-US" sz="1300" dirty="0"/>
          </a:p>
        </p:txBody>
      </p:sp>
      <p:sp>
        <p:nvSpPr>
          <p:cNvPr id="54" name="box-94"/>
          <p:cNvSpPr/>
          <p:nvPr/>
        </p:nvSpPr>
        <p:spPr>
          <a:xfrm>
            <a:off x="6163056" y="425196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BEAF3"/>
          </a:solidFill>
          <a:ln w="9525">
            <a:solidFill>
              <a:srgbClr val="FBEAF3"/>
            </a:solidFill>
            <a:prstDash val="solid"/>
          </a:ln>
        </p:spPr>
      </p:sp>
      <p:sp>
        <p:nvSpPr>
          <p:cNvPr id="55" name="badge-95"/>
          <p:cNvSpPr/>
          <p:nvPr/>
        </p:nvSpPr>
        <p:spPr>
          <a:xfrm>
            <a:off x="6327648" y="441655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6" name="badgeText-96"/>
          <p:cNvSpPr txBox="1"/>
          <p:nvPr/>
        </p:nvSpPr>
        <p:spPr>
          <a:xfrm>
            <a:off x="6327648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57" name="text-97"/>
          <p:cNvSpPr txBox="1"/>
          <p:nvPr/>
        </p:nvSpPr>
        <p:spPr>
          <a:xfrm>
            <a:off x="6848856" y="43799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Вход при неполной информации</a:t>
            </a:r>
            <a:endParaRPr lang="en-US" sz="1500" dirty="0"/>
          </a:p>
        </p:txBody>
      </p:sp>
      <p:sp>
        <p:nvSpPr>
          <p:cNvPr id="58" name="text-98"/>
          <p:cNvSpPr txBox="1"/>
          <p:nvPr/>
        </p:nvSpPr>
        <p:spPr>
          <a:xfrm>
            <a:off x="6345936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ожидаемый выигрыш, порог</a:t>
            </a:r>
            <a:endParaRPr lang="en-US" sz="1300" dirty="0"/>
          </a:p>
        </p:txBody>
      </p:sp>
      <p:sp>
        <p:nvSpPr>
          <p:cNvPr id="59" name="box-99"/>
          <p:cNvSpPr/>
          <p:nvPr/>
        </p:nvSpPr>
        <p:spPr>
          <a:xfrm>
            <a:off x="8970264" y="425196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BEAF3"/>
          </a:solidFill>
          <a:ln w="9525">
            <a:solidFill>
              <a:srgbClr val="FBEAF3"/>
            </a:solidFill>
            <a:prstDash val="solid"/>
          </a:ln>
        </p:spPr>
      </p:sp>
      <p:sp>
        <p:nvSpPr>
          <p:cNvPr id="60" name="badge-100"/>
          <p:cNvSpPr/>
          <p:nvPr/>
        </p:nvSpPr>
        <p:spPr>
          <a:xfrm>
            <a:off x="9134856" y="4416552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1" name="badgeText-101"/>
          <p:cNvSpPr txBox="1"/>
          <p:nvPr/>
        </p:nvSpPr>
        <p:spPr>
          <a:xfrm>
            <a:off x="9134856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62" name="text-102"/>
          <p:cNvSpPr txBox="1"/>
          <p:nvPr/>
        </p:nvSpPr>
        <p:spPr>
          <a:xfrm>
            <a:off x="9656064" y="437997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Дуополия Курно</a:t>
            </a:r>
            <a:endParaRPr lang="en-US" sz="1500" dirty="0"/>
          </a:p>
        </p:txBody>
      </p:sp>
      <p:sp>
        <p:nvSpPr>
          <p:cNvPr id="63" name="text-103"/>
          <p:cNvSpPr txBox="1"/>
          <p:nvPr/>
        </p:nvSpPr>
        <p:spPr>
          <a:xfrm>
            <a:off x="9153144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непрерывные стратегии</a:t>
            </a:r>
            <a:endParaRPr lang="en-US" sz="1300" dirty="0"/>
          </a:p>
        </p:txBody>
      </p:sp>
      <p:sp>
        <p:nvSpPr>
          <p:cNvPr id="64" name="legend-104"/>
          <p:cNvSpPr/>
          <p:nvPr/>
        </p:nvSpPr>
        <p:spPr>
          <a:xfrm>
            <a:off x="54864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AEFFF"/>
          </a:solidFill>
          <a:ln w="9525">
            <a:solidFill>
              <a:srgbClr val="D3DAE4"/>
            </a:solidFill>
            <a:prstDash val="solid"/>
          </a:ln>
        </p:spPr>
      </p:sp>
      <p:sp>
        <p:nvSpPr>
          <p:cNvPr id="65" name="text-105"/>
          <p:cNvSpPr txBox="1"/>
          <p:nvPr/>
        </p:nvSpPr>
        <p:spPr>
          <a:xfrm>
            <a:off x="914400" y="5788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Занятие 1</a:t>
            </a:r>
            <a:endParaRPr lang="en-US" sz="1300" dirty="0"/>
          </a:p>
        </p:txBody>
      </p:sp>
      <p:sp>
        <p:nvSpPr>
          <p:cNvPr id="66" name="legend-106"/>
          <p:cNvSpPr/>
          <p:nvPr/>
        </p:nvSpPr>
        <p:spPr>
          <a:xfrm>
            <a:off x="246888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2F4F8"/>
          </a:solidFill>
          <a:ln w="9525">
            <a:solidFill>
              <a:srgbClr val="D3DAE4"/>
            </a:solidFill>
            <a:prstDash val="solid"/>
          </a:ln>
        </p:spPr>
      </p:sp>
      <p:sp>
        <p:nvSpPr>
          <p:cNvPr id="67" name="text-107"/>
          <p:cNvSpPr txBox="1"/>
          <p:nvPr/>
        </p:nvSpPr>
        <p:spPr>
          <a:xfrm>
            <a:off x="2834640" y="5788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Занятие 2</a:t>
            </a:r>
            <a:endParaRPr lang="en-US" sz="1300" dirty="0"/>
          </a:p>
        </p:txBody>
      </p:sp>
      <p:sp>
        <p:nvSpPr>
          <p:cNvPr id="68" name="legend-108"/>
          <p:cNvSpPr/>
          <p:nvPr/>
        </p:nvSpPr>
        <p:spPr>
          <a:xfrm>
            <a:off x="438912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EAF3"/>
          </a:solidFill>
          <a:ln w="9525">
            <a:solidFill>
              <a:srgbClr val="D3DAE4"/>
            </a:solidFill>
            <a:prstDash val="solid"/>
          </a:ln>
        </p:spPr>
      </p:sp>
      <p:sp>
        <p:nvSpPr>
          <p:cNvPr id="69" name="text-109"/>
          <p:cNvSpPr txBox="1"/>
          <p:nvPr/>
        </p:nvSpPr>
        <p:spPr>
          <a:xfrm>
            <a:off x="4754880" y="5788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Занятие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Игра — модель стратегической ситуации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</a:t>
            </a:r>
            <a:endParaRPr lang="en-US" sz="1100" dirty="0"/>
          </a:p>
        </p:txBody>
      </p:sp>
      <p:sp>
        <p:nvSpPr>
          <p:cNvPr id="4" name="box-110"/>
          <p:cNvSpPr/>
          <p:nvPr/>
        </p:nvSpPr>
        <p:spPr>
          <a:xfrm>
            <a:off x="548640" y="128016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5" name="note-111"/>
          <p:cNvSpPr txBox="1"/>
          <p:nvPr/>
        </p:nvSpPr>
        <p:spPr>
          <a:xfrm>
            <a:off x="749808" y="1417320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📌 Игра — модель ситуации, в которой результат каждого участника зависит не только от его решения, но и от решений других участников.</a:t>
            </a:r>
            <a:endParaRPr lang="en-US" sz="1700" dirty="0"/>
          </a:p>
        </p:txBody>
      </p:sp>
      <p:sp>
        <p:nvSpPr>
          <p:cNvPr id="6" name="badge-112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badgeText-113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-114"/>
          <p:cNvSpPr txBox="1"/>
          <p:nvPr/>
        </p:nvSpPr>
        <p:spPr>
          <a:xfrm>
            <a:off x="1234440" y="22860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Кто играет?</a:t>
            </a:r>
            <a:endParaRPr lang="en-US" sz="1800" dirty="0"/>
          </a:p>
        </p:txBody>
      </p:sp>
      <p:sp>
        <p:nvSpPr>
          <p:cNvPr id="9" name="text-115"/>
          <p:cNvSpPr txBox="1"/>
          <p:nvPr/>
        </p:nvSpPr>
        <p:spPr>
          <a:xfrm>
            <a:off x="4069080" y="22860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Игроки N</a:t>
            </a:r>
            <a:endParaRPr lang="en-US" sz="1700" dirty="0"/>
          </a:p>
        </p:txBody>
      </p:sp>
      <p:sp>
        <p:nvSpPr>
          <p:cNvPr id="10" name="text-116"/>
          <p:cNvSpPr txBox="1"/>
          <p:nvPr/>
        </p:nvSpPr>
        <p:spPr>
          <a:xfrm>
            <a:off x="6172200" y="2286000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Те, кто принимает решения и чьи интересы учитываются. Погода — не игрок: у неё нет целей</a:t>
            </a:r>
            <a:endParaRPr lang="en-US" sz="1400" dirty="0"/>
          </a:p>
        </p:txBody>
      </p:sp>
      <p:sp>
        <p:nvSpPr>
          <p:cNvPr id="11" name="badge-117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badgeText-118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119"/>
          <p:cNvSpPr txBox="1"/>
          <p:nvPr/>
        </p:nvSpPr>
        <p:spPr>
          <a:xfrm>
            <a:off x="1234440" y="30723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Что можно выбрать?</a:t>
            </a:r>
            <a:endParaRPr lang="en-US" sz="1800" dirty="0"/>
          </a:p>
        </p:txBody>
      </p:sp>
      <p:sp>
        <p:nvSpPr>
          <p:cNvPr id="14" name="text-120"/>
          <p:cNvSpPr txBox="1"/>
          <p:nvPr/>
        </p:nvSpPr>
        <p:spPr>
          <a:xfrm>
            <a:off x="4069080" y="30723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Стратегии S</a:t>
            </a:r>
            <a:pPr indent="0" marL="0">
              <a:buNone/>
            </a:pPr>
            <a:r>
              <a:rPr lang="en-US" sz="1700" b="1" baseline="-40000" dirty="0">
                <a:solidFill>
                  <a:schemeClr val="accent1"/>
                </a:solidFill>
              </a:rPr>
              <a:t>i</a:t>
            </a:r>
            <a:endParaRPr lang="en-US" sz="1700" dirty="0"/>
          </a:p>
        </p:txBody>
      </p:sp>
      <p:sp>
        <p:nvSpPr>
          <p:cNvPr id="15" name="text-121"/>
          <p:cNvSpPr txBox="1"/>
          <p:nvPr/>
        </p:nvSpPr>
        <p:spPr>
          <a:xfrm>
            <a:off x="6172200" y="3072384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Молчать или предать; высокая или низкая цена; в задаче 12 — любое число</a:t>
            </a:r>
            <a:endParaRPr lang="en-US" sz="1400" dirty="0"/>
          </a:p>
        </p:txBody>
      </p:sp>
      <p:sp>
        <p:nvSpPr>
          <p:cNvPr id="16" name="badge-12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badgeText-123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-124"/>
          <p:cNvSpPr txBox="1"/>
          <p:nvPr/>
        </p:nvSpPr>
        <p:spPr>
          <a:xfrm>
            <a:off x="1234440" y="38587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Что получает каждый?</a:t>
            </a:r>
            <a:endParaRPr lang="en-US" sz="1800" dirty="0"/>
          </a:p>
        </p:txBody>
      </p:sp>
      <p:sp>
        <p:nvSpPr>
          <p:cNvPr id="19" name="text-125"/>
          <p:cNvSpPr txBox="1"/>
          <p:nvPr/>
        </p:nvSpPr>
        <p:spPr>
          <a:xfrm>
            <a:off x="4069080" y="38587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Выигрыши u</a:t>
            </a:r>
            <a:pPr indent="0" marL="0">
              <a:buNone/>
            </a:pPr>
            <a:r>
              <a:rPr lang="en-US" sz="1700" b="1" baseline="-40000" dirty="0">
                <a:solidFill>
                  <a:schemeClr val="accent1"/>
                </a:solidFill>
              </a:rPr>
              <a:t>i</a:t>
            </a:r>
            <a:endParaRPr lang="en-US" sz="1700" dirty="0"/>
          </a:p>
        </p:txBody>
      </p:sp>
      <p:sp>
        <p:nvSpPr>
          <p:cNvPr id="20" name="text-126"/>
          <p:cNvSpPr txBox="1"/>
          <p:nvPr/>
        </p:nvSpPr>
        <p:spPr>
          <a:xfrm>
            <a:off x="6172200" y="3858768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обязательно деньги: число, отражающее, насколько игроку нравится исход</a:t>
            </a:r>
            <a:endParaRPr lang="en-US" sz="1400" dirty="0"/>
          </a:p>
        </p:txBody>
      </p:sp>
      <p:sp>
        <p:nvSpPr>
          <p:cNvPr id="21" name="badge-127"/>
          <p:cNvSpPr/>
          <p:nvPr/>
        </p:nvSpPr>
        <p:spPr>
          <a:xfrm>
            <a:off x="548640" y="4718304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adgeText-128"/>
          <p:cNvSpPr txBox="1"/>
          <p:nvPr/>
        </p:nvSpPr>
        <p:spPr>
          <a:xfrm>
            <a:off x="5486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-129"/>
          <p:cNvSpPr txBox="1"/>
          <p:nvPr/>
        </p:nvSpPr>
        <p:spPr>
          <a:xfrm>
            <a:off x="1234440" y="46451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Кто когда ходит?</a:t>
            </a:r>
            <a:endParaRPr lang="en-US" sz="1800" dirty="0"/>
          </a:p>
        </p:txBody>
      </p:sp>
      <p:sp>
        <p:nvSpPr>
          <p:cNvPr id="24" name="text-130"/>
          <p:cNvSpPr txBox="1"/>
          <p:nvPr/>
        </p:nvSpPr>
        <p:spPr>
          <a:xfrm>
            <a:off x="4069080" y="46451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Порядок ходов</a:t>
            </a:r>
            <a:endParaRPr lang="en-US" sz="1700" dirty="0"/>
          </a:p>
        </p:txBody>
      </p:sp>
      <p:sp>
        <p:nvSpPr>
          <p:cNvPr id="25" name="text-131"/>
          <p:cNvSpPr txBox="1"/>
          <p:nvPr/>
        </p:nvSpPr>
        <p:spPr>
          <a:xfrm>
            <a:off x="6172200" y="464515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Одновременно (никто не видит хода другого) или по очереди — задача 9</a:t>
            </a:r>
            <a:endParaRPr lang="en-US" sz="1400" dirty="0"/>
          </a:p>
        </p:txBody>
      </p:sp>
      <p:sp>
        <p:nvSpPr>
          <p:cNvPr id="26" name="badge-132"/>
          <p:cNvSpPr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badgeText-133"/>
          <p:cNvSpPr txBox="1"/>
          <p:nvPr/>
        </p:nvSpPr>
        <p:spPr>
          <a:xfrm>
            <a:off x="5486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-134"/>
          <p:cNvSpPr txBox="1"/>
          <p:nvPr/>
        </p:nvSpPr>
        <p:spPr>
          <a:xfrm>
            <a:off x="1234440" y="54315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Кто что знает?</a:t>
            </a:r>
            <a:endParaRPr lang="en-US" sz="1800" dirty="0"/>
          </a:p>
        </p:txBody>
      </p:sp>
      <p:sp>
        <p:nvSpPr>
          <p:cNvPr id="29" name="text-135"/>
          <p:cNvSpPr txBox="1"/>
          <p:nvPr/>
        </p:nvSpPr>
        <p:spPr>
          <a:xfrm>
            <a:off x="4069080" y="543153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Информация</a:t>
            </a:r>
            <a:endParaRPr lang="en-US" sz="1700" dirty="0"/>
          </a:p>
        </p:txBody>
      </p:sp>
      <p:sp>
        <p:nvSpPr>
          <p:cNvPr id="30" name="text-136"/>
          <p:cNvSpPr txBox="1"/>
          <p:nvPr/>
        </p:nvSpPr>
        <p:spPr>
          <a:xfrm>
            <a:off x="6172200" y="5431536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Полная или неполная: знают ли игроки выигрыши друг друга — задача 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Откуда взялась теория игр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</a:t>
            </a:r>
            <a:endParaRPr lang="en-US" sz="1100" dirty="0"/>
          </a:p>
        </p:txBody>
      </p:sp>
      <p:sp>
        <p:nvSpPr>
          <p:cNvPr id="4" name="axis-137"/>
          <p:cNvSpPr/>
          <p:nvPr/>
        </p:nvSpPr>
        <p:spPr>
          <a:xfrm>
            <a:off x="731520" y="2788920"/>
            <a:ext cx="10728655" cy="0"/>
          </a:xfrm>
          <a:prstGeom prst="line">
            <a:avLst/>
          </a:prstGeom>
          <a:noFill/>
          <a:ln w="38100">
            <a:solidFill>
              <a:srgbClr val="D3DAE4"/>
            </a:solidFill>
            <a:prstDash val="solid"/>
          </a:ln>
        </p:spPr>
      </p:sp>
      <p:sp>
        <p:nvSpPr>
          <p:cNvPr id="5" name="dot-138"/>
          <p:cNvSpPr/>
          <p:nvPr/>
        </p:nvSpPr>
        <p:spPr>
          <a:xfrm>
            <a:off x="1298448" y="2624328"/>
            <a:ext cx="329184" cy="32918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-139"/>
          <p:cNvSpPr txBox="1"/>
          <p:nvPr/>
        </p:nvSpPr>
        <p:spPr>
          <a:xfrm>
            <a:off x="54864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1838</a:t>
            </a:r>
            <a:endParaRPr lang="en-US" sz="3200" dirty="0"/>
          </a:p>
        </p:txBody>
      </p:sp>
      <p:sp>
        <p:nvSpPr>
          <p:cNvPr id="7" name="box-140"/>
          <p:cNvSpPr/>
          <p:nvPr/>
        </p:nvSpPr>
        <p:spPr>
          <a:xfrm>
            <a:off x="594360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8" name="text-141"/>
          <p:cNvSpPr txBox="1"/>
          <p:nvPr/>
        </p:nvSpPr>
        <p:spPr>
          <a:xfrm>
            <a:off x="73152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Курно</a:t>
            </a:r>
            <a:endParaRPr lang="en-US" sz="1600" dirty="0"/>
          </a:p>
        </p:txBody>
      </p:sp>
      <p:sp>
        <p:nvSpPr>
          <p:cNvPr id="9" name="text-142"/>
          <p:cNvSpPr txBox="1"/>
          <p:nvPr/>
        </p:nvSpPr>
        <p:spPr>
          <a:xfrm>
            <a:off x="731520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Модель дуополии — первое равновесие задолго до Нэша (задача 12)</a:t>
            </a:r>
            <a:endParaRPr lang="en-US" sz="1300" dirty="0"/>
          </a:p>
        </p:txBody>
      </p:sp>
      <p:sp>
        <p:nvSpPr>
          <p:cNvPr id="10" name="dot-143"/>
          <p:cNvSpPr/>
          <p:nvPr/>
        </p:nvSpPr>
        <p:spPr>
          <a:xfrm>
            <a:off x="3163824" y="2624328"/>
            <a:ext cx="329184" cy="32918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-144"/>
          <p:cNvSpPr txBox="1"/>
          <p:nvPr/>
        </p:nvSpPr>
        <p:spPr>
          <a:xfrm>
            <a:off x="2414016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1913</a:t>
            </a:r>
            <a:endParaRPr lang="en-US" sz="3200" dirty="0"/>
          </a:p>
        </p:txBody>
      </p:sp>
      <p:sp>
        <p:nvSpPr>
          <p:cNvPr id="12" name="box-145"/>
          <p:cNvSpPr/>
          <p:nvPr/>
        </p:nvSpPr>
        <p:spPr>
          <a:xfrm>
            <a:off x="2459736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3" name="text-146"/>
          <p:cNvSpPr txBox="1"/>
          <p:nvPr/>
        </p:nvSpPr>
        <p:spPr>
          <a:xfrm>
            <a:off x="2596896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Цермело</a:t>
            </a:r>
            <a:endParaRPr lang="en-US" sz="1600" dirty="0"/>
          </a:p>
        </p:txBody>
      </p:sp>
      <p:sp>
        <p:nvSpPr>
          <p:cNvPr id="14" name="text-147"/>
          <p:cNvSpPr txBox="1"/>
          <p:nvPr/>
        </p:nvSpPr>
        <p:spPr>
          <a:xfrm>
            <a:off x="2596896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Анализ шахмат: решение игры с конца (задача 9)</a:t>
            </a:r>
            <a:endParaRPr lang="en-US" sz="1300" dirty="0"/>
          </a:p>
        </p:txBody>
      </p:sp>
      <p:sp>
        <p:nvSpPr>
          <p:cNvPr id="15" name="dot-148"/>
          <p:cNvSpPr/>
          <p:nvPr/>
        </p:nvSpPr>
        <p:spPr>
          <a:xfrm>
            <a:off x="5029200" y="2624328"/>
            <a:ext cx="329184" cy="32918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-149"/>
          <p:cNvSpPr txBox="1"/>
          <p:nvPr/>
        </p:nvSpPr>
        <p:spPr>
          <a:xfrm>
            <a:off x="4279392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1928</a:t>
            </a:r>
            <a:endParaRPr lang="en-US" sz="3200" dirty="0"/>
          </a:p>
        </p:txBody>
      </p:sp>
      <p:sp>
        <p:nvSpPr>
          <p:cNvPr id="17" name="box-150"/>
          <p:cNvSpPr/>
          <p:nvPr/>
        </p:nvSpPr>
        <p:spPr>
          <a:xfrm>
            <a:off x="4325112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8" name="text-151"/>
          <p:cNvSpPr txBox="1"/>
          <p:nvPr/>
        </p:nvSpPr>
        <p:spPr>
          <a:xfrm>
            <a:off x="4462272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фон Нейман</a:t>
            </a:r>
            <a:endParaRPr lang="en-US" sz="1600" dirty="0"/>
          </a:p>
        </p:txBody>
      </p:sp>
      <p:sp>
        <p:nvSpPr>
          <p:cNvPr id="19" name="text-152"/>
          <p:cNvSpPr txBox="1"/>
          <p:nvPr/>
        </p:nvSpPr>
        <p:spPr>
          <a:xfrm>
            <a:off x="4462272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Теорема о минимаксе для игр с нулевой суммой (задача 8)</a:t>
            </a:r>
            <a:endParaRPr lang="en-US" sz="1300" dirty="0"/>
          </a:p>
        </p:txBody>
      </p:sp>
      <p:sp>
        <p:nvSpPr>
          <p:cNvPr id="20" name="dot-153"/>
          <p:cNvSpPr/>
          <p:nvPr/>
        </p:nvSpPr>
        <p:spPr>
          <a:xfrm>
            <a:off x="6894576" y="2624328"/>
            <a:ext cx="329184" cy="32918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-154"/>
          <p:cNvSpPr txBox="1"/>
          <p:nvPr/>
        </p:nvSpPr>
        <p:spPr>
          <a:xfrm>
            <a:off x="6144768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1944</a:t>
            </a:r>
            <a:endParaRPr lang="en-US" sz="3200" dirty="0"/>
          </a:p>
        </p:txBody>
      </p:sp>
      <p:sp>
        <p:nvSpPr>
          <p:cNvPr id="22" name="box-155"/>
          <p:cNvSpPr/>
          <p:nvPr/>
        </p:nvSpPr>
        <p:spPr>
          <a:xfrm>
            <a:off x="6190488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3" name="text-156"/>
          <p:cNvSpPr txBox="1"/>
          <p:nvPr/>
        </p:nvSpPr>
        <p:spPr>
          <a:xfrm>
            <a:off x="6327648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фон Нейман и Моргенштерн</a:t>
            </a:r>
            <a:endParaRPr lang="en-US" sz="1600" dirty="0"/>
          </a:p>
        </p:txBody>
      </p:sp>
      <p:sp>
        <p:nvSpPr>
          <p:cNvPr id="24" name="text-157"/>
          <p:cNvSpPr txBox="1"/>
          <p:nvPr/>
        </p:nvSpPr>
        <p:spPr>
          <a:xfrm>
            <a:off x="6327648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Книга «Теория игр и экономическое поведение»</a:t>
            </a:r>
            <a:endParaRPr lang="en-US" sz="1300" dirty="0"/>
          </a:p>
        </p:txBody>
      </p:sp>
      <p:sp>
        <p:nvSpPr>
          <p:cNvPr id="25" name="dot-158"/>
          <p:cNvSpPr/>
          <p:nvPr/>
        </p:nvSpPr>
        <p:spPr>
          <a:xfrm>
            <a:off x="8759952" y="2624328"/>
            <a:ext cx="329184" cy="3291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-159"/>
          <p:cNvSpPr txBox="1"/>
          <p:nvPr/>
        </p:nvSpPr>
        <p:spPr>
          <a:xfrm>
            <a:off x="8010144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1950</a:t>
            </a:r>
            <a:endParaRPr lang="en-US" sz="3200" dirty="0"/>
          </a:p>
        </p:txBody>
      </p:sp>
      <p:sp>
        <p:nvSpPr>
          <p:cNvPr id="27" name="box-160"/>
          <p:cNvSpPr/>
          <p:nvPr/>
        </p:nvSpPr>
        <p:spPr>
          <a:xfrm>
            <a:off x="8055864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8" name="text-161"/>
          <p:cNvSpPr txBox="1"/>
          <p:nvPr/>
        </p:nvSpPr>
        <p:spPr>
          <a:xfrm>
            <a:off x="8193024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Нэш</a:t>
            </a:r>
            <a:endParaRPr lang="en-US" sz="1600" dirty="0"/>
          </a:p>
        </p:txBody>
      </p:sp>
      <p:sp>
        <p:nvSpPr>
          <p:cNvPr id="29" name="text-162"/>
          <p:cNvSpPr txBox="1"/>
          <p:nvPr/>
        </p:nvSpPr>
        <p:spPr>
          <a:xfrm>
            <a:off x="8193024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Равновесие, которое существует в любой конечной игре</a:t>
            </a:r>
            <a:endParaRPr lang="en-US" sz="1300" dirty="0"/>
          </a:p>
        </p:txBody>
      </p:sp>
      <p:sp>
        <p:nvSpPr>
          <p:cNvPr id="30" name="dot-163"/>
          <p:cNvSpPr/>
          <p:nvPr/>
        </p:nvSpPr>
        <p:spPr>
          <a:xfrm>
            <a:off x="10625328" y="2624328"/>
            <a:ext cx="329184" cy="32918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-164"/>
          <p:cNvSpPr txBox="1"/>
          <p:nvPr/>
        </p:nvSpPr>
        <p:spPr>
          <a:xfrm>
            <a:off x="987552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1994</a:t>
            </a:r>
            <a:endParaRPr lang="en-US" sz="3200" dirty="0"/>
          </a:p>
        </p:txBody>
      </p:sp>
      <p:sp>
        <p:nvSpPr>
          <p:cNvPr id="32" name="box-165"/>
          <p:cNvSpPr/>
          <p:nvPr/>
        </p:nvSpPr>
        <p:spPr>
          <a:xfrm>
            <a:off x="9921240" y="3246120"/>
            <a:ext cx="1737360" cy="251460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3" name="text-166"/>
          <p:cNvSpPr txBox="1"/>
          <p:nvPr/>
        </p:nvSpPr>
        <p:spPr>
          <a:xfrm>
            <a:off x="1005840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Нэш, Харсаньи, Зельтен</a:t>
            </a:r>
            <a:endParaRPr lang="en-US" sz="1600" dirty="0"/>
          </a:p>
        </p:txBody>
      </p:sp>
      <p:sp>
        <p:nvSpPr>
          <p:cNvPr id="34" name="text-167"/>
          <p:cNvSpPr txBox="1"/>
          <p:nvPr/>
        </p:nvSpPr>
        <p:spPr>
          <a:xfrm>
            <a:off x="10058400" y="4206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Нобелевская премия по экономике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Нормальная форма игры и биматрица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</a:t>
            </a:r>
            <a:endParaRPr lang="en-US" sz="1100" dirty="0"/>
          </a:p>
        </p:txBody>
      </p:sp>
      <p:sp>
        <p:nvSpPr>
          <p:cNvPr id="4" name="text-168"/>
          <p:cNvSpPr txBox="1"/>
          <p:nvPr/>
        </p:nvSpPr>
        <p:spPr>
          <a:xfrm>
            <a:off x="548640" y="13258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 = ⟨N, {S</a:t>
            </a:r>
            <a:pPr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}, {u</a:t>
            </a:r>
            <a:pPr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}⟩</a:t>
            </a:r>
            <a:endParaRPr lang="en-US" sz="3200" dirty="0"/>
          </a:p>
        </p:txBody>
      </p:sp>
      <p:sp>
        <p:nvSpPr>
          <p:cNvPr id="5" name="dot-169"/>
          <p:cNvSpPr/>
          <p:nvPr/>
        </p:nvSpPr>
        <p:spPr>
          <a:xfrm>
            <a:off x="566928" y="2313432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-170"/>
          <p:cNvSpPr txBox="1"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 — множество игроков</a:t>
            </a:r>
            <a:endParaRPr lang="en-US" sz="1700" dirty="0"/>
          </a:p>
        </p:txBody>
      </p:sp>
      <p:sp>
        <p:nvSpPr>
          <p:cNvPr id="7" name="dot-171"/>
          <p:cNvSpPr/>
          <p:nvPr/>
        </p:nvSpPr>
        <p:spPr>
          <a:xfrm>
            <a:off x="566928" y="2770632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-172"/>
          <p:cNvSpPr txBox="1"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стратегии игрока i</a:t>
            </a:r>
            <a:endParaRPr lang="en-US" sz="1700" dirty="0"/>
          </a:p>
        </p:txBody>
      </p:sp>
      <p:sp>
        <p:nvSpPr>
          <p:cNvPr id="9" name="dot-173"/>
          <p:cNvSpPr/>
          <p:nvPr/>
        </p:nvSpPr>
        <p:spPr>
          <a:xfrm>
            <a:off x="566928" y="3227832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-174"/>
          <p:cNvSpPr txBox="1"/>
          <p:nvPr/>
        </p:nvSpPr>
        <p:spPr>
          <a:xfrm>
            <a:off x="82296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(s) — выигрыш игрока i при профиле s = (s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s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11" name="dot-175"/>
          <p:cNvSpPr/>
          <p:nvPr/>
        </p:nvSpPr>
        <p:spPr>
          <a:xfrm>
            <a:off x="566928" y="3730752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-176"/>
          <p:cNvSpPr txBox="1"/>
          <p:nvPr/>
        </p:nvSpPr>
        <p:spPr>
          <a:xfrm>
            <a:off x="82296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Профиль — одна клетка матрицы: полный перечень выборов всех игроков</a:t>
            </a:r>
            <a:endParaRPr lang="en-US" sz="1700" dirty="0"/>
          </a:p>
        </p:txBody>
      </p:sp>
      <p:sp>
        <p:nvSpPr>
          <p:cNvPr id="13" name="dot-177"/>
          <p:cNvSpPr/>
          <p:nvPr/>
        </p:nvSpPr>
        <p:spPr>
          <a:xfrm>
            <a:off x="566928" y="4507992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-178"/>
          <p:cNvSpPr txBox="1"/>
          <p:nvPr/>
        </p:nvSpPr>
        <p:spPr>
          <a:xfrm>
            <a:off x="822960" y="4389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Биматрица: в каждой клетке два числа, по одному на игрока</a:t>
            </a:r>
            <a:endParaRPr lang="en-US" sz="1700" dirty="0"/>
          </a:p>
        </p:txBody>
      </p:sp>
      <p:sp>
        <p:nvSpPr>
          <p:cNvPr id="15" name="box-179"/>
          <p:cNvSpPr/>
          <p:nvPr/>
        </p:nvSpPr>
        <p:spPr>
          <a:xfrm>
            <a:off x="548640" y="516636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note-180"/>
          <p:cNvSpPr txBox="1"/>
          <p:nvPr/>
        </p:nvSpPr>
        <p:spPr>
          <a:xfrm>
            <a:off x="749808" y="530352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Правило чтения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Строка — выбор игрока 1, столбец — выбор игрока 2. Левое (синее) число — выигрыш игрока 1, правое (лиловое) — игрока 2.</a:t>
            </a:r>
            <a:endParaRPr lang="en-US" sz="1600" dirty="0"/>
          </a:p>
        </p:txBody>
      </p:sp>
      <p:sp>
        <p:nvSpPr>
          <p:cNvPr id="17" name="text-181"/>
          <p:cNvSpPr txBox="1"/>
          <p:nvPr/>
        </p:nvSpPr>
        <p:spPr>
          <a:xfrm>
            <a:off x="612648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18" name="text-182"/>
          <p:cNvSpPr txBox="1"/>
          <p:nvPr/>
        </p:nvSpPr>
        <p:spPr>
          <a:xfrm>
            <a:off x="731520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</a:t>
            </a:r>
            <a:endParaRPr lang="en-US" sz="1600" dirty="0"/>
          </a:p>
        </p:txBody>
      </p:sp>
      <p:sp>
        <p:nvSpPr>
          <p:cNvPr id="19" name="text-183"/>
          <p:cNvSpPr txBox="1"/>
          <p:nvPr/>
        </p:nvSpPr>
        <p:spPr>
          <a:xfrm>
            <a:off x="9528048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</a:t>
            </a:r>
            <a:endParaRPr lang="en-US" sz="1600" dirty="0"/>
          </a:p>
        </p:txBody>
      </p:sp>
      <p:sp>
        <p:nvSpPr>
          <p:cNvPr id="20" name="text-184"/>
          <p:cNvSpPr txBox="1"/>
          <p:nvPr/>
        </p:nvSpPr>
        <p:spPr>
          <a:xfrm>
            <a:off x="6126480" y="21305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</a:t>
            </a:r>
            <a:endParaRPr lang="en-US" sz="1600" dirty="0"/>
          </a:p>
        </p:txBody>
      </p:sp>
      <p:sp>
        <p:nvSpPr>
          <p:cNvPr id="21" name="cell-185"/>
          <p:cNvSpPr/>
          <p:nvPr/>
        </p:nvSpPr>
        <p:spPr>
          <a:xfrm>
            <a:off x="7315200" y="2130552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2" name="pay-186"/>
          <p:cNvSpPr txBox="1"/>
          <p:nvPr/>
        </p:nvSpPr>
        <p:spPr>
          <a:xfrm>
            <a:off x="7315200" y="21305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1"/>
                </a:solidFill>
              </a:rPr>
              <a:t>11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2"/>
                </a:solidFill>
              </a:rPr>
              <a:t>11</a:t>
            </a:r>
            <a:endParaRPr lang="en-US" sz="2600" dirty="0"/>
          </a:p>
        </p:txBody>
      </p:sp>
      <p:sp>
        <p:nvSpPr>
          <p:cNvPr id="23" name="cell-187"/>
          <p:cNvSpPr/>
          <p:nvPr/>
        </p:nvSpPr>
        <p:spPr>
          <a:xfrm>
            <a:off x="9528048" y="2130552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4" name="pay-188"/>
          <p:cNvSpPr txBox="1"/>
          <p:nvPr/>
        </p:nvSpPr>
        <p:spPr>
          <a:xfrm>
            <a:off x="9528048" y="21305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1"/>
                </a:solidFill>
              </a:rPr>
              <a:t>12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2"/>
                </a:solidFill>
              </a:rPr>
              <a:t>12</a:t>
            </a:r>
            <a:endParaRPr lang="en-US" sz="2600" dirty="0"/>
          </a:p>
        </p:txBody>
      </p:sp>
      <p:sp>
        <p:nvSpPr>
          <p:cNvPr id="25" name="text-189"/>
          <p:cNvSpPr txBox="1"/>
          <p:nvPr/>
        </p:nvSpPr>
        <p:spPr>
          <a:xfrm>
            <a:off x="6126480" y="3291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</a:t>
            </a:r>
            <a:endParaRPr lang="en-US" sz="1600" dirty="0"/>
          </a:p>
        </p:txBody>
      </p:sp>
      <p:sp>
        <p:nvSpPr>
          <p:cNvPr id="26" name="cell-190"/>
          <p:cNvSpPr/>
          <p:nvPr/>
        </p:nvSpPr>
        <p:spPr>
          <a:xfrm>
            <a:off x="7315200" y="32918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7" name="pay-191"/>
          <p:cNvSpPr txBox="1"/>
          <p:nvPr/>
        </p:nvSpPr>
        <p:spPr>
          <a:xfrm>
            <a:off x="7315200" y="3291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1"/>
                </a:solidFill>
              </a:rPr>
              <a:t>21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2"/>
                </a:solidFill>
              </a:rPr>
              <a:t>21</a:t>
            </a:r>
            <a:endParaRPr lang="en-US" sz="2600" dirty="0"/>
          </a:p>
        </p:txBody>
      </p:sp>
      <p:sp>
        <p:nvSpPr>
          <p:cNvPr id="28" name="cell-192"/>
          <p:cNvSpPr/>
          <p:nvPr/>
        </p:nvSpPr>
        <p:spPr>
          <a:xfrm>
            <a:off x="9528048" y="32918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9" name="pay-193"/>
          <p:cNvSpPr txBox="1"/>
          <p:nvPr/>
        </p:nvSpPr>
        <p:spPr>
          <a:xfrm>
            <a:off x="9528048" y="3291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1"/>
                </a:solidFill>
              </a:rPr>
              <a:t>22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accent2"/>
                </a:solidFill>
              </a:rPr>
              <a:t>22</a:t>
            </a:r>
            <a:endParaRPr lang="en-US" sz="2600" dirty="0"/>
          </a:p>
        </p:txBody>
      </p:sp>
      <p:sp>
        <p:nvSpPr>
          <p:cNvPr id="30" name="text-194"/>
          <p:cNvSpPr txBox="1"/>
          <p:nvPr/>
        </p:nvSpPr>
        <p:spPr>
          <a:xfrm>
            <a:off x="731520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— выигрыши игрока 1,  b — игрока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Читаем матрицу: дилемма заключённого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</a:t>
            </a:r>
            <a:endParaRPr lang="en-US" sz="1100" dirty="0"/>
          </a:p>
        </p:txBody>
      </p:sp>
      <p:sp>
        <p:nvSpPr>
          <p:cNvPr id="4" name="text-195"/>
          <p:cNvSpPr txBox="1"/>
          <p:nvPr/>
        </p:nvSpPr>
        <p:spPr>
          <a:xfrm>
            <a:off x="548640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5" name="text-196"/>
          <p:cNvSpPr txBox="1"/>
          <p:nvPr/>
        </p:nvSpPr>
        <p:spPr>
          <a:xfrm>
            <a:off x="2057400" y="1417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Молчать</a:t>
            </a:r>
            <a:endParaRPr lang="en-US" sz="1600" dirty="0"/>
          </a:p>
        </p:txBody>
      </p:sp>
      <p:sp>
        <p:nvSpPr>
          <p:cNvPr id="6" name="text-197"/>
          <p:cNvSpPr txBox="1"/>
          <p:nvPr/>
        </p:nvSpPr>
        <p:spPr>
          <a:xfrm>
            <a:off x="4224528" y="1417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Предать</a:t>
            </a:r>
            <a:endParaRPr lang="en-US" sz="1600" dirty="0"/>
          </a:p>
        </p:txBody>
      </p:sp>
      <p:sp>
        <p:nvSpPr>
          <p:cNvPr id="7" name="text-198"/>
          <p:cNvSpPr txBox="1"/>
          <p:nvPr/>
        </p:nvSpPr>
        <p:spPr>
          <a:xfrm>
            <a:off x="548640" y="194767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Молчать</a:t>
            </a:r>
            <a:endParaRPr lang="en-US" sz="1600" dirty="0"/>
          </a:p>
        </p:txBody>
      </p:sp>
      <p:sp>
        <p:nvSpPr>
          <p:cNvPr id="8" name="cell-199"/>
          <p:cNvSpPr/>
          <p:nvPr/>
        </p:nvSpPr>
        <p:spPr>
          <a:xfrm>
            <a:off x="2057400" y="194767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9" name="pay-200"/>
          <p:cNvSpPr txBox="1"/>
          <p:nvPr/>
        </p:nvSpPr>
        <p:spPr>
          <a:xfrm>
            <a:off x="2057400" y="194767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/>
          </a:p>
        </p:txBody>
      </p:sp>
      <p:sp>
        <p:nvSpPr>
          <p:cNvPr id="10" name="cell-201"/>
          <p:cNvSpPr/>
          <p:nvPr/>
        </p:nvSpPr>
        <p:spPr>
          <a:xfrm>
            <a:off x="4224528" y="194767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28575">
            <a:solidFill>
              <a:srgbClr val="17202C"/>
            </a:solidFill>
            <a:prstDash val="solid"/>
          </a:ln>
        </p:spPr>
      </p:sp>
      <p:sp>
        <p:nvSpPr>
          <p:cNvPr id="11" name="pay-202"/>
          <p:cNvSpPr txBox="1"/>
          <p:nvPr/>
        </p:nvSpPr>
        <p:spPr>
          <a:xfrm>
            <a:off x="4224528" y="194767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5</a:t>
            </a:r>
            <a:endParaRPr lang="en-US" sz="2600" dirty="0"/>
          </a:p>
        </p:txBody>
      </p:sp>
      <p:sp>
        <p:nvSpPr>
          <p:cNvPr id="12" name="text-203"/>
          <p:cNvSpPr txBox="1"/>
          <p:nvPr/>
        </p:nvSpPr>
        <p:spPr>
          <a:xfrm>
            <a:off x="548640" y="310896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Предать</a:t>
            </a:r>
            <a:endParaRPr lang="en-US" sz="1600" dirty="0"/>
          </a:p>
        </p:txBody>
      </p:sp>
      <p:sp>
        <p:nvSpPr>
          <p:cNvPr id="13" name="cell-204"/>
          <p:cNvSpPr/>
          <p:nvPr/>
        </p:nvSpPr>
        <p:spPr>
          <a:xfrm>
            <a:off x="2057400" y="310896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pay-205"/>
          <p:cNvSpPr txBox="1"/>
          <p:nvPr/>
        </p:nvSpPr>
        <p:spPr>
          <a:xfrm>
            <a:off x="2057400" y="31089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cell-206"/>
          <p:cNvSpPr/>
          <p:nvPr/>
        </p:nvSpPr>
        <p:spPr>
          <a:xfrm>
            <a:off x="4224528" y="310896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pay-207"/>
          <p:cNvSpPr txBox="1"/>
          <p:nvPr/>
        </p:nvSpPr>
        <p:spPr>
          <a:xfrm>
            <a:off x="4224528" y="31089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</a:t>
            </a:r>
            <a:endParaRPr lang="en-US" sz="2600" dirty="0"/>
          </a:p>
        </p:txBody>
      </p:sp>
      <p:sp>
        <p:nvSpPr>
          <p:cNvPr id="17" name="box-208"/>
          <p:cNvSpPr/>
          <p:nvPr/>
        </p:nvSpPr>
        <p:spPr>
          <a:xfrm>
            <a:off x="6812280" y="1417320"/>
            <a:ext cx="4846320" cy="1600200"/>
          </a:xfrm>
          <a:prstGeom prst="roundRect">
            <a:avLst>
              <a:gd name="adj" fmla="val 6857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8" name="note-209"/>
          <p:cNvSpPr txBox="1"/>
          <p:nvPr/>
        </p:nvSpPr>
        <p:spPr>
          <a:xfrm>
            <a:off x="7013448" y="1554480"/>
            <a:ext cx="4443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Клетка (Молчать, Предать)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Игрок 1 молчал, игрок 2 предал. Игрок 1 получает 0, игрок 2 — 5.</a:t>
            </a:r>
            <a:endParaRPr lang="en-US" sz="1600" dirty="0"/>
          </a:p>
        </p:txBody>
      </p:sp>
      <p:sp>
        <p:nvSpPr>
          <p:cNvPr id="19" name="box-210"/>
          <p:cNvSpPr/>
          <p:nvPr/>
        </p:nvSpPr>
        <p:spPr>
          <a:xfrm>
            <a:off x="6812280" y="320040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0" name="note-211"/>
          <p:cNvSpPr txBox="1"/>
          <p:nvPr/>
        </p:nvSpPr>
        <p:spPr>
          <a:xfrm>
            <a:off x="7013448" y="3337560"/>
            <a:ext cx="4443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✏️ Прочитайте сами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Что означает клетка (Предать, Молчать)?</a:t>
            </a:r>
            <a:endParaRPr lang="en-US" sz="1600" dirty="0"/>
          </a:p>
        </p:txBody>
      </p:sp>
      <p:sp>
        <p:nvSpPr>
          <p:cNvPr id="21" name="box-212"/>
          <p:cNvSpPr/>
          <p:nvPr/>
        </p:nvSpPr>
        <p:spPr>
          <a:xfrm>
            <a:off x="6812280" y="461772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2" name="note-213"/>
          <p:cNvSpPr txBox="1"/>
          <p:nvPr/>
        </p:nvSpPr>
        <p:spPr>
          <a:xfrm>
            <a:off x="7013448" y="4754880"/>
            <a:ext cx="4443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Симметричная игра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Если поменять игроков местами, матрица не изменится. Симметричны задачи 1, 3, 4, 6, 7; задача 2 — нет.</a:t>
            </a:r>
            <a:endParaRPr lang="en-US" sz="1600" dirty="0"/>
          </a:p>
        </p:txBody>
      </p:sp>
      <p:sp>
        <p:nvSpPr>
          <p:cNvPr id="23" name="text-214"/>
          <p:cNvSpPr txBox="1"/>
          <p:nvPr/>
        </p:nvSpPr>
        <p:spPr>
          <a:xfrm>
            <a:off x="54864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Выигрыши условные: чем больше число, тем лучше исход для игрока.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Доминирование: выбор не зависит от соперника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5</a:t>
            </a:r>
            <a:endParaRPr lang="en-US" sz="1100" dirty="0"/>
          </a:p>
        </p:txBody>
      </p:sp>
      <p:sp>
        <p:nvSpPr>
          <p:cNvPr id="4" name="box-215"/>
          <p:cNvSpPr/>
          <p:nvPr/>
        </p:nvSpPr>
        <p:spPr>
          <a:xfrm>
            <a:off x="548640" y="132588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5" name="text-216"/>
          <p:cNvSpPr txBox="1"/>
          <p:nvPr/>
        </p:nvSpPr>
        <p:spPr>
          <a:xfrm>
            <a:off x="7772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Строгое доминирование</a:t>
            </a:r>
            <a:endParaRPr lang="en-US" sz="2000" dirty="0"/>
          </a:p>
        </p:txBody>
      </p:sp>
      <p:sp>
        <p:nvSpPr>
          <p:cNvPr id="6" name="text-217"/>
          <p:cNvSpPr txBox="1"/>
          <p:nvPr/>
        </p:nvSpPr>
        <p:spPr>
          <a:xfrm>
            <a:off x="77724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,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) &gt; u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′,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)  при любых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endParaRPr lang="en-US" sz="1900" dirty="0"/>
          </a:p>
        </p:txBody>
      </p:sp>
      <p:sp>
        <p:nvSpPr>
          <p:cNvPr id="7" name="text-218"/>
          <p:cNvSpPr txBox="1"/>
          <p:nvPr/>
        </p:nvSpPr>
        <p:spPr>
          <a:xfrm>
            <a:off x="77724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Стратегия s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лучше s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′ при любом выборе соперника. Неравенство строгое.</a:t>
            </a:r>
            <a:endParaRPr lang="en-US" sz="1500" dirty="0"/>
          </a:p>
        </p:txBody>
      </p:sp>
      <p:sp>
        <p:nvSpPr>
          <p:cNvPr id="8" name="box-219"/>
          <p:cNvSpPr/>
          <p:nvPr/>
        </p:nvSpPr>
        <p:spPr>
          <a:xfrm>
            <a:off x="6217920" y="1325880"/>
            <a:ext cx="5422392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9" name="text-220"/>
          <p:cNvSpPr txBox="1"/>
          <p:nvPr/>
        </p:nvSpPr>
        <p:spPr>
          <a:xfrm>
            <a:off x="644652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Слабое доминирование</a:t>
            </a:r>
            <a:endParaRPr lang="en-US" sz="2000" dirty="0"/>
          </a:p>
        </p:txBody>
      </p:sp>
      <p:sp>
        <p:nvSpPr>
          <p:cNvPr id="10" name="text-221"/>
          <p:cNvSpPr txBox="1"/>
          <p:nvPr/>
        </p:nvSpPr>
        <p:spPr>
          <a:xfrm>
            <a:off x="644652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,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) ≥ u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′,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)  при любых s</a:t>
            </a:r>
            <a:pPr indent="0" marL="0"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−i</a:t>
            </a:r>
            <a:endParaRPr lang="en-US" sz="1900" dirty="0"/>
          </a:p>
        </p:txBody>
      </p:sp>
      <p:sp>
        <p:nvSpPr>
          <p:cNvPr id="11" name="text-222"/>
          <p:cNvSpPr txBox="1"/>
          <p:nvPr/>
        </p:nvSpPr>
        <p:spPr>
          <a:xfrm>
            <a:off x="644652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Нигде не хуже и хотя бы при одном s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−i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строго лучше. Встретится в аукционе (задача 5).</a:t>
            </a:r>
            <a:endParaRPr lang="en-US" sz="1500" dirty="0"/>
          </a:p>
        </p:txBody>
      </p:sp>
      <p:sp>
        <p:nvSpPr>
          <p:cNvPr id="12" name="text-223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Пример: дилемма заключённого</a:t>
            </a:r>
            <a:endParaRPr lang="en-US" sz="1800" dirty="0"/>
          </a:p>
        </p:txBody>
      </p:sp>
      <p:sp>
        <p:nvSpPr>
          <p:cNvPr id="13" name="box-224"/>
          <p:cNvSpPr/>
          <p:nvPr/>
        </p:nvSpPr>
        <p:spPr>
          <a:xfrm>
            <a:off x="548640" y="4389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text-225"/>
          <p:cNvSpPr txBox="1"/>
          <p:nvPr/>
        </p:nvSpPr>
        <p:spPr>
          <a:xfrm>
            <a:off x="7315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Игрок 2 молчит</a:t>
            </a:r>
            <a:endParaRPr lang="en-US" sz="1400" dirty="0"/>
          </a:p>
        </p:txBody>
      </p:sp>
      <p:sp>
        <p:nvSpPr>
          <p:cNvPr id="15" name="text-226"/>
          <p:cNvSpPr txBox="1"/>
          <p:nvPr/>
        </p:nvSpPr>
        <p:spPr>
          <a:xfrm>
            <a:off x="73152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Предать 5  &gt;  Молчать 3</a:t>
            </a:r>
            <a:endParaRPr lang="en-US" sz="1800" dirty="0"/>
          </a:p>
        </p:txBody>
      </p:sp>
      <p:sp>
        <p:nvSpPr>
          <p:cNvPr id="16" name="box-227"/>
          <p:cNvSpPr/>
          <p:nvPr/>
        </p:nvSpPr>
        <p:spPr>
          <a:xfrm>
            <a:off x="3383280" y="43891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7" name="text-228"/>
          <p:cNvSpPr txBox="1"/>
          <p:nvPr/>
        </p:nvSpPr>
        <p:spPr>
          <a:xfrm>
            <a:off x="356616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Игрок 2 предаёт</a:t>
            </a:r>
            <a:endParaRPr lang="en-US" sz="1400" dirty="0"/>
          </a:p>
        </p:txBody>
      </p:sp>
      <p:sp>
        <p:nvSpPr>
          <p:cNvPr id="18" name="text-229"/>
          <p:cNvSpPr txBox="1"/>
          <p:nvPr/>
        </p:nvSpPr>
        <p:spPr>
          <a:xfrm>
            <a:off x="356616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Предать 1  &gt;  Молчать 0</a:t>
            </a:r>
            <a:endParaRPr lang="en-US" sz="1800" dirty="0"/>
          </a:p>
        </p:txBody>
      </p:sp>
      <p:sp>
        <p:nvSpPr>
          <p:cNvPr id="19" name="box-230"/>
          <p:cNvSpPr/>
          <p:nvPr/>
        </p:nvSpPr>
        <p:spPr>
          <a:xfrm>
            <a:off x="6217920" y="3886200"/>
            <a:ext cx="5422392" cy="1600200"/>
          </a:xfrm>
          <a:prstGeom prst="roundRect">
            <a:avLst>
              <a:gd name="adj" fmla="val 6857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0" name="note-231"/>
          <p:cNvSpPr txBox="1"/>
          <p:nvPr/>
        </p:nvSpPr>
        <p:spPr>
          <a:xfrm>
            <a:off x="6419088" y="4023360"/>
            <a:ext cx="5020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Главное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Если у игрока есть строго доминирующая стратегия, рациональный игрок её выбирает. Ему не нужно знать ни выигрыши, ни намерения соперника.</a:t>
            </a:r>
            <a:endParaRPr lang="en-US" sz="1600" dirty="0"/>
          </a:p>
        </p:txBody>
      </p:sp>
      <p:sp>
        <p:nvSpPr>
          <p:cNvPr id="21" name="text-232"/>
          <p:cNvSpPr txBox="1"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</a:t>
            </a:r>
            <a:pPr indent="0" marL="0">
              <a:buNone/>
            </a:pPr>
            <a:r>
              <a:rPr lang="en-US" sz="1400" baseline="-40000" dirty="0">
                <a:solidFill>
                  <a:schemeClr val="tx2"/>
                </a:solidFill>
              </a:rPr>
              <a:t>−i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— стратегии всех игроков, кроме i; для двух игроков это выбор соперника.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Итеративное исключение доминируемых стратегий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5</a:t>
            </a:r>
            <a:endParaRPr lang="en-US" sz="1100" dirty="0"/>
          </a:p>
        </p:txBody>
      </p:sp>
      <p:sp>
        <p:nvSpPr>
          <p:cNvPr id="4" name="text-233"/>
          <p:cNvSpPr txBox="1"/>
          <p:nvPr/>
        </p:nvSpPr>
        <p:spPr>
          <a:xfrm>
            <a:off x="548640" y="1325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5" name="text-234"/>
          <p:cNvSpPr txBox="1"/>
          <p:nvPr/>
        </p:nvSpPr>
        <p:spPr>
          <a:xfrm>
            <a:off x="164592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Левый</a:t>
            </a:r>
            <a:endParaRPr lang="en-US" sz="1600" dirty="0"/>
          </a:p>
        </p:txBody>
      </p:sp>
      <p:sp>
        <p:nvSpPr>
          <p:cNvPr id="6" name="text-235"/>
          <p:cNvSpPr txBox="1"/>
          <p:nvPr/>
        </p:nvSpPr>
        <p:spPr>
          <a:xfrm>
            <a:off x="3355848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Средний</a:t>
            </a:r>
            <a:endParaRPr lang="en-US" sz="1600" dirty="0"/>
          </a:p>
        </p:txBody>
      </p:sp>
      <p:sp>
        <p:nvSpPr>
          <p:cNvPr id="7" name="text-236"/>
          <p:cNvSpPr txBox="1"/>
          <p:nvPr/>
        </p:nvSpPr>
        <p:spPr>
          <a:xfrm>
            <a:off x="5065776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Правый</a:t>
            </a:r>
            <a:endParaRPr lang="en-US" sz="1600" dirty="0"/>
          </a:p>
        </p:txBody>
      </p:sp>
      <p:sp>
        <p:nvSpPr>
          <p:cNvPr id="8" name="text-237"/>
          <p:cNvSpPr txBox="1"/>
          <p:nvPr/>
        </p:nvSpPr>
        <p:spPr>
          <a:xfrm>
            <a:off x="548640" y="190195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Верх</a:t>
            </a:r>
            <a:endParaRPr lang="en-US" sz="1600" dirty="0"/>
          </a:p>
        </p:txBody>
      </p:sp>
      <p:sp>
        <p:nvSpPr>
          <p:cNvPr id="9" name="cell-238"/>
          <p:cNvSpPr/>
          <p:nvPr/>
        </p:nvSpPr>
        <p:spPr>
          <a:xfrm>
            <a:off x="1645920" y="1901952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0" name="pay-239"/>
          <p:cNvSpPr txBox="1"/>
          <p:nvPr/>
        </p:nvSpPr>
        <p:spPr>
          <a:xfrm>
            <a:off x="1645920" y="1901952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1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0</a:t>
            </a:r>
            <a:endParaRPr lang="en-US" sz="2200" dirty="0"/>
          </a:p>
        </p:txBody>
      </p:sp>
      <p:sp>
        <p:nvSpPr>
          <p:cNvPr id="11" name="cell-240"/>
          <p:cNvSpPr/>
          <p:nvPr/>
        </p:nvSpPr>
        <p:spPr>
          <a:xfrm>
            <a:off x="3355848" y="1901952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FF4D6"/>
          </a:solidFill>
          <a:ln w="28575">
            <a:solidFill>
              <a:srgbClr val="D99A00"/>
            </a:solidFill>
            <a:prstDash val="solid"/>
          </a:ln>
        </p:spPr>
      </p:sp>
      <p:sp>
        <p:nvSpPr>
          <p:cNvPr id="12" name="pay-241"/>
          <p:cNvSpPr txBox="1"/>
          <p:nvPr/>
        </p:nvSpPr>
        <p:spPr>
          <a:xfrm>
            <a:off x="3355848" y="1901952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ag-242"/>
          <p:cNvSpPr/>
          <p:nvPr/>
        </p:nvSpPr>
        <p:spPr>
          <a:xfrm>
            <a:off x="3538728" y="175564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agText-243"/>
          <p:cNvSpPr txBox="1"/>
          <p:nvPr/>
        </p:nvSpPr>
        <p:spPr>
          <a:xfrm>
            <a:off x="3538728" y="17556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★ равновесие</a:t>
            </a:r>
            <a:endParaRPr lang="en-US" sz="1100" dirty="0"/>
          </a:p>
        </p:txBody>
      </p:sp>
      <p:sp>
        <p:nvSpPr>
          <p:cNvPr id="15" name="cell-244"/>
          <p:cNvSpPr/>
          <p:nvPr/>
        </p:nvSpPr>
        <p:spPr>
          <a:xfrm>
            <a:off x="5065776" y="1901952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pay-245"/>
          <p:cNvSpPr txBox="1"/>
          <p:nvPr/>
        </p:nvSpPr>
        <p:spPr>
          <a:xfrm>
            <a:off x="5065776" y="1901952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0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-246"/>
          <p:cNvSpPr txBox="1"/>
          <p:nvPr/>
        </p:nvSpPr>
        <p:spPr>
          <a:xfrm>
            <a:off x="548640" y="2971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Низ</a:t>
            </a:r>
            <a:endParaRPr lang="en-US" sz="1600" dirty="0"/>
          </a:p>
        </p:txBody>
      </p:sp>
      <p:sp>
        <p:nvSpPr>
          <p:cNvPr id="18" name="cell-247"/>
          <p:cNvSpPr/>
          <p:nvPr/>
        </p:nvSpPr>
        <p:spPr>
          <a:xfrm>
            <a:off x="1645920" y="2971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9" name="pay-248"/>
          <p:cNvSpPr txBox="1"/>
          <p:nvPr/>
        </p:nvSpPr>
        <p:spPr>
          <a:xfrm>
            <a:off x="1645920" y="29718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0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cell-249"/>
          <p:cNvSpPr/>
          <p:nvPr/>
        </p:nvSpPr>
        <p:spPr>
          <a:xfrm>
            <a:off x="3355848" y="2971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1" name="pay-250"/>
          <p:cNvSpPr txBox="1"/>
          <p:nvPr/>
        </p:nvSpPr>
        <p:spPr>
          <a:xfrm>
            <a:off x="3355848" y="29718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0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1</a:t>
            </a:r>
            <a:endParaRPr lang="en-US" sz="2200" dirty="0"/>
          </a:p>
        </p:txBody>
      </p:sp>
      <p:sp>
        <p:nvSpPr>
          <p:cNvPr id="22" name="cell-251"/>
          <p:cNvSpPr/>
          <p:nvPr/>
        </p:nvSpPr>
        <p:spPr>
          <a:xfrm>
            <a:off x="5065776" y="29718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3" name="pay-252"/>
          <p:cNvSpPr txBox="1"/>
          <p:nvPr/>
        </p:nvSpPr>
        <p:spPr>
          <a:xfrm>
            <a:off x="5065776" y="29718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2</a:t>
            </a:r>
            <a:pPr algn="ctr" indent="0" marL="0">
              <a:buNone/>
            </a:pPr>
            <a:r>
              <a:rPr lang="en-US" sz="176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200" b="1" dirty="0">
                <a:solidFill>
                  <a:srgbClr val="B4BCC8"/>
                </a:solidFill>
              </a:rPr>
              <a:t>0</a:t>
            </a:r>
            <a:endParaRPr lang="en-US" sz="2200" dirty="0"/>
          </a:p>
        </p:txBody>
      </p:sp>
      <p:sp>
        <p:nvSpPr>
          <p:cNvPr id="24" name="badge-253"/>
          <p:cNvSpPr/>
          <p:nvPr/>
        </p:nvSpPr>
        <p:spPr>
          <a:xfrm>
            <a:off x="6281928" y="1435608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badgeText-254"/>
          <p:cNvSpPr txBox="1"/>
          <p:nvPr/>
        </p:nvSpPr>
        <p:spPr>
          <a:xfrm>
            <a:off x="628192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badge-255"/>
          <p:cNvSpPr/>
          <p:nvPr/>
        </p:nvSpPr>
        <p:spPr>
          <a:xfrm>
            <a:off x="548640" y="3291840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adgeText-256"/>
          <p:cNvSpPr txBox="1"/>
          <p:nvPr/>
        </p:nvSpPr>
        <p:spPr>
          <a:xfrm>
            <a:off x="5486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badge-257"/>
          <p:cNvSpPr/>
          <p:nvPr/>
        </p:nvSpPr>
        <p:spPr>
          <a:xfrm>
            <a:off x="2862072" y="1435608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badgeText-258"/>
          <p:cNvSpPr txBox="1"/>
          <p:nvPr/>
        </p:nvSpPr>
        <p:spPr>
          <a:xfrm>
            <a:off x="2862072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badge-259"/>
          <p:cNvSpPr/>
          <p:nvPr/>
        </p:nvSpPr>
        <p:spPr>
          <a:xfrm>
            <a:off x="6720840" y="141732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Text-260"/>
          <p:cNvSpPr txBox="1"/>
          <p:nvPr/>
        </p:nvSpPr>
        <p:spPr>
          <a:xfrm>
            <a:off x="67208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-261"/>
          <p:cNvSpPr txBox="1"/>
          <p:nvPr/>
        </p:nvSpPr>
        <p:spPr>
          <a:xfrm>
            <a:off x="7269480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Игрок 2 вычёркивает «Правый»</a:t>
            </a:r>
            <a:endParaRPr lang="en-US" sz="1700" dirty="0"/>
          </a:p>
        </p:txBody>
      </p:sp>
      <p:sp>
        <p:nvSpPr>
          <p:cNvPr id="33" name="text-262"/>
          <p:cNvSpPr txBox="1"/>
          <p:nvPr/>
        </p:nvSpPr>
        <p:spPr>
          <a:xfrm>
            <a:off x="726948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«Средний» лучше при любой строке: 2 &gt; 1 и 1 &gt; 0. Нужно: игрок 2 рационален.</a:t>
            </a:r>
            <a:endParaRPr lang="en-US" sz="1400" dirty="0"/>
          </a:p>
        </p:txBody>
      </p:sp>
      <p:sp>
        <p:nvSpPr>
          <p:cNvPr id="34" name="badge-263"/>
          <p:cNvSpPr/>
          <p:nvPr/>
        </p:nvSpPr>
        <p:spPr>
          <a:xfrm>
            <a:off x="6720840" y="262432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badgeText-264"/>
          <p:cNvSpPr txBox="1"/>
          <p:nvPr/>
        </p:nvSpPr>
        <p:spPr>
          <a:xfrm>
            <a:off x="67208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ext-265"/>
          <p:cNvSpPr txBox="1"/>
          <p:nvPr/>
        </p:nvSpPr>
        <p:spPr>
          <a:xfrm>
            <a:off x="7269480" y="25786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Игрок 1 вычёркивает «Низ»</a:t>
            </a:r>
            <a:endParaRPr lang="en-US" sz="1700" dirty="0"/>
          </a:p>
        </p:txBody>
      </p:sp>
      <p:sp>
        <p:nvSpPr>
          <p:cNvPr id="37" name="text-266"/>
          <p:cNvSpPr txBox="1"/>
          <p:nvPr/>
        </p:nvSpPr>
        <p:spPr>
          <a:xfrm>
            <a:off x="7269480" y="29900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Без «Правого» «Верх» лучше: 1 &gt; 0 и 1 &gt; 0. Нужно: игрок 1 знает, что игрок 2 рационален.</a:t>
            </a:r>
            <a:endParaRPr lang="en-US" sz="1400" dirty="0"/>
          </a:p>
        </p:txBody>
      </p:sp>
      <p:sp>
        <p:nvSpPr>
          <p:cNvPr id="38" name="badge-267"/>
          <p:cNvSpPr/>
          <p:nvPr/>
        </p:nvSpPr>
        <p:spPr>
          <a:xfrm>
            <a:off x="6720840" y="383133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badgeText-268"/>
          <p:cNvSpPr txBox="1"/>
          <p:nvPr/>
        </p:nvSpPr>
        <p:spPr>
          <a:xfrm>
            <a:off x="67208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-269"/>
          <p:cNvSpPr txBox="1"/>
          <p:nvPr/>
        </p:nvSpPr>
        <p:spPr>
          <a:xfrm>
            <a:off x="7269480" y="37856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Игрок 2 вычёркивает «Левый»</a:t>
            </a:r>
            <a:endParaRPr lang="en-US" sz="1700" dirty="0"/>
          </a:p>
        </p:txBody>
      </p:sp>
      <p:sp>
        <p:nvSpPr>
          <p:cNvPr id="41" name="text-270"/>
          <p:cNvSpPr txBox="1"/>
          <p:nvPr/>
        </p:nvSpPr>
        <p:spPr>
          <a:xfrm>
            <a:off x="7269480" y="419709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Против «Верха» «Средний» лучше: 2 &gt; 0. Нужно: игрок 2 знает, что игрок 1 это знает.</a:t>
            </a:r>
            <a:endParaRPr lang="en-US" sz="1400" dirty="0"/>
          </a:p>
        </p:txBody>
      </p:sp>
      <p:sp>
        <p:nvSpPr>
          <p:cNvPr id="42" name="box-271"/>
          <p:cNvSpPr/>
          <p:nvPr/>
        </p:nvSpPr>
        <p:spPr>
          <a:xfrm>
            <a:off x="548640" y="4343400"/>
            <a:ext cx="5760720" cy="1691640"/>
          </a:xfrm>
          <a:prstGeom prst="roundRect">
            <a:avLst>
              <a:gd name="adj" fmla="val 64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43" name="note-272"/>
          <p:cNvSpPr txBox="1"/>
          <p:nvPr/>
        </p:nvSpPr>
        <p:spPr>
          <a:xfrm>
            <a:off x="749808" y="4480560"/>
            <a:ext cx="5358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Итог: (Верх, Средний), выигрыши (1, 2)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шаг требует ещё одного уровня «я знаю, что ты знаешь…». В пределе — общее знание рациональности.</a:t>
            </a:r>
            <a:endParaRPr lang="en-US" sz="1600" dirty="0"/>
          </a:p>
        </p:txBody>
      </p:sp>
      <p:sp>
        <p:nvSpPr>
          <p:cNvPr id="44" name="box-273"/>
          <p:cNvSpPr/>
          <p:nvPr/>
        </p:nvSpPr>
        <p:spPr>
          <a:xfrm>
            <a:off x="6720840" y="507492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45" name="note-274"/>
          <p:cNvSpPr txBox="1"/>
          <p:nvPr/>
        </p:nvSpPr>
        <p:spPr>
          <a:xfrm>
            <a:off x="6922008" y="5212080"/>
            <a:ext cx="4535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Пример из учебника Р. Гиббонса «Теория игр для экономистов».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Лучший ответ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6</a:t>
            </a:r>
            <a:endParaRPr lang="en-US" sz="1100" dirty="0"/>
          </a:p>
        </p:txBody>
      </p:sp>
      <p:sp>
        <p:nvSpPr>
          <p:cNvPr id="4" name="text-275"/>
          <p:cNvSpPr txBox="1"/>
          <p:nvPr/>
        </p:nvSpPr>
        <p:spPr>
          <a:xfrm>
            <a:off x="548640" y="13258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) = arg max u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(s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, s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−i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)</a:t>
            </a:r>
            <a:endParaRPr lang="en-US" sz="2800" dirty="0"/>
          </a:p>
        </p:txBody>
      </p:sp>
      <p:sp>
        <p:nvSpPr>
          <p:cNvPr id="5" name="text-276"/>
          <p:cNvSpPr txBox="1"/>
          <p:nvPr/>
        </p:nvSpPr>
        <p:spPr>
          <a:xfrm>
            <a:off x="548640" y="2011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Действие, которое даёт игроку максимум выигрыша при фиксированном выборе соперника.</a:t>
            </a:r>
            <a:endParaRPr lang="en-US" sz="1700" dirty="0"/>
          </a:p>
        </p:txBody>
      </p:sp>
      <p:sp>
        <p:nvSpPr>
          <p:cNvPr id="6" name="list-277"/>
          <p:cNvSpPr txBox="1"/>
          <p:nvPr/>
        </p:nvSpPr>
        <p:spPr>
          <a:xfrm>
            <a:off x="548640" y="2880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Игрок 1: в каждом столбце сравниваем левые (синие) числа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Игрок 2: в каждой строке сравниваем правые (лиловые) числа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Лучших ответов может быть несколько — это множество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Если лучший ответ один и тот же на всё — это доминирующая стратегия</a:t>
            </a:r>
            <a:endParaRPr lang="en-US" sz="1600" dirty="0"/>
          </a:p>
        </p:txBody>
      </p:sp>
      <p:sp>
        <p:nvSpPr>
          <p:cNvPr id="7" name="box-278"/>
          <p:cNvSpPr/>
          <p:nvPr/>
        </p:nvSpPr>
        <p:spPr>
          <a:xfrm>
            <a:off x="548640" y="4983480"/>
            <a:ext cx="5669280" cy="1143000"/>
          </a:xfrm>
          <a:prstGeom prst="roundRect">
            <a:avLst>
              <a:gd name="adj" fmla="val 96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8" name="note-279"/>
          <p:cNvSpPr txBox="1"/>
          <p:nvPr/>
        </p:nvSpPr>
        <p:spPr>
          <a:xfrm>
            <a:off x="749808" y="5120640"/>
            <a:ext cx="5266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⚠️ Типичная ошибка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Сравнивать числа внутри строки. Там меняется выбор соперника, а не ваш.</a:t>
            </a:r>
            <a:endParaRPr lang="en-US" sz="1600" dirty="0"/>
          </a:p>
        </p:txBody>
      </p:sp>
      <p:sp>
        <p:nvSpPr>
          <p:cNvPr id="9" name="text-280"/>
          <p:cNvSpPr txBox="1"/>
          <p:nvPr/>
        </p:nvSpPr>
        <p:spPr>
          <a:xfrm>
            <a:off x="658368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Охота на оленя: лучшие ответы игрока 1</a:t>
            </a:r>
            <a:endParaRPr lang="en-US" sz="1700" dirty="0"/>
          </a:p>
        </p:txBody>
      </p:sp>
      <p:sp>
        <p:nvSpPr>
          <p:cNvPr id="10" name="text-281"/>
          <p:cNvSpPr txBox="1"/>
          <p:nvPr/>
        </p:nvSpPr>
        <p:spPr>
          <a:xfrm>
            <a:off x="658368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11" name="text-282"/>
          <p:cNvSpPr txBox="1"/>
          <p:nvPr/>
        </p:nvSpPr>
        <p:spPr>
          <a:xfrm>
            <a:off x="77724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Олень</a:t>
            </a:r>
            <a:endParaRPr lang="en-US" sz="1600" dirty="0"/>
          </a:p>
        </p:txBody>
      </p:sp>
      <p:sp>
        <p:nvSpPr>
          <p:cNvPr id="12" name="text-283"/>
          <p:cNvSpPr txBox="1"/>
          <p:nvPr/>
        </p:nvSpPr>
        <p:spPr>
          <a:xfrm>
            <a:off x="9619488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Заяц</a:t>
            </a:r>
            <a:endParaRPr lang="en-US" sz="1600" dirty="0"/>
          </a:p>
        </p:txBody>
      </p:sp>
      <p:sp>
        <p:nvSpPr>
          <p:cNvPr id="13" name="text-284"/>
          <p:cNvSpPr txBox="1"/>
          <p:nvPr/>
        </p:nvSpPr>
        <p:spPr>
          <a:xfrm>
            <a:off x="6583680" y="2359152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Олень</a:t>
            </a:r>
            <a:endParaRPr lang="en-US" sz="1600" dirty="0"/>
          </a:p>
        </p:txBody>
      </p:sp>
      <p:sp>
        <p:nvSpPr>
          <p:cNvPr id="14" name="cell-285"/>
          <p:cNvSpPr/>
          <p:nvPr/>
        </p:nvSpPr>
        <p:spPr>
          <a:xfrm>
            <a:off x="7772400" y="2359152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5" name="pay-286"/>
          <p:cNvSpPr txBox="1"/>
          <p:nvPr/>
        </p:nvSpPr>
        <p:spPr>
          <a:xfrm>
            <a:off x="7772400" y="23591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4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16" name="cell-287"/>
          <p:cNvSpPr/>
          <p:nvPr/>
        </p:nvSpPr>
        <p:spPr>
          <a:xfrm>
            <a:off x="9619488" y="2359152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7" name="pay-288"/>
          <p:cNvSpPr txBox="1"/>
          <p:nvPr/>
        </p:nvSpPr>
        <p:spPr>
          <a:xfrm>
            <a:off x="9619488" y="23591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-289"/>
          <p:cNvSpPr txBox="1"/>
          <p:nvPr/>
        </p:nvSpPr>
        <p:spPr>
          <a:xfrm>
            <a:off x="6583680" y="342900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Заяц</a:t>
            </a:r>
            <a:endParaRPr lang="en-US" sz="1600" dirty="0"/>
          </a:p>
        </p:txBody>
      </p:sp>
      <p:sp>
        <p:nvSpPr>
          <p:cNvPr id="19" name="cell-290"/>
          <p:cNvSpPr/>
          <p:nvPr/>
        </p:nvSpPr>
        <p:spPr>
          <a:xfrm>
            <a:off x="7772400" y="342900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0" name="pay-291"/>
          <p:cNvSpPr txBox="1"/>
          <p:nvPr/>
        </p:nvSpPr>
        <p:spPr>
          <a:xfrm>
            <a:off x="7772400" y="3429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</a:t>
            </a:r>
            <a:endParaRPr lang="en-US" sz="2400" dirty="0"/>
          </a:p>
        </p:txBody>
      </p:sp>
      <p:sp>
        <p:nvSpPr>
          <p:cNvPr id="21" name="cell-292"/>
          <p:cNvSpPr/>
          <p:nvPr/>
        </p:nvSpPr>
        <p:spPr>
          <a:xfrm>
            <a:off x="9619488" y="342900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2" name="pay-293"/>
          <p:cNvSpPr txBox="1"/>
          <p:nvPr/>
        </p:nvSpPr>
        <p:spPr>
          <a:xfrm>
            <a:off x="9619488" y="3429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3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-294"/>
          <p:cNvSpPr txBox="1"/>
          <p:nvPr/>
        </p:nvSpPr>
        <p:spPr>
          <a:xfrm>
            <a:off x="658368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Против «Оленя» лучше «Олень» (4 &gt; 3), против «Зайца» — «Заяц» (3 &gt; 0). Доминирующей стратегии нет.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Равновесие Нэша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7</a:t>
            </a:r>
            <a:endParaRPr lang="en-US" sz="1100" dirty="0"/>
          </a:p>
        </p:txBody>
      </p:sp>
      <p:sp>
        <p:nvSpPr>
          <p:cNvPr id="4" name="box-295"/>
          <p:cNvSpPr/>
          <p:nvPr/>
        </p:nvSpPr>
        <p:spPr>
          <a:xfrm>
            <a:off x="548640" y="1325880"/>
            <a:ext cx="11094415" cy="1691640"/>
          </a:xfrm>
          <a:prstGeom prst="roundRect">
            <a:avLst>
              <a:gd name="adj" fmla="val 64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5" name="text-296"/>
          <p:cNvSpPr txBox="1"/>
          <p:nvPr/>
        </p:nvSpPr>
        <p:spPr>
          <a:xfrm>
            <a:off x="822960" y="1463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Профиль s* = (s</a:t>
            </a:r>
            <a:pPr indent="0" marL="0"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*, …, s</a:t>
            </a:r>
            <a:pPr indent="0" marL="0"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*) — равновесие Нэша, если для каждого игрока i и любой его стратегии s</a:t>
            </a:r>
            <a:pPr indent="0" marL="0"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:</a:t>
            </a:r>
            <a:endParaRPr lang="en-US" sz="1800" dirty="0"/>
          </a:p>
        </p:txBody>
      </p:sp>
      <p:sp>
        <p:nvSpPr>
          <p:cNvPr id="6" name="text-297"/>
          <p:cNvSpPr txBox="1"/>
          <p:nvPr/>
        </p:nvSpPr>
        <p:spPr>
          <a:xfrm>
            <a:off x="822960" y="19659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(s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*, s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−i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*)  ≥  u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(s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, s</a:t>
            </a:r>
            <a:pPr algn="ctr" indent="0" marL="0">
              <a:buNone/>
            </a:pPr>
            <a:r>
              <a:rPr lang="en-US" sz="3200" b="1" baseline="-40000" dirty="0">
                <a:solidFill>
                  <a:schemeClr val="tx1"/>
                </a:solidFill>
              </a:rPr>
              <a:t>−i</a:t>
            </a:r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*)</a:t>
            </a:r>
            <a:endParaRPr lang="en-US" sz="3200" dirty="0"/>
          </a:p>
        </p:txBody>
      </p:sp>
      <p:sp>
        <p:nvSpPr>
          <p:cNvPr id="7" name="text-298"/>
          <p:cNvSpPr txBox="1"/>
          <p:nvPr/>
        </p:nvSpPr>
        <p:spPr>
          <a:xfrm>
            <a:off x="822960" y="2606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Эквивалентно: s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i</a:t>
            </a:r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* ∈ BR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i</a:t>
            </a:r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(s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−i</a:t>
            </a:r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*) для всех i — каждый играет лучший ответ.</a:t>
            </a:r>
            <a:endParaRPr lang="en-US" sz="1500" dirty="0"/>
          </a:p>
        </p:txBody>
      </p:sp>
      <p:sp>
        <p:nvSpPr>
          <p:cNvPr id="8" name="text-299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Каждое слово в определении работает</a:t>
            </a:r>
            <a:endParaRPr lang="en-US" sz="1800" dirty="0"/>
          </a:p>
        </p:txBody>
      </p:sp>
      <p:sp>
        <p:nvSpPr>
          <p:cNvPr id="9" name="box-300"/>
          <p:cNvSpPr/>
          <p:nvPr/>
        </p:nvSpPr>
        <p:spPr>
          <a:xfrm>
            <a:off x="548640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0" name="text-301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«Профиль»</a:t>
            </a:r>
            <a:endParaRPr lang="en-US" sz="1700" dirty="0"/>
          </a:p>
        </p:txBody>
      </p:sp>
      <p:sp>
        <p:nvSpPr>
          <p:cNvPr id="11" name="text-302"/>
          <p:cNvSpPr txBox="1"/>
          <p:nvPr/>
        </p:nvSpPr>
        <p:spPr>
          <a:xfrm>
            <a:off x="731520" y="44348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Равновесие — свойство клетки, а не игрока. Не «предать — равновесие», а «(предать, предать) — равновесие».</a:t>
            </a:r>
            <a:endParaRPr lang="en-US" sz="1400" dirty="0"/>
          </a:p>
        </p:txBody>
      </p:sp>
      <p:sp>
        <p:nvSpPr>
          <p:cNvPr id="12" name="box-303"/>
          <p:cNvSpPr/>
          <p:nvPr/>
        </p:nvSpPr>
        <p:spPr>
          <a:xfrm>
            <a:off x="3355848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3" name="text-304"/>
          <p:cNvSpPr txBox="1"/>
          <p:nvPr/>
        </p:nvSpPr>
        <p:spPr>
          <a:xfrm>
            <a:off x="3538728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«Для каждого игрока»</a:t>
            </a:r>
            <a:endParaRPr lang="en-US" sz="1700" dirty="0"/>
          </a:p>
        </p:txBody>
      </p:sp>
      <p:sp>
        <p:nvSpPr>
          <p:cNvPr id="14" name="text-305"/>
          <p:cNvSpPr txBox="1"/>
          <p:nvPr/>
        </p:nvSpPr>
        <p:spPr>
          <a:xfrm>
            <a:off x="3538728" y="44348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Хватит одного игрока, желающего уйти, — клетка уже не равновесная.</a:t>
            </a:r>
            <a:endParaRPr lang="en-US" sz="1400" dirty="0"/>
          </a:p>
        </p:txBody>
      </p:sp>
      <p:sp>
        <p:nvSpPr>
          <p:cNvPr id="15" name="box-306"/>
          <p:cNvSpPr/>
          <p:nvPr/>
        </p:nvSpPr>
        <p:spPr>
          <a:xfrm>
            <a:off x="6163056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text-307"/>
          <p:cNvSpPr txBox="1"/>
          <p:nvPr/>
        </p:nvSpPr>
        <p:spPr>
          <a:xfrm>
            <a:off x="6345936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«Любой стратегии s</a:t>
            </a:r>
            <a:pPr indent="0" marL="0">
              <a:buNone/>
            </a:pPr>
            <a:r>
              <a:rPr lang="en-US" sz="1700" b="1" baseline="-40000" dirty="0">
                <a:solidFill>
                  <a:schemeClr val="accent1"/>
                </a:solidFill>
              </a:rPr>
              <a:t>i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»</a:t>
            </a:r>
            <a:endParaRPr lang="en-US" sz="1700" dirty="0"/>
          </a:p>
        </p:txBody>
      </p:sp>
      <p:sp>
        <p:nvSpPr>
          <p:cNvPr id="17" name="text-308"/>
          <p:cNvSpPr txBox="1"/>
          <p:nvPr/>
        </p:nvSpPr>
        <p:spPr>
          <a:xfrm>
            <a:off x="6345936" y="44348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Проверяем все альтернативы, а не одну.</a:t>
            </a:r>
            <a:endParaRPr lang="en-US" sz="1400" dirty="0"/>
          </a:p>
        </p:txBody>
      </p:sp>
      <p:sp>
        <p:nvSpPr>
          <p:cNvPr id="18" name="box-309"/>
          <p:cNvSpPr/>
          <p:nvPr/>
        </p:nvSpPr>
        <p:spPr>
          <a:xfrm>
            <a:off x="8970264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9" name="text-310"/>
          <p:cNvSpPr txBox="1"/>
          <p:nvPr/>
        </p:nvSpPr>
        <p:spPr>
          <a:xfrm>
            <a:off x="9153144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«При s</a:t>
            </a:r>
            <a:pPr indent="0" marL="0">
              <a:buNone/>
            </a:pPr>
            <a:r>
              <a:rPr lang="en-US" sz="1700" b="1" baseline="-40000" dirty="0">
                <a:solidFill>
                  <a:schemeClr val="accent1"/>
                </a:solidFill>
              </a:rPr>
              <a:t>−i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*»</a:t>
            </a:r>
            <a:endParaRPr lang="en-US" sz="1700" dirty="0"/>
          </a:p>
        </p:txBody>
      </p:sp>
      <p:sp>
        <p:nvSpPr>
          <p:cNvPr id="20" name="text-311"/>
          <p:cNvSpPr txBox="1"/>
          <p:nvPr/>
        </p:nvSpPr>
        <p:spPr>
          <a:xfrm>
            <a:off x="9153144" y="44348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Остальные остаются на месте. Проверяем только одностороннее отклонение.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понимать равновесие и чего от него не ждать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7</a:t>
            </a:r>
            <a:endParaRPr lang="en-US" sz="1100" dirty="0"/>
          </a:p>
        </p:txBody>
      </p:sp>
      <p:sp>
        <p:nvSpPr>
          <p:cNvPr id="4" name="text-312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Три прочтения</a:t>
            </a:r>
            <a:endParaRPr lang="en-US" sz="2000" dirty="0"/>
          </a:p>
        </p:txBody>
      </p:sp>
      <p:sp>
        <p:nvSpPr>
          <p:cNvPr id="5" name="box-313"/>
          <p:cNvSpPr/>
          <p:nvPr/>
        </p:nvSpPr>
        <p:spPr>
          <a:xfrm>
            <a:off x="548640" y="18745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6" name="text-314"/>
          <p:cNvSpPr txBox="1"/>
          <p:nvPr/>
        </p:nvSpPr>
        <p:spPr>
          <a:xfrm>
            <a:off x="77724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Устойчивость</a:t>
            </a:r>
            <a:endParaRPr lang="en-US" sz="1800" dirty="0"/>
          </a:p>
        </p:txBody>
      </p:sp>
      <p:sp>
        <p:nvSpPr>
          <p:cNvPr id="7" name="text-315"/>
          <p:cNvSpPr txBox="1"/>
          <p:nvPr/>
        </p:nvSpPr>
        <p:spPr>
          <a:xfrm>
            <a:off x="77724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Никто не выигрывает, изменив своё действие в одиночку</a:t>
            </a:r>
            <a:endParaRPr lang="en-US" sz="1500" dirty="0"/>
          </a:p>
        </p:txBody>
      </p:sp>
      <p:sp>
        <p:nvSpPr>
          <p:cNvPr id="8" name="box-316"/>
          <p:cNvSpPr/>
          <p:nvPr/>
        </p:nvSpPr>
        <p:spPr>
          <a:xfrm>
            <a:off x="548640" y="3172968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9" name="text-317"/>
          <p:cNvSpPr txBox="1"/>
          <p:nvPr/>
        </p:nvSpPr>
        <p:spPr>
          <a:xfrm>
            <a:off x="777240" y="3310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Взаимные лучшие ответы</a:t>
            </a:r>
            <a:endParaRPr lang="en-US" sz="1800" dirty="0"/>
          </a:p>
        </p:txBody>
      </p:sp>
      <p:sp>
        <p:nvSpPr>
          <p:cNvPr id="10" name="text-318"/>
          <p:cNvSpPr txBox="1"/>
          <p:nvPr/>
        </p:nvSpPr>
        <p:spPr>
          <a:xfrm>
            <a:off x="777240" y="37216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делает лучшее, что может, при выборе остальных</a:t>
            </a:r>
            <a:endParaRPr lang="en-US" sz="1500" dirty="0"/>
          </a:p>
        </p:txBody>
      </p:sp>
      <p:sp>
        <p:nvSpPr>
          <p:cNvPr id="11" name="box-319"/>
          <p:cNvSpPr/>
          <p:nvPr/>
        </p:nvSpPr>
        <p:spPr>
          <a:xfrm>
            <a:off x="548640" y="4471416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12" name="text-320"/>
          <p:cNvSpPr txBox="1"/>
          <p:nvPr/>
        </p:nvSpPr>
        <p:spPr>
          <a:xfrm>
            <a:off x="777240" y="46085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Сбывшиеся ожидания</a:t>
            </a:r>
            <a:endParaRPr lang="en-US" sz="1800" dirty="0"/>
          </a:p>
        </p:txBody>
      </p:sp>
      <p:sp>
        <p:nvSpPr>
          <p:cNvPr id="13" name="text-321"/>
          <p:cNvSpPr txBox="1"/>
          <p:nvPr/>
        </p:nvSpPr>
        <p:spPr>
          <a:xfrm>
            <a:off x="777240" y="50200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верно предсказал поведение другого и ответил наилучшим образом</a:t>
            </a:r>
            <a:endParaRPr lang="en-US" sz="1500" dirty="0"/>
          </a:p>
        </p:txBody>
      </p:sp>
      <p:sp>
        <p:nvSpPr>
          <p:cNvPr id="14" name="text-322"/>
          <p:cNvSpPr txBox="1"/>
          <p:nvPr/>
        </p:nvSpPr>
        <p:spPr>
          <a:xfrm>
            <a:off x="6336792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Чего равновесие не гарантирует</a:t>
            </a:r>
            <a:endParaRPr lang="en-US" sz="2000" dirty="0"/>
          </a:p>
        </p:txBody>
      </p:sp>
      <p:sp>
        <p:nvSpPr>
          <p:cNvPr id="15" name="box-323"/>
          <p:cNvSpPr/>
          <p:nvPr/>
        </p:nvSpPr>
        <p:spPr>
          <a:xfrm>
            <a:off x="6336792" y="18745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6" name="text-324"/>
          <p:cNvSpPr txBox="1"/>
          <p:nvPr/>
        </p:nvSpPr>
        <p:spPr>
          <a:xfrm>
            <a:off x="6565392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Что исход хорош для всех</a:t>
            </a:r>
            <a:endParaRPr lang="en-US" sz="1800" dirty="0"/>
          </a:p>
        </p:txBody>
      </p:sp>
      <p:sp>
        <p:nvSpPr>
          <p:cNvPr id="17" name="text-325"/>
          <p:cNvSpPr txBox="1"/>
          <p:nvPr/>
        </p:nvSpPr>
        <p:spPr>
          <a:xfrm>
            <a:off x="6565392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 задачах 1, 4, 6 равновесие хуже другого исхода сразу для обоих</a:t>
            </a:r>
            <a:endParaRPr lang="en-US" sz="1500" dirty="0"/>
          </a:p>
        </p:txBody>
      </p:sp>
      <p:sp>
        <p:nvSpPr>
          <p:cNvPr id="18" name="box-326"/>
          <p:cNvSpPr/>
          <p:nvPr/>
        </p:nvSpPr>
        <p:spPr>
          <a:xfrm>
            <a:off x="6336792" y="3172968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9" name="text-327"/>
          <p:cNvSpPr txBox="1"/>
          <p:nvPr/>
        </p:nvSpPr>
        <p:spPr>
          <a:xfrm>
            <a:off x="6565392" y="3310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Что оно единственное</a:t>
            </a:r>
            <a:endParaRPr lang="en-US" sz="1800" dirty="0"/>
          </a:p>
        </p:txBody>
      </p:sp>
      <p:sp>
        <p:nvSpPr>
          <p:cNvPr id="20" name="text-328"/>
          <p:cNvSpPr txBox="1"/>
          <p:nvPr/>
        </p:nvSpPr>
        <p:spPr>
          <a:xfrm>
            <a:off x="6565392" y="37216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 задачах 2, 3, 7 два чистых равновесия и одно смешанное</a:t>
            </a:r>
            <a:endParaRPr lang="en-US" sz="1500" dirty="0"/>
          </a:p>
        </p:txBody>
      </p:sp>
      <p:sp>
        <p:nvSpPr>
          <p:cNvPr id="21" name="box-329"/>
          <p:cNvSpPr/>
          <p:nvPr/>
        </p:nvSpPr>
        <p:spPr>
          <a:xfrm>
            <a:off x="6336792" y="4471416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22" name="text-330"/>
          <p:cNvSpPr txBox="1"/>
          <p:nvPr/>
        </p:nvSpPr>
        <p:spPr>
          <a:xfrm>
            <a:off x="6565392" y="46085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Что игроки в него попадут</a:t>
            </a:r>
            <a:endParaRPr lang="en-US" sz="1800" dirty="0"/>
          </a:p>
        </p:txBody>
      </p:sp>
      <p:sp>
        <p:nvSpPr>
          <p:cNvPr id="23" name="text-331"/>
          <p:cNvSpPr txBox="1"/>
          <p:nvPr/>
        </p:nvSpPr>
        <p:spPr>
          <a:xfrm>
            <a:off x="6565392" y="50200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Это понятие устойчивости, а не процесс. Путь к равновесию изучает теория обучения — задача 7</a:t>
            </a:r>
            <a:endParaRPr lang="en-US" sz="1500" dirty="0"/>
          </a:p>
        </p:txBody>
      </p:sp>
      <p:sp>
        <p:nvSpPr>
          <p:cNvPr id="24" name="text-332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💬 Если равновесие бывает плохим, зачем его искать? Это прогноз: плохой, но устойчивый исход надо уметь предсказать, чтобы менять правила игры.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найти равновесие: метод подчёркивания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8</a:t>
            </a:r>
            <a:endParaRPr lang="en-US" sz="1100" dirty="0"/>
          </a:p>
        </p:txBody>
      </p:sp>
      <p:sp>
        <p:nvSpPr>
          <p:cNvPr id="4" name="badge-333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badgeText-334"/>
          <p:cNvSpPr txBox="1"/>
          <p:nvPr/>
        </p:nvSpPr>
        <p:spPr>
          <a:xfrm>
            <a:off x="5486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335"/>
          <p:cNvSpPr txBox="1"/>
          <p:nvPr/>
        </p:nvSpPr>
        <p:spPr>
          <a:xfrm>
            <a:off x="1188720" y="1371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Игроки и стратегии</a:t>
            </a:r>
            <a:endParaRPr lang="en-US" sz="1800" dirty="0"/>
          </a:p>
        </p:txBody>
      </p:sp>
      <p:sp>
        <p:nvSpPr>
          <p:cNvPr id="7" name="text-336"/>
          <p:cNvSpPr txBox="1"/>
          <p:nvPr/>
        </p:nvSpPr>
        <p:spPr>
          <a:xfrm>
            <a:off x="1188720" y="1755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Что может выбрать каждый?</a:t>
            </a:r>
            <a:endParaRPr lang="en-US" sz="1500" dirty="0"/>
          </a:p>
        </p:txBody>
      </p:sp>
      <p:sp>
        <p:nvSpPr>
          <p:cNvPr id="8" name="badge-337"/>
          <p:cNvSpPr/>
          <p:nvPr/>
        </p:nvSpPr>
        <p:spPr>
          <a:xfrm>
            <a:off x="548640" y="2377440"/>
            <a:ext cx="438912" cy="4389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badgeText-338"/>
          <p:cNvSpPr txBox="1"/>
          <p:nvPr/>
        </p:nvSpPr>
        <p:spPr>
          <a:xfrm>
            <a:off x="5486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339"/>
          <p:cNvSpPr txBox="1"/>
          <p:nvPr/>
        </p:nvSpPr>
        <p:spPr>
          <a:xfrm>
            <a:off x="1188720" y="2331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Лучшие ответы игрока 1</a:t>
            </a:r>
            <a:endParaRPr lang="en-US" sz="1800" dirty="0"/>
          </a:p>
        </p:txBody>
      </p:sp>
      <p:sp>
        <p:nvSpPr>
          <p:cNvPr id="11" name="text-340"/>
          <p:cNvSpPr txBox="1"/>
          <p:nvPr/>
        </p:nvSpPr>
        <p:spPr>
          <a:xfrm>
            <a:off x="1188720" y="2715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 каждом столбце подчеркнуть максимум левых чисел</a:t>
            </a:r>
            <a:endParaRPr lang="en-US" sz="1500" dirty="0"/>
          </a:p>
        </p:txBody>
      </p:sp>
      <p:sp>
        <p:nvSpPr>
          <p:cNvPr id="12" name="badge-341"/>
          <p:cNvSpPr/>
          <p:nvPr/>
        </p:nvSpPr>
        <p:spPr>
          <a:xfrm>
            <a:off x="548640" y="3337560"/>
            <a:ext cx="438912" cy="4389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badgeText-342"/>
          <p:cNvSpPr txBox="1"/>
          <p:nvPr/>
        </p:nvSpPr>
        <p:spPr>
          <a:xfrm>
            <a:off x="548640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343"/>
          <p:cNvSpPr txBox="1"/>
          <p:nvPr/>
        </p:nvSpPr>
        <p:spPr>
          <a:xfrm>
            <a:off x="1188720" y="3291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Лучшие ответы игрока 2</a:t>
            </a:r>
            <a:endParaRPr lang="en-US" sz="1800" dirty="0"/>
          </a:p>
        </p:txBody>
      </p:sp>
      <p:sp>
        <p:nvSpPr>
          <p:cNvPr id="15" name="text-344"/>
          <p:cNvSpPr txBox="1"/>
          <p:nvPr/>
        </p:nvSpPr>
        <p:spPr>
          <a:xfrm>
            <a:off x="1188720" y="3675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 каждой строке подчеркнуть максимум правых чисел</a:t>
            </a:r>
            <a:endParaRPr lang="en-US" sz="1500" dirty="0"/>
          </a:p>
        </p:txBody>
      </p:sp>
      <p:sp>
        <p:nvSpPr>
          <p:cNvPr id="16" name="badge-345"/>
          <p:cNvSpPr/>
          <p:nvPr/>
        </p:nvSpPr>
        <p:spPr>
          <a:xfrm>
            <a:off x="548640" y="4297680"/>
            <a:ext cx="438912" cy="4389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badgeText-346"/>
          <p:cNvSpPr txBox="1"/>
          <p:nvPr/>
        </p:nvSpPr>
        <p:spPr>
          <a:xfrm>
            <a:off x="54864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-347"/>
          <p:cNvSpPr txBox="1"/>
          <p:nvPr/>
        </p:nvSpPr>
        <p:spPr>
          <a:xfrm>
            <a:off x="1188720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Два подчёркивания</a:t>
            </a:r>
            <a:endParaRPr lang="en-US" sz="1800" dirty="0"/>
          </a:p>
        </p:txBody>
      </p:sp>
      <p:sp>
        <p:nvSpPr>
          <p:cNvPr id="19" name="text-348"/>
          <p:cNvSpPr txBox="1"/>
          <p:nvPr/>
        </p:nvSpPr>
        <p:spPr>
          <a:xfrm>
            <a:off x="118872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Такая клетка — равновесие Нэша в чистых стратегиях</a:t>
            </a:r>
            <a:endParaRPr lang="en-US" sz="1500" dirty="0"/>
          </a:p>
        </p:txBody>
      </p:sp>
      <p:sp>
        <p:nvSpPr>
          <p:cNvPr id="20" name="box-349"/>
          <p:cNvSpPr/>
          <p:nvPr/>
        </p:nvSpPr>
        <p:spPr>
          <a:xfrm>
            <a:off x="548640" y="530352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21" name="note-350"/>
          <p:cNvSpPr txBox="1"/>
          <p:nvPr/>
        </p:nvSpPr>
        <p:spPr>
          <a:xfrm>
            <a:off x="749808" y="5440680"/>
            <a:ext cx="4992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⚠️ Нет клетки с двумя подчёркиваниями?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Значит, нет чистого равновесия. Ищем смешанное.</a:t>
            </a:r>
            <a:endParaRPr lang="en-US" sz="1500" dirty="0"/>
          </a:p>
        </p:txBody>
      </p:sp>
      <p:sp>
        <p:nvSpPr>
          <p:cNvPr id="22" name="text-351"/>
          <p:cNvSpPr txBox="1"/>
          <p:nvPr/>
        </p:nvSpPr>
        <p:spPr>
          <a:xfrm>
            <a:off x="658368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Охота на оленя: два равновесия</a:t>
            </a:r>
            <a:endParaRPr lang="en-US" sz="1700" dirty="0"/>
          </a:p>
        </p:txBody>
      </p:sp>
      <p:sp>
        <p:nvSpPr>
          <p:cNvPr id="23" name="text-352"/>
          <p:cNvSpPr txBox="1"/>
          <p:nvPr/>
        </p:nvSpPr>
        <p:spPr>
          <a:xfrm>
            <a:off x="658368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24" name="text-353"/>
          <p:cNvSpPr txBox="1"/>
          <p:nvPr/>
        </p:nvSpPr>
        <p:spPr>
          <a:xfrm>
            <a:off x="77724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Олень</a:t>
            </a:r>
            <a:endParaRPr lang="en-US" sz="1600" dirty="0"/>
          </a:p>
        </p:txBody>
      </p:sp>
      <p:sp>
        <p:nvSpPr>
          <p:cNvPr id="25" name="text-354"/>
          <p:cNvSpPr txBox="1"/>
          <p:nvPr/>
        </p:nvSpPr>
        <p:spPr>
          <a:xfrm>
            <a:off x="9619488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Заяц</a:t>
            </a:r>
            <a:endParaRPr lang="en-US" sz="1600" dirty="0"/>
          </a:p>
        </p:txBody>
      </p:sp>
      <p:sp>
        <p:nvSpPr>
          <p:cNvPr id="26" name="text-355"/>
          <p:cNvSpPr txBox="1"/>
          <p:nvPr/>
        </p:nvSpPr>
        <p:spPr>
          <a:xfrm>
            <a:off x="6583680" y="2359152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Олень</a:t>
            </a:r>
            <a:endParaRPr lang="en-US" sz="1600" dirty="0"/>
          </a:p>
        </p:txBody>
      </p:sp>
      <p:sp>
        <p:nvSpPr>
          <p:cNvPr id="27" name="cell-356"/>
          <p:cNvSpPr/>
          <p:nvPr/>
        </p:nvSpPr>
        <p:spPr>
          <a:xfrm>
            <a:off x="7772400" y="2359152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F4D6"/>
          </a:solidFill>
          <a:ln w="28575">
            <a:solidFill>
              <a:srgbClr val="D99A00"/>
            </a:solidFill>
            <a:prstDash val="solid"/>
          </a:ln>
        </p:spPr>
      </p:sp>
      <p:sp>
        <p:nvSpPr>
          <p:cNvPr id="28" name="pay-357"/>
          <p:cNvSpPr txBox="1"/>
          <p:nvPr/>
        </p:nvSpPr>
        <p:spPr>
          <a:xfrm>
            <a:off x="7772400" y="23591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4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u="heavy" dirty="0">
                <a:solidFill>
                  <a:schemeClr val="accent2"/>
                </a:solidFill>
                <a:uFill>
                  <a:solidFill>
                    <a:srgbClr val="A0306E"/>
                  </a:solidFill>
                </a:uFill>
              </a:rPr>
              <a:t>4</a:t>
            </a:r>
            <a:endParaRPr lang="en-US" sz="2400" dirty="0"/>
          </a:p>
        </p:txBody>
      </p:sp>
      <p:sp>
        <p:nvSpPr>
          <p:cNvPr id="29" name="tag-358"/>
          <p:cNvSpPr/>
          <p:nvPr/>
        </p:nvSpPr>
        <p:spPr>
          <a:xfrm>
            <a:off x="8092440" y="221284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agText-359"/>
          <p:cNvSpPr txBox="1"/>
          <p:nvPr/>
        </p:nvSpPr>
        <p:spPr>
          <a:xfrm>
            <a:off x="8092440" y="22128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★ равновесие</a:t>
            </a:r>
            <a:endParaRPr lang="en-US" sz="1100" dirty="0"/>
          </a:p>
        </p:txBody>
      </p:sp>
      <p:sp>
        <p:nvSpPr>
          <p:cNvPr id="31" name="cell-360"/>
          <p:cNvSpPr/>
          <p:nvPr/>
        </p:nvSpPr>
        <p:spPr>
          <a:xfrm>
            <a:off x="9619488" y="2359152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2" name="pay-361"/>
          <p:cNvSpPr txBox="1"/>
          <p:nvPr/>
        </p:nvSpPr>
        <p:spPr>
          <a:xfrm>
            <a:off x="9619488" y="23591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33" name="text-362"/>
          <p:cNvSpPr txBox="1"/>
          <p:nvPr/>
        </p:nvSpPr>
        <p:spPr>
          <a:xfrm>
            <a:off x="6583680" y="342900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Заяц</a:t>
            </a:r>
            <a:endParaRPr lang="en-US" sz="1600" dirty="0"/>
          </a:p>
        </p:txBody>
      </p:sp>
      <p:sp>
        <p:nvSpPr>
          <p:cNvPr id="34" name="cell-363"/>
          <p:cNvSpPr/>
          <p:nvPr/>
        </p:nvSpPr>
        <p:spPr>
          <a:xfrm>
            <a:off x="7772400" y="342900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5" name="pay-364"/>
          <p:cNvSpPr txBox="1"/>
          <p:nvPr/>
        </p:nvSpPr>
        <p:spPr>
          <a:xfrm>
            <a:off x="7772400" y="3429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</a:t>
            </a:r>
            <a:endParaRPr lang="en-US" sz="2400" dirty="0"/>
          </a:p>
        </p:txBody>
      </p:sp>
      <p:sp>
        <p:nvSpPr>
          <p:cNvPr id="36" name="cell-365"/>
          <p:cNvSpPr/>
          <p:nvPr/>
        </p:nvSpPr>
        <p:spPr>
          <a:xfrm>
            <a:off x="9619488" y="342900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F4D6"/>
          </a:solidFill>
          <a:ln w="28575">
            <a:solidFill>
              <a:srgbClr val="D99A00"/>
            </a:solidFill>
            <a:prstDash val="solid"/>
          </a:ln>
        </p:spPr>
      </p:sp>
      <p:sp>
        <p:nvSpPr>
          <p:cNvPr id="37" name="pay-366"/>
          <p:cNvSpPr txBox="1"/>
          <p:nvPr/>
        </p:nvSpPr>
        <p:spPr>
          <a:xfrm>
            <a:off x="9619488" y="3429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3</a:t>
            </a:r>
            <a:pPr algn="ctr" indent="0" marL="0">
              <a:buNone/>
            </a:pPr>
            <a:r>
              <a:rPr lang="en-US" sz="192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400" b="1" u="heavy" dirty="0">
                <a:solidFill>
                  <a:schemeClr val="accent2"/>
                </a:solidFill>
                <a:uFill>
                  <a:solidFill>
                    <a:srgbClr val="A0306E"/>
                  </a:solidFill>
                </a:uFill>
              </a:rPr>
              <a:t>3</a:t>
            </a:r>
            <a:endParaRPr lang="en-US" sz="2400" dirty="0"/>
          </a:p>
        </p:txBody>
      </p:sp>
      <p:sp>
        <p:nvSpPr>
          <p:cNvPr id="38" name="tag-367"/>
          <p:cNvSpPr/>
          <p:nvPr/>
        </p:nvSpPr>
        <p:spPr>
          <a:xfrm>
            <a:off x="9939528" y="3282696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agText-368"/>
          <p:cNvSpPr txBox="1"/>
          <p:nvPr/>
        </p:nvSpPr>
        <p:spPr>
          <a:xfrm>
            <a:off x="9939528" y="32826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★ равновесие</a:t>
            </a:r>
            <a:endParaRPr lang="en-US" sz="1100" dirty="0"/>
          </a:p>
        </p:txBody>
      </p:sp>
      <p:sp>
        <p:nvSpPr>
          <p:cNvPr id="40" name="text-369"/>
          <p:cNvSpPr txBox="1"/>
          <p:nvPr/>
        </p:nvSpPr>
        <p:spPr>
          <a:xfrm>
            <a:off x="6583680" y="4526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При равных максимумах подчёркиваются оба числа — не выбирайте одно «на глаз».</a:t>
            </a:r>
            <a:endParaRPr lang="en-US" sz="1400" dirty="0"/>
          </a:p>
        </p:txBody>
      </p:sp>
      <p:sp>
        <p:nvSpPr>
          <p:cNvPr id="41" name="box-370"/>
          <p:cNvSpPr/>
          <p:nvPr/>
        </p:nvSpPr>
        <p:spPr>
          <a:xfrm>
            <a:off x="6583680" y="516636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42" name="note-371"/>
          <p:cNvSpPr txBox="1"/>
          <p:nvPr/>
        </p:nvSpPr>
        <p:spPr>
          <a:xfrm>
            <a:off x="6784848" y="5303520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(Олень, Олень) лучше для обоих, но (Заяц, Заяц) безопаснее: заяц гарантирует 3 при любом выборе партнёра.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Смешанные стратегии и принцип безразличия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9</a:t>
            </a:r>
            <a:endParaRPr lang="en-US" sz="1100" dirty="0"/>
          </a:p>
        </p:txBody>
      </p:sp>
      <p:sp>
        <p:nvSpPr>
          <p:cNvPr id="4" name="text-372"/>
          <p:cNvSpPr txBox="1"/>
          <p:nvPr/>
        </p:nvSpPr>
        <p:spPr>
          <a:xfrm>
            <a:off x="548640" y="13258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Смешанная стратегия — распределение вероятностей на действиях: «U с вероятностью p, D — с вероятностью 1 − p».</a:t>
            </a:r>
            <a:endParaRPr lang="en-US" sz="1700" dirty="0"/>
          </a:p>
        </p:txBody>
      </p:sp>
      <p:sp>
        <p:nvSpPr>
          <p:cNvPr id="5" name="text-373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Зачем рандомизировать</a:t>
            </a:r>
            <a:endParaRPr lang="en-US" sz="1800" dirty="0"/>
          </a:p>
        </p:txBody>
      </p:sp>
      <p:sp>
        <p:nvSpPr>
          <p:cNvPr id="6" name="list-374"/>
          <p:cNvSpPr txBox="1"/>
          <p:nvPr/>
        </p:nvSpPr>
        <p:spPr>
          <a:xfrm>
            <a:off x="548640" y="27432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Непредсказуемость: вратарь, который всегда прыгает влево, проигрывает пенальти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Популяция: в биологии p — доля особей с данным поведением (задача 3)</a:t>
            </a:r>
            <a:endParaRPr lang="en-US" sz="1500" dirty="0"/>
          </a:p>
        </p:txBody>
      </p:sp>
      <p:sp>
        <p:nvSpPr>
          <p:cNvPr id="7" name="box-375"/>
          <p:cNvSpPr/>
          <p:nvPr/>
        </p:nvSpPr>
        <p:spPr>
          <a:xfrm>
            <a:off x="548640" y="4160520"/>
            <a:ext cx="5669280" cy="1965960"/>
          </a:xfrm>
          <a:prstGeom prst="roundRect">
            <a:avLst>
              <a:gd name="adj" fmla="val 5581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8" name="note-376"/>
          <p:cNvSpPr txBox="1"/>
          <p:nvPr/>
        </p:nvSpPr>
        <p:spPr>
          <a:xfrm>
            <a:off x="749808" y="4297680"/>
            <a:ext cx="52669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Принцип безразличия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 смешанном равновесии игрок безразличен между всеми действиями, которые играет с положительной вероятностью. Иначе он перенёс бы всю вероятность на лучшее.</a:t>
            </a:r>
            <a:endParaRPr lang="en-US" sz="1600" dirty="0"/>
          </a:p>
        </p:txBody>
      </p:sp>
      <p:sp>
        <p:nvSpPr>
          <p:cNvPr id="9" name="box-377"/>
          <p:cNvSpPr/>
          <p:nvPr/>
        </p:nvSpPr>
        <p:spPr>
          <a:xfrm>
            <a:off x="6583680" y="1325880"/>
            <a:ext cx="5056632" cy="2743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0" name="text-378"/>
          <p:cNvSpPr txBox="1"/>
          <p:nvPr/>
        </p:nvSpPr>
        <p:spPr>
          <a:xfrm>
            <a:off x="68122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Кто определяет чью вероятность</a:t>
            </a:r>
            <a:endParaRPr lang="en-US" sz="1700" dirty="0"/>
          </a:p>
        </p:txBody>
      </p:sp>
      <p:sp>
        <p:nvSpPr>
          <p:cNvPr id="11" name="text-379"/>
          <p:cNvSpPr txBox="1"/>
          <p:nvPr/>
        </p:nvSpPr>
        <p:spPr>
          <a:xfrm>
            <a:off x="6812280" y="2057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 игрока 1</a:t>
            </a:r>
            <a:endParaRPr lang="en-US" sz="1900" dirty="0"/>
          </a:p>
        </p:txBody>
      </p:sp>
      <p:sp>
        <p:nvSpPr>
          <p:cNvPr id="12" name="text-380"/>
          <p:cNvSpPr txBox="1"/>
          <p:nvPr/>
        </p:nvSpPr>
        <p:spPr>
          <a:xfrm>
            <a:off x="84124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←</a:t>
            </a:r>
            <a:endParaRPr lang="en-US" sz="2600" dirty="0"/>
          </a:p>
        </p:txBody>
      </p:sp>
      <p:sp>
        <p:nvSpPr>
          <p:cNvPr id="13" name="text-381"/>
          <p:cNvSpPr txBox="1"/>
          <p:nvPr/>
        </p:nvSpPr>
        <p:spPr>
          <a:xfrm>
            <a:off x="90068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безразличие игрока 2</a:t>
            </a:r>
            <a:endParaRPr lang="en-US" sz="1700" dirty="0"/>
          </a:p>
        </p:txBody>
      </p:sp>
      <p:sp>
        <p:nvSpPr>
          <p:cNvPr id="14" name="text-382"/>
          <p:cNvSpPr txBox="1"/>
          <p:nvPr/>
        </p:nvSpPr>
        <p:spPr>
          <a:xfrm>
            <a:off x="6812280" y="2971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q игрока 2</a:t>
            </a:r>
            <a:endParaRPr lang="en-US" sz="1900" dirty="0"/>
          </a:p>
        </p:txBody>
      </p:sp>
      <p:sp>
        <p:nvSpPr>
          <p:cNvPr id="15" name="text-383"/>
          <p:cNvSpPr txBox="1"/>
          <p:nvPr/>
        </p:nvSpPr>
        <p:spPr>
          <a:xfrm>
            <a:off x="8412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←</a:t>
            </a:r>
            <a:endParaRPr lang="en-US" sz="2600" dirty="0"/>
          </a:p>
        </p:txBody>
      </p:sp>
      <p:sp>
        <p:nvSpPr>
          <p:cNvPr id="16" name="text-384"/>
          <p:cNvSpPr txBox="1"/>
          <p:nvPr/>
        </p:nvSpPr>
        <p:spPr>
          <a:xfrm>
            <a:off x="900684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безразличие игрока 1</a:t>
            </a:r>
            <a:endParaRPr lang="en-US" sz="1700" dirty="0"/>
          </a:p>
        </p:txBody>
      </p:sp>
      <p:sp>
        <p:nvSpPr>
          <p:cNvPr id="17" name="text-385"/>
          <p:cNvSpPr txBox="1"/>
          <p:nvPr/>
        </p:nvSpPr>
        <p:spPr>
          <a:xfrm>
            <a:off x="681228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⚠️ Не своё безразличие, а соперника!</a:t>
            </a:r>
            <a:endParaRPr lang="en-US" sz="1500" dirty="0"/>
          </a:p>
        </p:txBody>
      </p:sp>
      <p:sp>
        <p:nvSpPr>
          <p:cNvPr id="18" name="box-386"/>
          <p:cNvSpPr/>
          <p:nvPr/>
        </p:nvSpPr>
        <p:spPr>
          <a:xfrm>
            <a:off x="6583680" y="4251960"/>
            <a:ext cx="5056632" cy="1874520"/>
          </a:xfrm>
          <a:prstGeom prst="roundRect">
            <a:avLst>
              <a:gd name="adj" fmla="val 5854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9" name="note-387"/>
          <p:cNvSpPr txBox="1"/>
          <p:nvPr/>
        </p:nvSpPr>
        <p:spPr>
          <a:xfrm>
            <a:off x="6784848" y="4389120"/>
            <a:ext cx="4654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Теорема Нэша (1950)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 любой игре с конечным числом игроков и стратегий существует хотя бы одно равновесие — возможно, в смешанных стратегиях.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найти p: уравнение безразличия игрока 2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9</a:t>
            </a:r>
            <a:endParaRPr lang="en-US" sz="1100" dirty="0"/>
          </a:p>
        </p:txBody>
      </p:sp>
      <p:sp>
        <p:nvSpPr>
          <p:cNvPr id="4" name="text-388"/>
          <p:cNvSpPr txBox="1"/>
          <p:nvPr/>
        </p:nvSpPr>
        <p:spPr>
          <a:xfrm>
            <a:off x="548640" y="1325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Игрок 1 играет U с вероятностью p. Ожидаемый выигрыш игрока 2:</a:t>
            </a:r>
            <a:endParaRPr lang="en-US" sz="1700" dirty="0"/>
          </a:p>
        </p:txBody>
      </p:sp>
      <p:sp>
        <p:nvSpPr>
          <p:cNvPr id="5" name="text-389"/>
          <p:cNvSpPr txBox="1"/>
          <p:nvPr/>
        </p:nvSpPr>
        <p:spPr>
          <a:xfrm>
            <a:off x="548640" y="1828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 u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(L) = p·b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11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 + (1 − p)·b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21</a:t>
            </a:r>
            <a:endParaRPr lang="en-US" sz="2200" dirty="0"/>
          </a:p>
        </p:txBody>
      </p:sp>
      <p:sp>
        <p:nvSpPr>
          <p:cNvPr id="6" name="text-390"/>
          <p:cNvSpPr txBox="1"/>
          <p:nvPr/>
        </p:nvSpPr>
        <p:spPr>
          <a:xfrm>
            <a:off x="54864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 u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(R) = p·b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12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 + (1 − p)·b</a:t>
            </a:r>
            <a:pPr indent="0" marL="0">
              <a:buNone/>
            </a:pPr>
            <a:r>
              <a:rPr lang="en-US" sz="2200" b="1" baseline="-40000" dirty="0">
                <a:solidFill>
                  <a:schemeClr val="accent2"/>
                </a:solidFill>
              </a:rPr>
              <a:t>22</a:t>
            </a:r>
            <a:endParaRPr lang="en-US" sz="2200" dirty="0"/>
          </a:p>
        </p:txBody>
      </p:sp>
      <p:sp>
        <p:nvSpPr>
          <p:cNvPr id="7" name="text-391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Приравниваем и решаем линейное уравнение:</a:t>
            </a:r>
            <a:endParaRPr lang="en-US" sz="1700" dirty="0"/>
          </a:p>
        </p:txBody>
      </p:sp>
      <p:sp>
        <p:nvSpPr>
          <p:cNvPr id="8" name="box-392"/>
          <p:cNvSpPr/>
          <p:nvPr/>
        </p:nvSpPr>
        <p:spPr>
          <a:xfrm>
            <a:off x="548640" y="347472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393"/>
          <p:cNvSpPr txBox="1"/>
          <p:nvPr/>
        </p:nvSpPr>
        <p:spPr>
          <a:xfrm>
            <a:off x="731520" y="3474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p* = (b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22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21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) / (b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11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21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12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+ b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22</a:t>
            </a:r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)</a:t>
            </a:r>
            <a:endParaRPr lang="en-US" sz="2200" dirty="0"/>
          </a:p>
        </p:txBody>
      </p:sp>
      <p:sp>
        <p:nvSpPr>
          <p:cNvPr id="10" name="text-394"/>
          <p:cNvSpPr txBox="1"/>
          <p:nvPr/>
        </p:nvSpPr>
        <p:spPr>
          <a:xfrm>
            <a:off x="548640" y="4572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Аналогично q* — из безразличия игрока 1, по числам a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ij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box-395"/>
          <p:cNvSpPr/>
          <p:nvPr/>
        </p:nvSpPr>
        <p:spPr>
          <a:xfrm>
            <a:off x="6583680" y="1325880"/>
            <a:ext cx="5056632" cy="480060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text-396"/>
          <p:cNvSpPr txBox="1"/>
          <p:nvPr/>
        </p:nvSpPr>
        <p:spPr>
          <a:xfrm>
            <a:off x="681228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Пример: охота на оленя</a:t>
            </a:r>
            <a:endParaRPr lang="en-US" sz="1800" dirty="0"/>
          </a:p>
        </p:txBody>
      </p:sp>
      <p:sp>
        <p:nvSpPr>
          <p:cNvPr id="13" name="text-397"/>
          <p:cNvSpPr txBox="1"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Числа игрока 2: b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11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4, b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12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3, b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21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0, b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22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3</a:t>
            </a:r>
            <a:endParaRPr lang="en-US" sz="1500" dirty="0"/>
          </a:p>
        </p:txBody>
      </p:sp>
      <p:sp>
        <p:nvSpPr>
          <p:cNvPr id="14" name="text-398"/>
          <p:cNvSpPr txBox="1"/>
          <p:nvPr/>
        </p:nvSpPr>
        <p:spPr>
          <a:xfrm>
            <a:off x="681228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E u</a:t>
            </a:r>
            <a:pPr indent="0" marL="0">
              <a:buNone/>
            </a:pPr>
            <a:r>
              <a:rPr lang="en-US" sz="1900" b="1" baseline="-40000" dirty="0">
                <a:solidFill>
                  <a:schemeClr val="accent2"/>
                </a:solidFill>
              </a:rPr>
              <a:t>2</a:t>
            </a:r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(Олень) = 4p</a:t>
            </a:r>
            <a:endParaRPr lang="en-US" sz="1900" dirty="0"/>
          </a:p>
        </p:txBody>
      </p:sp>
      <p:sp>
        <p:nvSpPr>
          <p:cNvPr id="15" name="text-399"/>
          <p:cNvSpPr txBox="1"/>
          <p:nvPr/>
        </p:nvSpPr>
        <p:spPr>
          <a:xfrm>
            <a:off x="681228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E u</a:t>
            </a:r>
            <a:pPr indent="0" marL="0">
              <a:buNone/>
            </a:pPr>
            <a:r>
              <a:rPr lang="en-US" sz="1900" b="1" baseline="-40000" dirty="0">
                <a:solidFill>
                  <a:schemeClr val="accent2"/>
                </a:solidFill>
              </a:rPr>
              <a:t>2</a:t>
            </a:r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(Заяц) = 3p + 3(1 − p) = 3</a:t>
            </a:r>
            <a:endParaRPr lang="en-US" sz="1900" dirty="0"/>
          </a:p>
        </p:txBody>
      </p:sp>
      <p:sp>
        <p:nvSpPr>
          <p:cNvPr id="16" name="text-400"/>
          <p:cNvSpPr txBox="1"/>
          <p:nvPr/>
        </p:nvSpPr>
        <p:spPr>
          <a:xfrm>
            <a:off x="681228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4p = 3  ⇒  p* = 3/4</a:t>
            </a:r>
            <a:endParaRPr lang="en-US" sz="2400" dirty="0"/>
          </a:p>
        </p:txBody>
      </p:sp>
      <p:sp>
        <p:nvSpPr>
          <p:cNvPr id="17" name="text-401"/>
          <p:cNvSpPr txBox="1"/>
          <p:nvPr/>
        </p:nvSpPr>
        <p:spPr>
          <a:xfrm>
            <a:off x="681228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 симметрии q* = 3/4. Ожидаемый выигрыш каждого — 3.</a:t>
            </a:r>
            <a:endParaRPr lang="en-US" sz="1500" dirty="0"/>
          </a:p>
        </p:txBody>
      </p:sp>
      <p:sp>
        <p:nvSpPr>
          <p:cNvPr id="18" name="text-402"/>
          <p:cNvSpPr txBox="1"/>
          <p:nvPr/>
        </p:nvSpPr>
        <p:spPr>
          <a:xfrm>
            <a:off x="6812280" y="4800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Всего три равновесия: два чистых и одно смешанное. У типичной игры число равновесий нечётно.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Эффективность по Парето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10</a:t>
            </a:r>
            <a:endParaRPr lang="en-US" sz="1100" dirty="0"/>
          </a:p>
        </p:txBody>
      </p:sp>
      <p:sp>
        <p:nvSpPr>
          <p:cNvPr id="4" name="list-403"/>
          <p:cNvSpPr txBox="1"/>
          <p:nvPr/>
        </p:nvSpPr>
        <p:spPr>
          <a:xfrm>
            <a:off x="548640" y="13258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Исход s Парето-доминирует s′, если никто не теряет, а хотя бы один выигрывает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Исход Парето-эффективен, если улучшить его так, чтобы никто не пострадал, нельзя</a:t>
            </a:r>
            <a:endParaRPr lang="en-US" sz="1700" dirty="0"/>
          </a:p>
        </p:txBody>
      </p:sp>
      <p:sp>
        <p:nvSpPr>
          <p:cNvPr id="5" name="box-404"/>
          <p:cNvSpPr/>
          <p:nvPr/>
        </p:nvSpPr>
        <p:spPr>
          <a:xfrm>
            <a:off x="548640" y="329184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6" name="note-405"/>
          <p:cNvSpPr txBox="1"/>
          <p:nvPr/>
        </p:nvSpPr>
        <p:spPr>
          <a:xfrm>
            <a:off x="749808" y="3429000"/>
            <a:ext cx="4535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Два разных вопроса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«Устойчив ли исход?» и «Хорош ли он для всех?» Ответы могут не совпадать.</a:t>
            </a:r>
            <a:endParaRPr lang="en-US" sz="1600" dirty="0"/>
          </a:p>
        </p:txBody>
      </p:sp>
      <p:sp>
        <p:nvSpPr>
          <p:cNvPr id="7" name="text-406"/>
          <p:cNvSpPr txBox="1"/>
          <p:nvPr/>
        </p:nvSpPr>
        <p:spPr>
          <a:xfrm>
            <a:off x="54864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Почему координационные игры решаются легче дилемм: в них равновесие может быть и эффективным.</a:t>
            </a:r>
            <a:endParaRPr lang="en-US" sz="1500" dirty="0"/>
          </a:p>
        </p:txBody>
      </p:sp>
      <p:sp>
        <p:nvSpPr>
          <p:cNvPr id="8" name="text-407"/>
          <p:cNvSpPr txBox="1"/>
          <p:nvPr/>
        </p:nvSpPr>
        <p:spPr>
          <a:xfrm>
            <a:off x="7086600" y="13258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Эффективен</a:t>
            </a:r>
            <a:endParaRPr lang="en-US" sz="1500" dirty="0"/>
          </a:p>
        </p:txBody>
      </p:sp>
      <p:sp>
        <p:nvSpPr>
          <p:cNvPr id="9" name="text-408"/>
          <p:cNvSpPr txBox="1"/>
          <p:nvPr/>
        </p:nvSpPr>
        <p:spPr>
          <a:xfrm>
            <a:off x="9418320" y="13258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Неэффективен</a:t>
            </a:r>
            <a:endParaRPr lang="en-US" sz="1500" dirty="0"/>
          </a:p>
        </p:txBody>
      </p:sp>
      <p:sp>
        <p:nvSpPr>
          <p:cNvPr id="10" name="text-409"/>
          <p:cNvSpPr txBox="1"/>
          <p:nvPr/>
        </p:nvSpPr>
        <p:spPr>
          <a:xfrm>
            <a:off x="5943600" y="1783080"/>
            <a:ext cx="1005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Равновесие</a:t>
            </a:r>
            <a:endParaRPr lang="en-US" sz="1500" dirty="0"/>
          </a:p>
        </p:txBody>
      </p:sp>
      <p:sp>
        <p:nvSpPr>
          <p:cNvPr id="11" name="text-410"/>
          <p:cNvSpPr txBox="1"/>
          <p:nvPr/>
        </p:nvSpPr>
        <p:spPr>
          <a:xfrm>
            <a:off x="5943600" y="3858768"/>
            <a:ext cx="1005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 равно­весие</a:t>
            </a:r>
            <a:endParaRPr lang="en-US" sz="1500" dirty="0"/>
          </a:p>
        </p:txBody>
      </p:sp>
      <p:sp>
        <p:nvSpPr>
          <p:cNvPr id="12" name="box-411"/>
          <p:cNvSpPr/>
          <p:nvPr/>
        </p:nvSpPr>
        <p:spPr>
          <a:xfrm>
            <a:off x="7086600" y="1783080"/>
            <a:ext cx="2221992" cy="1965960"/>
          </a:xfrm>
          <a:prstGeom prst="roundRect">
            <a:avLst>
              <a:gd name="adj" fmla="val 5581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13" name="map-412"/>
          <p:cNvSpPr txBox="1"/>
          <p:nvPr/>
        </p:nvSpPr>
        <p:spPr>
          <a:xfrm>
            <a:off x="7269480" y="192024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(Олень, Олень)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охота на оленя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(Левая, Левая)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задача 7</a:t>
            </a:r>
            <a:endParaRPr lang="en-US" sz="1600" dirty="0"/>
          </a:p>
        </p:txBody>
      </p:sp>
      <p:sp>
        <p:nvSpPr>
          <p:cNvPr id="14" name="box-413"/>
          <p:cNvSpPr/>
          <p:nvPr/>
        </p:nvSpPr>
        <p:spPr>
          <a:xfrm>
            <a:off x="9418320" y="1783080"/>
            <a:ext cx="2221992" cy="1965960"/>
          </a:xfrm>
          <a:prstGeom prst="roundRect">
            <a:avLst>
              <a:gd name="adj" fmla="val 5581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5" name="map-414"/>
          <p:cNvSpPr txBox="1"/>
          <p:nvPr/>
        </p:nvSpPr>
        <p:spPr>
          <a:xfrm>
            <a:off x="9601200" y="192024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(Предать, Предать)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задача 1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(Заяц, Заяц)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охота на оленя</a:t>
            </a:r>
            <a:endParaRPr lang="en-US" sz="1600" dirty="0"/>
          </a:p>
        </p:txBody>
      </p:sp>
      <p:sp>
        <p:nvSpPr>
          <p:cNvPr id="16" name="box-415"/>
          <p:cNvSpPr/>
          <p:nvPr/>
        </p:nvSpPr>
        <p:spPr>
          <a:xfrm>
            <a:off x="7086600" y="3858768"/>
            <a:ext cx="2221992" cy="1965960"/>
          </a:xfrm>
          <a:prstGeom prst="roundRect">
            <a:avLst>
              <a:gd name="adj" fmla="val 5581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7" name="map-416"/>
          <p:cNvSpPr txBox="1"/>
          <p:nvPr/>
        </p:nvSpPr>
        <p:spPr>
          <a:xfrm>
            <a:off x="7269480" y="3995928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(Молчать, Молчать)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задача 1: лучше для обоих, но неустойчив</a:t>
            </a:r>
            <a:endParaRPr lang="en-US" sz="1600" dirty="0"/>
          </a:p>
        </p:txBody>
      </p:sp>
      <p:sp>
        <p:nvSpPr>
          <p:cNvPr id="18" name="box-417"/>
          <p:cNvSpPr/>
          <p:nvPr/>
        </p:nvSpPr>
        <p:spPr>
          <a:xfrm>
            <a:off x="9418320" y="3858768"/>
            <a:ext cx="2221992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9" name="map-418"/>
          <p:cNvSpPr txBox="1"/>
          <p:nvPr/>
        </p:nvSpPr>
        <p:spPr>
          <a:xfrm>
            <a:off x="9601200" y="3995928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(Заяц, Олень)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охота на оленя: (3, 0) хуже, чем (4, 4)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Пять вопросов к любой игре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Шпаргалка перед первой задачей</a:t>
            </a:r>
            <a:endParaRPr lang="en-US" sz="2000" dirty="0"/>
          </a:p>
        </p:txBody>
      </p:sp>
      <p:sp>
        <p:nvSpPr>
          <p:cNvPr id="4" name="badge-419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20"/>
          <p:cNvSpPr txBox="1"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421"/>
          <p:cNvSpPr txBox="1"/>
          <p:nvPr/>
        </p:nvSpPr>
        <p:spPr>
          <a:xfrm>
            <a:off x="109728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Есть ли у игрока строго доминирующая стратегия?</a:t>
            </a:r>
            <a:endParaRPr lang="en-US" sz="1700" dirty="0"/>
          </a:p>
        </p:txBody>
      </p:sp>
      <p:sp>
        <p:nvSpPr>
          <p:cNvPr id="7" name="badge-422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adgeText-423"/>
          <p:cNvSpPr txBox="1"/>
          <p:nvPr/>
        </p:nvSpPr>
        <p:spPr>
          <a:xfrm>
            <a:off x="54864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424"/>
          <p:cNvSpPr txBox="1"/>
          <p:nvPr/>
        </p:nvSpPr>
        <p:spPr>
          <a:xfrm>
            <a:off x="1097280" y="43525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Каковы лучшие ответы на каждый выбор соперника?</a:t>
            </a:r>
            <a:endParaRPr lang="en-US" sz="1700" dirty="0"/>
          </a:p>
        </p:txBody>
      </p:sp>
      <p:sp>
        <p:nvSpPr>
          <p:cNvPr id="10" name="badge-425"/>
          <p:cNvSpPr/>
          <p:nvPr/>
        </p:nvSpPr>
        <p:spPr>
          <a:xfrm>
            <a:off x="548640" y="486460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dgeText-426"/>
          <p:cNvSpPr txBox="1"/>
          <p:nvPr/>
        </p:nvSpPr>
        <p:spPr>
          <a:xfrm>
            <a:off x="54864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-427"/>
          <p:cNvSpPr txBox="1"/>
          <p:nvPr/>
        </p:nvSpPr>
        <p:spPr>
          <a:xfrm>
            <a:off x="1097280" y="4864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В каких клетках оба числа подчёркнуты?</a:t>
            </a:r>
            <a:endParaRPr lang="en-US" sz="1700" dirty="0"/>
          </a:p>
        </p:txBody>
      </p:sp>
      <p:sp>
        <p:nvSpPr>
          <p:cNvPr id="13" name="badge-428"/>
          <p:cNvSpPr/>
          <p:nvPr/>
        </p:nvSpPr>
        <p:spPr>
          <a:xfrm>
            <a:off x="548640" y="537667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badgeText-429"/>
          <p:cNvSpPr txBox="1"/>
          <p:nvPr/>
        </p:nvSpPr>
        <p:spPr>
          <a:xfrm>
            <a:off x="548640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-430"/>
          <p:cNvSpPr txBox="1"/>
          <p:nvPr/>
        </p:nvSpPr>
        <p:spPr>
          <a:xfrm>
            <a:off x="1097280" y="53766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Если таких клеток нет — при каких p и q соперник безразличен?</a:t>
            </a:r>
            <a:endParaRPr lang="en-US" sz="1700" dirty="0"/>
          </a:p>
        </p:txBody>
      </p:sp>
      <p:sp>
        <p:nvSpPr>
          <p:cNvPr id="16" name="badge-431"/>
          <p:cNvSpPr/>
          <p:nvPr/>
        </p:nvSpPr>
        <p:spPr>
          <a:xfrm>
            <a:off x="548640" y="588873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badgeText-432"/>
          <p:cNvSpPr txBox="1"/>
          <p:nvPr/>
        </p:nvSpPr>
        <p:spPr>
          <a:xfrm>
            <a:off x="548640" y="5888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-433"/>
          <p:cNvSpPr txBox="1"/>
          <p:nvPr/>
        </p:nvSpPr>
        <p:spPr>
          <a:xfrm>
            <a:off x="1097280" y="58887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Эффективно ли найденное равновесие по Парето?</a:t>
            </a:r>
            <a:endParaRPr lang="en-US" sz="1700" dirty="0"/>
          </a:p>
        </p:txBody>
      </p:sp>
      <p:sp>
        <p:nvSpPr>
          <p:cNvPr id="19" name="next-434"/>
          <p:cNvSpPr/>
          <p:nvPr/>
        </p:nvSpPr>
        <p:spPr>
          <a:xfrm>
            <a:off x="8229600" y="210312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0" name="text-435"/>
          <p:cNvSpPr txBox="1"/>
          <p:nvPr/>
        </p:nvSpPr>
        <p:spPr>
          <a:xfrm>
            <a:off x="84582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Дальше</a:t>
            </a:r>
            <a:endParaRPr lang="en-US" sz="1500" dirty="0"/>
          </a:p>
        </p:txBody>
      </p:sp>
      <p:sp>
        <p:nvSpPr>
          <p:cNvPr id="21" name="text-436"/>
          <p:cNvSpPr txBox="1"/>
          <p:nvPr/>
        </p:nvSpPr>
        <p:spPr>
          <a:xfrm>
            <a:off x="845820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Задача 1. Дилемма заключённого</a:t>
            </a:r>
            <a:endParaRPr lang="en-US" sz="2200" dirty="0"/>
          </a:p>
        </p:txBody>
      </p:sp>
      <p:sp>
        <p:nvSpPr>
          <p:cNvPr id="22" name="text-437"/>
          <p:cNvSpPr txBox="1"/>
          <p:nvPr/>
        </p:nvSpPr>
        <p:spPr>
          <a:xfrm>
            <a:off x="84582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Откройте её в лаборатории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 Theory Lab">
  <a:themeElements>
    <a:clrScheme name="Game Theory Lab">
      <a:dk1>
        <a:srgbClr val="17202C"/>
      </a:dk1>
      <a:lt1>
        <a:srgbClr val="FFFFFF"/>
      </a:lt1>
      <a:dk2>
        <a:srgbClr val="5A6576"/>
      </a:dk2>
      <a:lt2>
        <a:srgbClr val="EDF0F4"/>
      </a:lt2>
      <a:accent1>
        <a:srgbClr val="2747C4"/>
      </a:accent1>
      <a:accent2>
        <a:srgbClr val="A0306E"/>
      </a:accent2>
      <a:accent3>
        <a:srgbClr val="D99A00"/>
      </a:accent3>
      <a:accent4>
        <a:srgbClr val="17724A"/>
      </a:accent4>
      <a:accent5>
        <a:srgbClr val="D3DAE4"/>
      </a:accent5>
      <a:accent6>
        <a:srgbClr val="9A4F00"/>
      </a:accent6>
      <a:hlink>
        <a:srgbClr val="2747C4"/>
      </a:hlink>
      <a:folHlink>
        <a:srgbClr val="A0306E"/>
      </a:folHlink>
    </a:clrScheme>
    <a:fontScheme name="Game Theory 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игр и равновесие Нэша: язык и основные понятия</dc:title>
  <dc:subject>PptxGenJS Presentation</dc:subject>
  <dc:creator>Сергей Ермаков</dc:creator>
  <cp:lastModifiedBy>Сергей Ермаков</cp:lastModifiedBy>
  <cp:revision>1</cp:revision>
  <dcterms:created xsi:type="dcterms:W3CDTF">2026-10-14T15:03:08Z</dcterms:created>
  <dcterms:modified xsi:type="dcterms:W3CDTF">2026-10-14T15:03:08Z</dcterms:modified>
</cp:coreProperties>
</file>